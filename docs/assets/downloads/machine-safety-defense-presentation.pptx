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3c063779604972" /><Relationship Type="http://schemas.openxmlformats.org/officeDocument/2006/relationships/extended-properties" Target="/docProps/app.xml" Id="Rd76d00bed5774445" /><Relationship Type="http://schemas.openxmlformats.org/officeDocument/2006/relationships/officeDocument" Target="/ppt/presentation.xml" Id="R817118f9d25241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9469b379c74d2f"/>
  </p:sldMasterIdLst>
  <p:notesMasterIdLst>
    <p:notesMasterId xmlns:r="http://schemas.openxmlformats.org/officeDocument/2006/relationships" r:id="Rd80ea86dcf8d4b44"/>
  </p:notesMasterIdLst>
  <p:sldIdLst>
    <p:sldId xmlns:r="http://schemas.openxmlformats.org/officeDocument/2006/relationships" id="256" r:id="R2010b08cd05c4408"/>
    <p:sldId xmlns:r="http://schemas.openxmlformats.org/officeDocument/2006/relationships" id="257" r:id="R523b951db0864c92"/>
    <p:sldId xmlns:r="http://schemas.openxmlformats.org/officeDocument/2006/relationships" id="258" r:id="R3bfca3e83f164267"/>
    <p:sldId xmlns:r="http://schemas.openxmlformats.org/officeDocument/2006/relationships" id="259" r:id="Rab8941320e194c8f"/>
    <p:sldId xmlns:r="http://schemas.openxmlformats.org/officeDocument/2006/relationships" id="260" r:id="R69bbb8bfce6c4517"/>
    <p:sldId xmlns:r="http://schemas.openxmlformats.org/officeDocument/2006/relationships" id="261" r:id="Rc308b5b33b3b4d37"/>
    <p:sldId xmlns:r="http://schemas.openxmlformats.org/officeDocument/2006/relationships" id="262" r:id="R1242a9c837df4497"/>
    <p:sldId xmlns:r="http://schemas.openxmlformats.org/officeDocument/2006/relationships" id="263" r:id="R6abb52e2a3034834"/>
    <p:sldId xmlns:r="http://schemas.openxmlformats.org/officeDocument/2006/relationships" id="264" r:id="R154cddaf7ad94e66"/>
    <p:sldId xmlns:r="http://schemas.openxmlformats.org/officeDocument/2006/relationships" id="265" r:id="Rf7bb5b8524b64328"/>
    <p:sldId xmlns:r="http://schemas.openxmlformats.org/officeDocument/2006/relationships" id="266" r:id="R34af092d9c3d4c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9469b379c74d2f" /><Relationship Type="http://schemas.openxmlformats.org/officeDocument/2006/relationships/theme" Target="/ppt/theme/theme1.xml" Id="R28c40804322c46d8" /><Relationship Type="http://schemas.openxmlformats.org/officeDocument/2006/relationships/notesMaster" Target="/ppt/notesMasters/notesMaster1.xml" Id="Rd80ea86dcf8d4b44" /><Relationship Type="http://schemas.openxmlformats.org/officeDocument/2006/relationships/presProps" Target="/ppt/presProps.xml" Id="R79ca8f5b560c40cc" /><Relationship Type="http://schemas.openxmlformats.org/officeDocument/2006/relationships/viewProps" Target="/ppt/viewProps.xml" Id="R112fa28f69344145" /><Relationship Type="http://schemas.openxmlformats.org/officeDocument/2006/relationships/tableStyles" Target="/ppt/tableStyles.xml" Id="Rd76c75aa17674ed9" /><Relationship Type="http://schemas.openxmlformats.org/officeDocument/2006/relationships/slide" Target="/ppt/slides/slide1.xml" Id="R2010b08cd05c4408" /><Relationship Type="http://schemas.openxmlformats.org/officeDocument/2006/relationships/slide" Target="/ppt/slides/slide2.xml" Id="R523b951db0864c92" /><Relationship Type="http://schemas.openxmlformats.org/officeDocument/2006/relationships/slide" Target="/ppt/slides/slide3.xml" Id="R3bfca3e83f164267" /><Relationship Type="http://schemas.openxmlformats.org/officeDocument/2006/relationships/slide" Target="/ppt/slides/slide4.xml" Id="Rab8941320e194c8f" /><Relationship Type="http://schemas.openxmlformats.org/officeDocument/2006/relationships/slide" Target="/ppt/slides/slide5.xml" Id="R69bbb8bfce6c4517" /><Relationship Type="http://schemas.openxmlformats.org/officeDocument/2006/relationships/slide" Target="/ppt/slides/slide6.xml" Id="Rc308b5b33b3b4d37" /><Relationship Type="http://schemas.openxmlformats.org/officeDocument/2006/relationships/slide" Target="/ppt/slides/slide7.xml" Id="R1242a9c837df4497" /><Relationship Type="http://schemas.openxmlformats.org/officeDocument/2006/relationships/slide" Target="/ppt/slides/slide8.xml" Id="R6abb52e2a3034834" /><Relationship Type="http://schemas.openxmlformats.org/officeDocument/2006/relationships/slide" Target="/ppt/slides/slide9.xml" Id="R154cddaf7ad94e66" /><Relationship Type="http://schemas.openxmlformats.org/officeDocument/2006/relationships/slide" Target="/ppt/slides/slide10.xml" Id="Rf7bb5b8524b64328" /><Relationship Type="http://schemas.openxmlformats.org/officeDocument/2006/relationships/slide" Target="/ppt/slides/slide11.xml" Id="R34af092d9c3d4c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4681cb505004c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8dc35794b84aa9" /><Relationship Type="http://schemas.openxmlformats.org/officeDocument/2006/relationships/notesMaster" Target="/ppt/notesMasters/notesMaster1.xml" Id="Rbcc66bb085dd45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52c96a39a742e4" /><Relationship Type="http://schemas.openxmlformats.org/officeDocument/2006/relationships/notesMaster" Target="/ppt/notesMasters/notesMaster1.xml" Id="Rebd52980c0f74f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c696663b794fca" /><Relationship Type="http://schemas.openxmlformats.org/officeDocument/2006/relationships/notesMaster" Target="/ppt/notesMasters/notesMaster1.xml" Id="Rdea3500d5a5a44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37a0dc36114ec9" /><Relationship Type="http://schemas.openxmlformats.org/officeDocument/2006/relationships/notesMaster" Target="/ppt/notesMasters/notesMaster1.xml" Id="R04de7da6c27744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b17904b5e04094" /><Relationship Type="http://schemas.openxmlformats.org/officeDocument/2006/relationships/notesMaster" Target="/ppt/notesMasters/notesMaster1.xml" Id="R3902168280e343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4bdcf7acf24ab9" /><Relationship Type="http://schemas.openxmlformats.org/officeDocument/2006/relationships/notesMaster" Target="/ppt/notesMasters/notesMaster1.xml" Id="Re717c0a638f744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5518c3e3844791" /><Relationship Type="http://schemas.openxmlformats.org/officeDocument/2006/relationships/notesMaster" Target="/ppt/notesMasters/notesMaster1.xml" Id="R50508f3f528e457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7d584c2a7a4a04" /><Relationship Type="http://schemas.openxmlformats.org/officeDocument/2006/relationships/notesMaster" Target="/ppt/notesMasters/notesMaster1.xml" Id="R35bddda9a37a45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56ce9acf9f45ff" /><Relationship Type="http://schemas.openxmlformats.org/officeDocument/2006/relationships/notesMaster" Target="/ppt/notesMasters/notesMaster1.xml" Id="R2f8575596ebe4a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549a7d677c4d40" /><Relationship Type="http://schemas.openxmlformats.org/officeDocument/2006/relationships/notesMaster" Target="/ppt/notesMasters/notesMaster1.xml" Id="Rfaafecefcfb745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a704493f2d417d" /><Relationship Type="http://schemas.openxmlformats.org/officeDocument/2006/relationships/notesMaster" Target="/ppt/notesMasters/notesMaster1.xml" Id="R4012e02476cb47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1c118453c247c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605907d91a4445d" /><Relationship Type="http://schemas.openxmlformats.org/officeDocument/2006/relationships/slideLayout" Target="/ppt/slideLayouts/slideLayout2.xml" Id="R6833f4ef49b746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33f4ef49b746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f00b3df3f64526" /><Relationship Type="http://schemas.openxmlformats.org/officeDocument/2006/relationships/image" Target="/ppt/media/image.jpeg" Id="R69452ce5e1574d9b" /><Relationship Type="http://schemas.openxmlformats.org/officeDocument/2006/relationships/notesSlide" Target="/ppt/notesSlides/notesSlide1.xml" Id="Rd332922b20b343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7ed579b2ea4390" /><Relationship Type="http://schemas.openxmlformats.org/officeDocument/2006/relationships/image" Target="/ppt/media/image.png" Id="R284aed35f5fa4e16" /><Relationship Type="http://schemas.openxmlformats.org/officeDocument/2006/relationships/notesSlide" Target="/ppt/notesSlides/notesSlide2.xml" Id="R2b9d26746c6740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b9af173ca24598" /><Relationship Type="http://schemas.openxmlformats.org/officeDocument/2006/relationships/image" Target="/ppt/media/image2.png" Id="R771626fe2f744787" /><Relationship Type="http://schemas.openxmlformats.org/officeDocument/2006/relationships/notesSlide" Target="/ppt/notesSlides/notesSlide3.xml" Id="Re466fe5ddbcd4a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3cec81363e474d" /><Relationship Type="http://schemas.openxmlformats.org/officeDocument/2006/relationships/image" Target="/ppt/media/image3.png" Id="R8537598550744ada" /><Relationship Type="http://schemas.openxmlformats.org/officeDocument/2006/relationships/notesSlide" Target="/ppt/notesSlides/notesSlide4.xml" Id="R16ea64f113c74a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90fc0bff6e4483" /><Relationship Type="http://schemas.openxmlformats.org/officeDocument/2006/relationships/image" Target="/ppt/media/image4.png" Id="R21887a6c4b0148fc" /><Relationship Type="http://schemas.openxmlformats.org/officeDocument/2006/relationships/notesSlide" Target="/ppt/notesSlides/notesSlide5.xml" Id="R93268ee4e0a14b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c2df3554d34df4" /><Relationship Type="http://schemas.openxmlformats.org/officeDocument/2006/relationships/notesSlide" Target="/ppt/notesSlides/notesSlide6.xml" Id="R21051566b61d4c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bcb3e4c6d9460e" /><Relationship Type="http://schemas.openxmlformats.org/officeDocument/2006/relationships/notesSlide" Target="/ppt/notesSlides/notesSlide7.xml" Id="Re728e6f191e14c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0eec25ab3b4b55" /><Relationship Type="http://schemas.openxmlformats.org/officeDocument/2006/relationships/image" Target="/ppt/media/image5.png" Id="Raceb21d55ea04025" /><Relationship Type="http://schemas.openxmlformats.org/officeDocument/2006/relationships/notesSlide" Target="/ppt/notesSlides/notesSlide8.xml" Id="R88debffb893d49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58a611e2394fb5" /><Relationship Type="http://schemas.openxmlformats.org/officeDocument/2006/relationships/image" Target="/ppt/media/image6.png" Id="R9e0836835ab447d4" /><Relationship Type="http://schemas.openxmlformats.org/officeDocument/2006/relationships/notesSlide" Target="/ppt/notesSlides/notesSlide9.xml" Id="R25a5c0abd27d46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1fc9afd20f47ed" /><Relationship Type="http://schemas.openxmlformats.org/officeDocument/2006/relationships/image" Target="/ppt/media/image7.png" Id="Rb751290547bd4257" /><Relationship Type="http://schemas.openxmlformats.org/officeDocument/2006/relationships/image" Target="/ppt/media/image8.png" Id="Rcc767a3711594dee" /><Relationship Type="http://schemas.openxmlformats.org/officeDocument/2006/relationships/notesSlide" Target="/ppt/notesSlides/notesSlide10.xml" Id="R5d332b4576a44d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3b266533f14938" /><Relationship Type="http://schemas.openxmlformats.org/officeDocument/2006/relationships/notesSlide" Target="/ppt/notesSlides/notesSlide11.xml" Id="Rcb47f660752a413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80D6E0-C7FD-4BE3-84EC-6353A724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EBA79-971F-4F7E-8A06-1DA36816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8A045-5EB4-496E-8BB0-1D24406C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NARRATIF DE SOUTENANCE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90B82-06A9-4DCA-9607-BCBDF07E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5905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Prédire le danger avant</a:t>
            </a:r>
          </a:p>
          <a:p xmlns:a="http://schemas.openxmlformats.org/drawingml/2006/main">
            <a:pPr algn="l">
              <a:defRPr sz="37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l'entrée physique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657BA-C162-497F-AAB8-4DDC49D1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5810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Un prototype de sécurité à caméra fixe qui transforme la vidéo en signaux causaux pose-zone pour l'alerte et l'arrêt court horizon.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52ce5e1574d9b"/>
          <a:srcRect xmlns:a="http://schemas.openxmlformats.org/drawingml/2006/main" l="0" t="9149" r="0" b="91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72300" y="685800"/>
            <a:ext cx="4476750" cy="27432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EAFC9-E5EF-41A0-8E4C-8CD2CFF8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242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7F456-B949-4CAD-B91E-E3415C08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290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rPr>
              <a:t>72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E4A28-309F-4133-AF76-60E24E28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81500"/>
            <a:ext cx="114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vidéos parentes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400D5C-5360-4508-97F8-52FF6746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290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23A4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23A48"/>
                </a:solidFill>
                <a:latin typeface="Aptos Display"/>
                <a:ea typeface="Aptos Display"/>
                <a:cs typeface="Aptos Display"/>
              </a:rPr>
              <a:t>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D84AE-225B-4D3E-BA07-1C81D91DE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8150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entrées physiques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AA6F0-BFD3-4A48-AF89-219CA375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8290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D5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F7D5C"/>
                </a:solidFill>
                <a:latin typeface="Aptos Display"/>
                <a:ea typeface="Aptos Display"/>
                <a:cs typeface="Aptos Display"/>
              </a:rPr>
              <a:t>0.903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21BED-94A7-47BE-9A19-4D7802B8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815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P(entrée &lt;= 0,3 s) au point strict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A0CE5-DF32-4398-ADA9-57ADC1ED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6265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Rythme: problème -&gt; annotation -&gt; variables -&gt; modèles -&gt; évaluation -&gt; résultats -&gt; limites de déploiement</a:t>
            </a:r>
          </a:p>
        </p:txBody>
      </p:sp>
    </p:spTree>
    <p:extLst>
      <p:ext uri="{BB962C8B-B14F-4D97-AF65-F5344CB8AC3E}">
        <p14:creationId xmlns:p14="http://schemas.microsoft.com/office/powerpoint/2010/main" val="11603332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AAA3BB-A7D6-41E5-9469-7DB04A8D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024745-DD07-4F0B-B748-17473F53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Artefact à montrer: timing_budget.png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AF07C-F23A-4875-A6D7-D2EFF302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610F9-19C8-443D-B33F-BB92EEDC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C36AE-F9C0-4562-B5D3-2312C66A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BBF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BBF24"/>
                </a:solidFill>
                <a:latin typeface="Aptos"/>
                <a:ea typeface="Aptos"/>
                <a:cs typeface="Aptos"/>
              </a:rPr>
              <a:t>CIBLE OPÉRATIONNELLE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CDA26F-1126-46DD-A37D-0F7656DE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561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Le système est utile seulement s'il gagne du temps avant l'entrée.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aed35f5fa4e16"/>
          <a:stretch xmlns:a="http://schemas.openxmlformats.org/drawingml/2006/main"/>
        </p:blipFill>
        <p:spPr>
          <a:xfrm xmlns:a="http://schemas.openxmlformats.org/drawingml/2006/main">
            <a:off x="6572250" y="1168003"/>
            <a:ext cx="4476750" cy="235029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A0AA69-EE28-4A6A-8CC3-D53A1798F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19050">
            <a:solidFill>
              <a:srgbClr val="D990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9829E2-B2F3-4E82-BC45-550A7F80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9FAFB"/>
                </a:solidFill>
                <a:latin typeface="Aptos"/>
                <a:ea typeface="Aptos"/>
                <a:cs typeface="Aptos"/>
              </a:rPr>
              <a:t>Alerte humaine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74252C-BB5B-49ED-BC06-DD7A183C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098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Plus précoce, plus tolérante aux faux positifs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684A9F-CF08-49BC-B457-843F50E9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19050">
            <a:solidFill>
              <a:srgbClr val="2F7D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F6649-F672-4A16-BE41-5CE572CB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9FAFB"/>
                </a:solidFill>
                <a:latin typeface="Aptos"/>
                <a:ea typeface="Aptos"/>
                <a:cs typeface="Aptos"/>
              </a:rPr>
              <a:t>Signal physique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F174D6-BA8D-4262-9E12-26D5B461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480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Score causal de séquence pose-zone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A85BF-052F-48BA-A9D5-A3F7F57F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19050">
            <a:solidFill>
              <a:srgbClr val="B23A4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F79CF-52D0-46F1-9B00-2C94351B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9FAFB"/>
                </a:solidFill>
                <a:latin typeface="Aptos"/>
                <a:ea typeface="Aptos"/>
                <a:cs typeface="Aptos"/>
              </a:rPr>
              <a:t>Arrêt auto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71933-825D-409E-9C69-52EBF675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862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Court horizon, confiance élevée seulement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210540-F83A-4087-AD47-3667C1E6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14800"/>
            <a:ext cx="4476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9525">
            <a:solidFill>
              <a:srgbClr val="3741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83FA90-9662-4019-8E86-9D7CAC83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48150"/>
            <a:ext cx="4133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9FAFB"/>
                </a:solidFill>
                <a:latin typeface="Aptos"/>
                <a:ea typeface="Aptos"/>
                <a:cs typeface="Aptos"/>
              </a:rPr>
              <a:t>Message oral: séparer l'alerte de l'arrêt automatique. La même famille de modèles peut aider les deux, mais le seuil opérationnel n'est pas le même.</a:t>
            </a:r>
          </a:p>
        </p:txBody>
      </p:sp>
    </p:spTree>
    <p:extLst>
      <p:ext uri="{BB962C8B-B14F-4D97-AF65-F5344CB8AC3E}">
        <p14:creationId xmlns:p14="http://schemas.microsoft.com/office/powerpoint/2010/main" val="5858731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20AB23-1345-4A78-9F2D-D8063FFB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89A43-6808-4039-B1D9-4F3E731C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Artefact à montrer: dataset_event_distribution.png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3D3B2-45D3-45AF-9E87-08AFCA34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9567D-1F8F-4DAF-8BB1-9B60DD6E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022D0-12DF-4843-86CC-0451D711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23A4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23A48"/>
                </a:solidFill>
                <a:latin typeface="Aptos"/>
                <a:ea typeface="Aptos"/>
                <a:cs typeface="Aptos"/>
              </a:rPr>
              <a:t>RÉALITÉ DU 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97ED80-BE92-4A89-BAD6-58A65349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Le dataset est petit, mais centré sur l'événement rare à apprendre.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626fe2f744787"/>
          <a:stretch xmlns:a="http://schemas.openxmlformats.org/drawingml/2006/main"/>
        </p:blipFill>
        <p:spPr>
          <a:xfrm xmlns:a="http://schemas.openxmlformats.org/drawingml/2006/main">
            <a:off x="800100" y="2209800"/>
            <a:ext cx="5334000" cy="2133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D1927-B7C5-4889-9006-9499A9A4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09750"/>
            <a:ext cx="95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E55B9-01D4-4689-83D3-EF88B1D0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43100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rPr>
              <a:t>4 100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8AD8D-03C6-49A1-9A99-465777F1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95550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fenêtres sans danger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50A2B-E28A-43ED-9969-0BC18718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19425"/>
            <a:ext cx="2095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23A4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23A48"/>
                </a:solidFill>
                <a:latin typeface="Aptos Display"/>
                <a:ea typeface="Aptos Display"/>
                <a:cs typeface="Aptos Display"/>
              </a:rPr>
              <a:t>864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DFC1C-7993-4340-9D30-B9A855D0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71875"/>
            <a:ext cx="2095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fenêtres d'entrée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D6A47D-50D9-45CC-B81B-E32D6B97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957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7D5C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F7D5C"/>
                </a:solidFill>
                <a:latin typeface="Aptos Display"/>
                <a:ea typeface="Aptos Display"/>
                <a:cs typeface="Aptos Display"/>
              </a:rPr>
              <a:t>388 / 4 576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A85B6-C0D3-44DB-BB1F-660278BE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48200"/>
            <a:ext cx="314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positif vs négatif pour la cible 1,0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36229-4F1E-4E1A-A4C3-D8C6A2E2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8572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Point clé: le graphique de gauche compte les épisodes vidéo, pas tout le temps d'entraînement. Au niveau des fenêtres, le temps sans danger est beaucoup plus grand.</a:t>
            </a:r>
          </a:p>
        </p:txBody>
      </p:sp>
    </p:spTree>
    <p:extLst>
      <p:ext uri="{BB962C8B-B14F-4D97-AF65-F5344CB8AC3E}">
        <p14:creationId xmlns:p14="http://schemas.microsoft.com/office/powerpoint/2010/main" val="19907489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C24E0A-3D64-4D5B-A869-3B5B6231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29DDF-A3E9-4826-8150-25F280D9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Artefact à montrer en direct: file d'annotation + édition de zone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CA4B93-C4CF-40B5-A420-E0F50D07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BD041-029B-41CD-AEE3-2BE898FC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69BBB-6C03-49E9-A47F-203E2DF2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01F"/>
                </a:solidFill>
                <a:latin typeface="Aptos"/>
                <a:ea typeface="Aptos"/>
                <a:cs typeface="Aptos"/>
              </a:rPr>
              <a:t>ANNOTATION COMME MÉTHODE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6FB3C-3245-414B-9435-BCD6CE27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Nous avons créé l'outil d'annotation car la cible est temporelle.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7598550744ada"/>
          <a:stretch xmlns:a="http://schemas.openxmlformats.org/drawingml/2006/main"/>
        </p:blipFill>
        <p:spPr>
          <a:xfrm xmlns:a="http://schemas.openxmlformats.org/drawingml/2006/main">
            <a:off x="766699" y="1733550"/>
            <a:ext cx="6372352" cy="3733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5EFA2-09FA-41E1-95C6-82F5ADFA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47850"/>
            <a:ext cx="3333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90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7EA55D-38A6-4D23-A834-7C09898C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81200"/>
            <a:ext cx="299085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Ce qu'il enregistre: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 polygone 2D fixe de danger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 marqueurs risque et entrée physique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 segments attention / blouse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 revue image par image et correction timeline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D096A-791E-4214-80A0-7E248A14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67200"/>
            <a:ext cx="3333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5F8E0-20D7-429B-B5BE-588560EC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00550"/>
            <a:ext cx="29908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Pourquoi c'est important: l'entrée physique reste la cible objective; le début du risque devient le repère humain d'anticipation attendue.</a:t>
            </a:r>
          </a:p>
        </p:txBody>
      </p:sp>
    </p:spTree>
    <p:extLst>
      <p:ext uri="{BB962C8B-B14F-4D97-AF65-F5344CB8AC3E}">
        <p14:creationId xmlns:p14="http://schemas.microsoft.com/office/powerpoint/2010/main" val="3655074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C96843-198F-4328-A59E-71BC578A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6BF2A-9A95-4613-8258-42CEE779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Artefact à montrer: pipeline_policy_diagram.png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8FA83-67DA-468F-8EA4-87055E861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CE753-9079-4DFE-9698-D907BA26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C5118-EF82-4993-AB97-8DFFFD26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INGÉNIERIE DES 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24187-49F9-4577-81F3-21AC448F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Le modèle ne voit pas d'abord les pixels bruts; il voit des signaux pose-zone causaux.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887a6c4b0148fc"/>
          <a:stretch xmlns:a="http://schemas.openxmlformats.org/drawingml/2006/main"/>
        </p:blipFill>
        <p:spPr>
          <a:xfrm xmlns:a="http://schemas.openxmlformats.org/drawingml/2006/main">
            <a:off x="859325" y="1695450"/>
            <a:ext cx="6739549" cy="3143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8E2EF-0BE2-4B46-9BE1-EA8ECAA8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143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54C8C5-7587-4134-9EEF-92B130A8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47850"/>
            <a:ext cx="28003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Entrée structurée: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 poignets, coudes, tête, torse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 confiance de pose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 distance au polygone danger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 indicateurs dedans/dehors</a:t>
            </a:r>
          </a:p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- vitesse et accélération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90636-9F6C-4721-A587-3E19CEC1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819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Cela force le modèle à apprendre le mouvement vers la zone dangereuse, pas l'identité de l'acteur ni la texture du fond.</a:t>
            </a:r>
          </a:p>
        </p:txBody>
      </p:sp>
    </p:spTree>
    <p:extLst>
      <p:ext uri="{BB962C8B-B14F-4D97-AF65-F5344CB8AC3E}">
        <p14:creationId xmlns:p14="http://schemas.microsoft.com/office/powerpoint/2010/main" val="445664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5A451A-278C-43C7-8DB8-101A2325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32D2B3-DC62-4808-9DD2-EDF36F75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Expliquer d'abord le TCN, puis le GRU comme spécialiste de l'entrée exacte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0FDE8-D3D8-462E-929A-79508AC0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A5B721-86AA-420F-B008-D2B839D3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7B372-DA8B-4D40-A1C2-E7A33896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DE46D-7B5A-4A6A-8259-B466E3B8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Le TCN lit le danger général; le GRU lit l'entrée court horizon.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238DB-479A-4C72-8318-4D250295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F7D5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36C66-2CA8-45C8-A23C-6F86FEDA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526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TCN sequence-only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1EA9B-EA54-49FD-B862-97CB80D6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400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Entrée 60 x 54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Conv1d 54 -&gt; 96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4 blocs TCN résiduels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Dilatations 1,2,4,8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Moyenne + dernier pas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Sorties: danger dans 0,5/1,0/1,5/2,0 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BEB18-A2D7-437D-936C-42ECB4F3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47625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23A4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24B23-6FE4-497C-8E3D-88EEA0AE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23A4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23A48"/>
                </a:solidFill>
                <a:latin typeface="Aptos"/>
                <a:ea typeface="Aptos"/>
                <a:cs typeface="Aptos"/>
              </a:rPr>
              <a:t>GRU entrée exacte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1493D-C44B-4EED-89CE-63085270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000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Entrée 30 x 54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GRU 2 couches, hidden 96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Dropout 0,20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MLP sur dernière sortie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Têtes survival: &lt;=0,2/0,3/0,5/1,0 s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defRPr>
            </a:pPr>
            <a:r>
              <a:rPr sz="1425" b="0">
                <a:solidFill>
                  <a:srgbClr val="17202A"/>
                </a:solidFill>
                <a:latin typeface="Aptos Mono"/>
                <a:ea typeface="Aptos Mono"/>
                <a:cs typeface="Aptos Mono"/>
              </a:rPr>
              <a:t>Variante multi-bin temps-vers-entrée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67D82-50BD-4225-B139-1CC8769C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Message au jury: nous séparons l'alerte précoce de l'entrée physique exacte au lieu de forcer un seul modèle à tout faire.</a:t>
            </a:r>
          </a:p>
        </p:txBody>
      </p:sp>
    </p:spTree>
    <p:extLst>
      <p:ext uri="{BB962C8B-B14F-4D97-AF65-F5344CB8AC3E}">
        <p14:creationId xmlns:p14="http://schemas.microsoft.com/office/powerpoint/2010/main" val="15451774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37C06D-D5E9-4879-9459-A43BA473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F7555-E521-4D6F-8BE2-587F7B48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Petit dataset: splits répétés par vidéo parente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24C742-570C-4966-878E-CB430BCA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7D717-3763-47F9-93CA-29F636DD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E7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01BEE-A499-410B-A549-767F8D43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ROBUSTESSE DE L'ÉVALUATION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128B6-8D55-4AEE-8566-F9E0069E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00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Les splits répétés évitent de raconter un split chanceux.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DFD049-7C11-427E-B7A9-6F2481D4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B0D03-1017-4CE7-95A0-C45023B9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Graine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8590E8-9F67-4FEC-AC3F-8B7F55F8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D9183-1EFC-437F-A894-A407B793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DB6B7-5DAE-4A02-BF28-1DBDACE0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698340-3FB6-4999-ACC6-D22F0AC7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appr.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9158CE-AA5F-4977-9D13-856D04CF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C5AF9-BA4E-4A19-9444-6F0C2BE5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F7872C-140E-4E18-8FA1-5760D297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BE982-1BE5-4CEC-9A61-09101730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431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Graine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F1175-D58A-430D-8FD1-30F02410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3F6F01-4165-454C-9B56-8CDD16D5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FC0B52-47BD-474E-A9B3-E3FFFF12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3C883-C064-47F5-B6BC-084AD93D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appr.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4D5533-F649-4364-9058-FCE04342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2F7516-D5C5-4054-9680-BDCB4920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B90723-9CAF-4183-8D79-7803D679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95500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3DCD18-E95F-4D70-AC19-48DA33CE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431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Graine 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2D3B79-C8FB-48A9-A561-795BDA37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3ED843-8731-46E6-B303-398BEC1F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BE8B5D-FF4F-44BA-A9EC-FD9D0774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7BB84E-1811-4B0D-9F9A-5370EAC7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appr.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C07857-FD98-41A0-95E7-9DD156D0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val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922023-BBFF-4989-9834-879CE80A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B57A59-6F8D-42A5-9696-8FBC700D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95500"/>
            <a:ext cx="152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9050">
            <a:solidFill>
              <a:srgbClr val="1F4E7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F59B40-15E6-4C2E-9419-BBCAE423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4E7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4E79"/>
                </a:solidFill>
                <a:latin typeface="Aptos"/>
                <a:ea typeface="Aptos"/>
                <a:cs typeface="Aptos"/>
              </a:rPr>
              <a:t>Graine 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B31857-3F41-4498-930E-AEE6A4A1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7B9B9E-910D-4ED4-B85F-411763DB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BDFC32-0A60-4DC1-BECF-424BEB15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24200"/>
            <a:ext cx="476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EACBF4-F225-41E4-92B8-D9798ABC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appr.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002374-A625-49D9-8F8E-6D6BFEE1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val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48BDDF-C08C-4294-9F8E-4EFE2D93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052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1127E6-DCC7-4B67-94CF-FD94F660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4476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EE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A01BBD-784F-4490-A2D6-947F52B5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4133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Règle: chaque split est fait par vidéo parente, donc les fenêtres voisines d'une même vidéo ne fuient pas entre train et test.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643D9E-333F-4678-9692-832369F6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48200"/>
            <a:ext cx="4762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901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65D47D-6698-4EF3-B316-A9039A81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781550"/>
            <a:ext cx="4419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Interprétation: les graines répétées ne remplacent pas un grand dataset, mais elles réduisent la dépendance à une seule séparation favorable ou défavorable.</a:t>
            </a:r>
          </a:p>
        </p:txBody>
      </p:sp>
    </p:spTree>
    <p:extLst>
      <p:ext uri="{BB962C8B-B14F-4D97-AF65-F5344CB8AC3E}">
        <p14:creationId xmlns:p14="http://schemas.microsoft.com/office/powerpoint/2010/main" val="115371576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DBE330-9D56-4D9B-90A0-515982FE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2F5D9-547E-43EF-9F43-9EC99423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Artefact à montrer: policy_results_comparison.png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F9EED-19AE-4581-821F-2BF77053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370BB-46AD-4E27-839D-7BB7D72A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02028-D5E3-4273-9BD5-C1C62E95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F7D5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7D5C"/>
                </a:solidFill>
                <a:latin typeface="Aptos"/>
                <a:ea typeface="Aptos"/>
                <a:cs typeface="Aptos"/>
              </a:rPr>
              <a:t>RÉSULTAT PRINCIPAL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061FD-D157-4180-B3BF-44397107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Le résultat fort n'est pas un score unique; ce sont trois modes d'usage.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b21d55ea04025"/>
          <a:stretch xmlns:a="http://schemas.openxmlformats.org/drawingml/2006/main"/>
        </p:blipFill>
        <p:spPr>
          <a:xfrm xmlns:a="http://schemas.openxmlformats.org/drawingml/2006/main">
            <a:off x="666750" y="1843088"/>
            <a:ext cx="5334000" cy="3000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0A9BA-C8A8-49E5-9EAC-221524ED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907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F4E79"/>
                </a:solidFill>
                <a:latin typeface="Aptos Display"/>
                <a:ea typeface="Aptos Display"/>
                <a:cs typeface="Aptos Display"/>
              </a:rPr>
              <a:t>0.683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778FA-FDD5-43E0-B9E9-F379E47F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431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détection alerte conservatrice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CF90F-CCB5-46EF-8443-3FE27C81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907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9901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D9901F"/>
                </a:solidFill>
                <a:latin typeface="Aptos Display"/>
                <a:ea typeface="Aptos Display"/>
                <a:cs typeface="Aptos Display"/>
              </a:rPr>
              <a:t>1.000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19250-62D7-40D0-8200-233E0331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431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détection alerte agressive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4863E-B56A-4D22-B8DA-44E5B993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3370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23A4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B23A48"/>
                </a:solidFill>
                <a:latin typeface="Aptos Display"/>
                <a:ea typeface="Aptos Display"/>
                <a:cs typeface="Aptos Display"/>
              </a:rPr>
              <a:t>0.903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85190-DA46-4A6F-92E0-B7B48AC1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861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fiabilité arrêt strict &lt;=0,3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022C0-533E-4006-BD94-363EDA6C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24350"/>
            <a:ext cx="40005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1F4E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ED9B82-936C-496B-9A8B-69A70615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57700"/>
            <a:ext cx="3657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Phrase clé: l'alerte peut être plus précoce et plus bruitée; l'arrêt automatique doit être plus strict et proche de l'entrée physique.</a:t>
            </a:r>
          </a:p>
        </p:txBody>
      </p:sp>
    </p:spTree>
    <p:extLst>
      <p:ext uri="{BB962C8B-B14F-4D97-AF65-F5344CB8AC3E}">
        <p14:creationId xmlns:p14="http://schemas.microsoft.com/office/powerpoint/2010/main" val="1459517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2567EF-5C57-4380-B546-CD0B99BB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489DF-D382-4E34-8ABC-60AE7AA1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Artefact à montrer: attention_blouse_examples.png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27FB63-A4FE-45EE-8324-60760C85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8DC9D-4115-4585-8EAB-6B3FF2CC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0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7C645E-7A3B-48D8-A271-348B3560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901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901F"/>
                </a:solidFill>
                <a:latin typeface="Aptos"/>
                <a:ea typeface="Aptos"/>
                <a:cs typeface="Aptos"/>
              </a:rPr>
              <a:t>COUCHE DE POLITIQUE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8BE36-252E-492C-8498-DA4B4A42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38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Attention et blouse modifient la sensibilité d'alerte, pas le danger physique.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836835ab447d4"/>
          <a:stretch xmlns:a="http://schemas.openxmlformats.org/drawingml/2006/main"/>
        </p:blipFill>
        <p:spPr>
          <a:xfrm xmlns:a="http://schemas.openxmlformats.org/drawingml/2006/main">
            <a:off x="1619691" y="1695450"/>
            <a:ext cx="3599569" cy="4095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8F036-45B4-4F2F-80F1-2A44C856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90700"/>
            <a:ext cx="400050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D9901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0CC4D2-2FA3-4E02-BDA6-D73894CB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24050"/>
            <a:ext cx="3657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 = score de danger physique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 = risque attention</a:t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 = risque blouse/PPE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S_full = 1 - (1-D)(1-0.30A)(1-0.25P)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9751C1-E0EE-4980-AED4-4FBE1031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90950"/>
            <a:ext cx="3733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C'est un choix de politique: si le risque physique est déjà non nul, une attention distraite ou une blouse non conforme peut baisser le seuil d'alerte.</a:t>
            </a:r>
          </a:p>
        </p:txBody>
      </p:sp>
    </p:spTree>
    <p:extLst>
      <p:ext uri="{BB962C8B-B14F-4D97-AF65-F5344CB8AC3E}">
        <p14:creationId xmlns:p14="http://schemas.microsoft.com/office/powerpoint/2010/main" val="11424742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F3EFD7-9D91-4CC5-AD56-1CC13AA9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4C507F-6CA8-46D2-A4A9-F5C40E3E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Artefacts à montrer: exact_entry_reliability.png + timing_budget.png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F49E4-B7B7-44DC-ADFF-9810314F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09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09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F9CC4-20BB-4A64-B376-548F3699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23246-0718-4A66-949A-FB365D6A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23A4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23A48"/>
                </a:solidFill>
                <a:latin typeface="Aptos"/>
                <a:ea typeface="Aptos"/>
                <a:cs typeface="Aptos"/>
              </a:rPr>
              <a:t>PRUDENCE DÉPLOIEMENT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28C31-A72B-49DD-8AF2-15BE78E5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933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Le signal d'arrêt est prometteur, mais le déploiement demande 3D et validation complète.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1290547bd4257"/>
          <a:stretch xmlns:a="http://schemas.openxmlformats.org/drawingml/2006/main"/>
        </p:blipFill>
        <p:spPr>
          <a:xfrm xmlns:a="http://schemas.openxmlformats.org/drawingml/2006/main">
            <a:off x="666750" y="1725216"/>
            <a:ext cx="4476750" cy="2797969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67a3711594dee"/>
          <a:stretch xmlns:a="http://schemas.openxmlformats.org/drawingml/2006/main"/>
        </p:blipFill>
        <p:spPr>
          <a:xfrm xmlns:a="http://schemas.openxmlformats.org/drawingml/2006/main">
            <a:off x="5810250" y="1949053"/>
            <a:ext cx="4476750" cy="235029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540B9-B127-4BA6-8C77-254E10D2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914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7EA"/>
          </a:solidFill>
          <a:ln xmlns:a="http://schemas.openxmlformats.org/drawingml/2006/main" w="9525">
            <a:solidFill>
              <a:srgbClr val="B23A4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B34D9-E874-4040-96A1-EBD08D12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86350"/>
            <a:ext cx="8801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 projection 2D de la zone est acceptable pour ce prototype à caméra fixe. Elle ne suffit pas pour un déploiement où profondeur, occlusion et angle caméra changent la relation réelle corps-volume.</a:t>
            </a:r>
          </a:p>
        </p:txBody>
      </p:sp>
    </p:spTree>
    <p:extLst>
      <p:ext uri="{BB962C8B-B14F-4D97-AF65-F5344CB8AC3E}">
        <p14:creationId xmlns:p14="http://schemas.microsoft.com/office/powerpoint/2010/main" val="17734974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107CDD-A142-411A-8159-D64F32F5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5454F-C0B8-4B6F-8646-2850EF89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Conclure par les gains, puis les perspectives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4BADE-25F4-417D-9045-1A804127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C9029-5202-450D-A941-E146FA8B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C4664-ED57-4FD3-AC5C-35EE2FB0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6EFA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6EFAC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184165-4915-4A61-A58E-8D06211E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9FAFB"/>
                </a:solidFill>
                <a:latin typeface="Aptos Display"/>
                <a:ea typeface="Aptos Display"/>
                <a:cs typeface="Aptos Display"/>
              </a:rPr>
              <a:t>Le gain: une chaîne causale complète, pas seulement un classifieur.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6F766-7BCF-4434-9C7B-250B7252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4857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4881B-7A98-49BC-B266-B717A6E5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574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9FAFB"/>
                </a:solidFill>
                <a:latin typeface="Aptos"/>
                <a:ea typeface="Aptos"/>
                <a:cs typeface="Aptos"/>
              </a:rPr>
              <a:t>Ce qui marche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92C4E-32A9-4D97-809B-D4251398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5F5AEB-8117-4EDF-94FF-61E5A1DA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Annotation dédiée: entrée physique et début du risque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261DE-CE78-4C7C-85BF-1A58376A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80189-DB23-41F0-9089-EBD598B6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Variables pose-zone avec fenêtres causales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F8EDC-0CFE-4B33-ADE7-4C5660F3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A923C-3ABE-4FD9-AC52-1664D203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Signal TCN d'alerte et signal GRU d'entrée exacte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9FDE7-2CA5-478D-B75D-3A91FA6F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EFA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2F9F94-A8B7-4BBB-BEE7-D66D259B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Politique d'alerte avec attention et blouse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A19CA6-5B44-4F8F-B8E6-36DD0134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4857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66BFFE-C750-42AA-B1FB-C93BB03A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9FAF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9FAFB"/>
                </a:solidFill>
                <a:latin typeface="Aptos"/>
                <a:ea typeface="Aptos"/>
                <a:cs typeface="Aptos"/>
              </a:rPr>
              <a:t>Prochaines étapes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D7681-1805-4F4E-B7DE-E5199615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05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60582-EC4F-432F-AB00-D62647F2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289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Plus d'acteurs, vrais négatifs, machines et angles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9697C5-585F-412A-B9B4-286CD205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BE76DB-5016-4D5D-A2AF-8554C612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432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Multi-angle ou profondeur pour valider le volume 3D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CBD95-97A1-463E-A403-472B41F9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33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66A268-E098-4C3E-8976-0FEFA8F9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65760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Latence complète: caméra jusqu'à mécanique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07AA37-911F-46A0-8950-0C14F752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A5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B68E4B-F7CA-4BB3-B37A-EF77C745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71950"/>
            <a:ext cx="382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5E7E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5E7EB"/>
                </a:solidFill>
                <a:latin typeface="Aptos"/>
                <a:ea typeface="Aptos"/>
                <a:cs typeface="Aptos"/>
              </a:rPr>
              <a:t>Évaluation de sûreté au-delà de la classification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78A619-277E-4337-AA2E-F1ED8100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52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Phrase finale: c'est un prototype contrôlé avec un signal de sécurité utile; la suite est de prouver la robustesse hors scénario.</a:t>
            </a:r>
          </a:p>
        </p:txBody>
      </p:sp>
    </p:spTree>
    <p:extLst>
      <p:ext uri="{BB962C8B-B14F-4D97-AF65-F5344CB8AC3E}">
        <p14:creationId xmlns:p14="http://schemas.microsoft.com/office/powerpoint/2010/main" val="17752613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2026-05-31T15:28:25.6640000Z</dcterms:created>
  <dcterms:modified xsi:type="dcterms:W3CDTF">2026-05-31T15:28:25.6650000Z</dcterms:modified>
</coreProperties>
</file>