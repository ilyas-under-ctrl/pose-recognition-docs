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3bd0ddaed042d5" /><Relationship Type="http://schemas.openxmlformats.org/officeDocument/2006/relationships/extended-properties" Target="/docProps/app.xml" Id="Rd8f3e901926a4641" /><Relationship Type="http://schemas.openxmlformats.org/officeDocument/2006/relationships/officeDocument" Target="/ppt/presentation.xml" Id="R8b7867ee4bfe44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7f6e035f724659"/>
  </p:sldMasterIdLst>
  <p:notesMasterIdLst>
    <p:notesMasterId xmlns:r="http://schemas.openxmlformats.org/officeDocument/2006/relationships" r:id="R5cfb6e2d49ed43d5"/>
  </p:notesMasterIdLst>
  <p:sldIdLst>
    <p:sldId xmlns:r="http://schemas.openxmlformats.org/officeDocument/2006/relationships" id="256" r:id="Rd5465b491074431f"/>
    <p:sldId xmlns:r="http://schemas.openxmlformats.org/officeDocument/2006/relationships" id="257" r:id="R39e1bb4a6b79460a"/>
    <p:sldId xmlns:r="http://schemas.openxmlformats.org/officeDocument/2006/relationships" id="258" r:id="Rdd3c835927a1407b"/>
    <p:sldId xmlns:r="http://schemas.openxmlformats.org/officeDocument/2006/relationships" id="259" r:id="R2c12be673f4146fb"/>
    <p:sldId xmlns:r="http://schemas.openxmlformats.org/officeDocument/2006/relationships" id="260" r:id="R13d596b7a60b452a"/>
    <p:sldId xmlns:r="http://schemas.openxmlformats.org/officeDocument/2006/relationships" id="261" r:id="Raafe2fdc1bd544c9"/>
    <p:sldId xmlns:r="http://schemas.openxmlformats.org/officeDocument/2006/relationships" id="262" r:id="Rfc3dbb51164e4df0"/>
    <p:sldId xmlns:r="http://schemas.openxmlformats.org/officeDocument/2006/relationships" id="263" r:id="R3dcdfa12fb2e4cb1"/>
    <p:sldId xmlns:r="http://schemas.openxmlformats.org/officeDocument/2006/relationships" id="264" r:id="R43e2ce02dd0d4f66"/>
    <p:sldId xmlns:r="http://schemas.openxmlformats.org/officeDocument/2006/relationships" id="265" r:id="Raeca7f808bc54fcc"/>
    <p:sldId xmlns:r="http://schemas.openxmlformats.org/officeDocument/2006/relationships" id="266" r:id="R7d94680507ae43f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7f6e035f724659" /><Relationship Type="http://schemas.openxmlformats.org/officeDocument/2006/relationships/theme" Target="/ppt/theme/theme1.xml" Id="Rb14b092884e845f9" /><Relationship Type="http://schemas.openxmlformats.org/officeDocument/2006/relationships/notesMaster" Target="/ppt/notesMasters/notesMaster1.xml" Id="R5cfb6e2d49ed43d5" /><Relationship Type="http://schemas.openxmlformats.org/officeDocument/2006/relationships/presProps" Target="/ppt/presProps.xml" Id="R5895480c5f7742dc" /><Relationship Type="http://schemas.openxmlformats.org/officeDocument/2006/relationships/viewProps" Target="/ppt/viewProps.xml" Id="Rdf6049dfb0054b75" /><Relationship Type="http://schemas.openxmlformats.org/officeDocument/2006/relationships/tableStyles" Target="/ppt/tableStyles.xml" Id="Raebdec5c48264d24" /><Relationship Type="http://schemas.openxmlformats.org/officeDocument/2006/relationships/slide" Target="/ppt/slides/slide1.xml" Id="Rd5465b491074431f" /><Relationship Type="http://schemas.openxmlformats.org/officeDocument/2006/relationships/slide" Target="/ppt/slides/slide2.xml" Id="R39e1bb4a6b79460a" /><Relationship Type="http://schemas.openxmlformats.org/officeDocument/2006/relationships/slide" Target="/ppt/slides/slide3.xml" Id="Rdd3c835927a1407b" /><Relationship Type="http://schemas.openxmlformats.org/officeDocument/2006/relationships/slide" Target="/ppt/slides/slide4.xml" Id="R2c12be673f4146fb" /><Relationship Type="http://schemas.openxmlformats.org/officeDocument/2006/relationships/slide" Target="/ppt/slides/slide5.xml" Id="R13d596b7a60b452a" /><Relationship Type="http://schemas.openxmlformats.org/officeDocument/2006/relationships/slide" Target="/ppt/slides/slide6.xml" Id="Raafe2fdc1bd544c9" /><Relationship Type="http://schemas.openxmlformats.org/officeDocument/2006/relationships/slide" Target="/ppt/slides/slide7.xml" Id="Rfc3dbb51164e4df0" /><Relationship Type="http://schemas.openxmlformats.org/officeDocument/2006/relationships/slide" Target="/ppt/slides/slide8.xml" Id="R3dcdfa12fb2e4cb1" /><Relationship Type="http://schemas.openxmlformats.org/officeDocument/2006/relationships/slide" Target="/ppt/slides/slide9.xml" Id="R43e2ce02dd0d4f66" /><Relationship Type="http://schemas.openxmlformats.org/officeDocument/2006/relationships/slide" Target="/ppt/slides/slide10.xml" Id="Raeca7f808bc54fcc" /><Relationship Type="http://schemas.openxmlformats.org/officeDocument/2006/relationships/slide" Target="/ppt/slides/slide11.xml" Id="R7d94680507ae43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6b92ce66a294b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60b7c3fcd74e2c" /><Relationship Type="http://schemas.openxmlformats.org/officeDocument/2006/relationships/notesMaster" Target="/ppt/notesMasters/notesMaster1.xml" Id="R7162003a62fc47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12fb70b1644d73" /><Relationship Type="http://schemas.openxmlformats.org/officeDocument/2006/relationships/notesMaster" Target="/ppt/notesMasters/notesMaster1.xml" Id="Rbe041881884d48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48d089ee1744b5" /><Relationship Type="http://schemas.openxmlformats.org/officeDocument/2006/relationships/notesMaster" Target="/ppt/notesMasters/notesMaster1.xml" Id="Rc1f56803287747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99ea9ae2a24c70" /><Relationship Type="http://schemas.openxmlformats.org/officeDocument/2006/relationships/notesMaster" Target="/ppt/notesMasters/notesMaster1.xml" Id="R1aa1adcd844f40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1260e239f045a6" /><Relationship Type="http://schemas.openxmlformats.org/officeDocument/2006/relationships/notesMaster" Target="/ppt/notesMasters/notesMaster1.xml" Id="R9447a7e4f8c245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3ea0b4ef3d4527" /><Relationship Type="http://schemas.openxmlformats.org/officeDocument/2006/relationships/notesMaster" Target="/ppt/notesMasters/notesMaster1.xml" Id="Rc0f7408aba6145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7367a1d97f4d6a" /><Relationship Type="http://schemas.openxmlformats.org/officeDocument/2006/relationships/notesMaster" Target="/ppt/notesMasters/notesMaster1.xml" Id="Rc09e3ff1a40b44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47b53d95b4426c" /><Relationship Type="http://schemas.openxmlformats.org/officeDocument/2006/relationships/notesMaster" Target="/ppt/notesMasters/notesMaster1.xml" Id="R8d8b9389f3c24c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7c60a34eab4016" /><Relationship Type="http://schemas.openxmlformats.org/officeDocument/2006/relationships/notesMaster" Target="/ppt/notesMasters/notesMaster1.xml" Id="R3e9f85c1d65440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f890fe68354eed" /><Relationship Type="http://schemas.openxmlformats.org/officeDocument/2006/relationships/notesMaster" Target="/ppt/notesMasters/notesMaster1.xml" Id="Rbe3addafb39f4a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16f210374645ab" /><Relationship Type="http://schemas.openxmlformats.org/officeDocument/2006/relationships/notesMaster" Target="/ppt/notesMasters/notesMaster1.xml" Id="R987a212c137d4f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408257eb10423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a97bab50f884c19" /><Relationship Type="http://schemas.openxmlformats.org/officeDocument/2006/relationships/slideLayout" Target="/ppt/slideLayouts/slideLayout2.xml" Id="Rd44402fd23ef4c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4402fd23ef4c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6a3ebb2e554c25" /><Relationship Type="http://schemas.openxmlformats.org/officeDocument/2006/relationships/image" Target="/ppt/media/image.jpeg" Id="R9f47af6ca4d54b6b" /><Relationship Type="http://schemas.openxmlformats.org/officeDocument/2006/relationships/notesSlide" Target="/ppt/notesSlides/notesSlide1.xml" Id="Re56e668c4e9040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95fd0e073a490d" /><Relationship Type="http://schemas.openxmlformats.org/officeDocument/2006/relationships/image" Target="/ppt/media/image.png" Id="R0bde15ac566e4276" /><Relationship Type="http://schemas.openxmlformats.org/officeDocument/2006/relationships/notesSlide" Target="/ppt/notesSlides/notesSlide2.xml" Id="R8b40621afdbc47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2968862a5f4f62" /><Relationship Type="http://schemas.openxmlformats.org/officeDocument/2006/relationships/image" Target="/ppt/media/image2.png" Id="Rf3ab545c721348ce" /><Relationship Type="http://schemas.openxmlformats.org/officeDocument/2006/relationships/notesSlide" Target="/ppt/notesSlides/notesSlide3.xml" Id="R30898ff8b96f42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96c3db382c4bcb" /><Relationship Type="http://schemas.openxmlformats.org/officeDocument/2006/relationships/image" Target="/ppt/media/image3.png" Id="R43fa10e353ef4365" /><Relationship Type="http://schemas.openxmlformats.org/officeDocument/2006/relationships/notesSlide" Target="/ppt/notesSlides/notesSlide4.xml" Id="R8db3dc35348f4b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43d691d83b45e1" /><Relationship Type="http://schemas.openxmlformats.org/officeDocument/2006/relationships/image" Target="/ppt/media/image4.png" Id="R92689b8e93bd40a9" /><Relationship Type="http://schemas.openxmlformats.org/officeDocument/2006/relationships/notesSlide" Target="/ppt/notesSlides/notesSlide5.xml" Id="R16e6c4d5696d4b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7500c4e3ea4386" /><Relationship Type="http://schemas.openxmlformats.org/officeDocument/2006/relationships/notesSlide" Target="/ppt/notesSlides/notesSlide6.xml" Id="Rf6d78166294345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91568e30e3489c" /><Relationship Type="http://schemas.openxmlformats.org/officeDocument/2006/relationships/notesSlide" Target="/ppt/notesSlides/notesSlide7.xml" Id="Ra3aa277ebc0e47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1e07d4f9c84593" /><Relationship Type="http://schemas.openxmlformats.org/officeDocument/2006/relationships/notesSlide" Target="/ppt/notesSlides/notesSlide8.xml" Id="R8fb964f9c6c647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38e0a8bba646ce" /><Relationship Type="http://schemas.openxmlformats.org/officeDocument/2006/relationships/image" Target="/ppt/media/image5.png" Id="R87709055af034292" /><Relationship Type="http://schemas.openxmlformats.org/officeDocument/2006/relationships/notesSlide" Target="/ppt/notesSlides/notesSlide9.xml" Id="Rafd55d5d39ec43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debca205554744" /><Relationship Type="http://schemas.openxmlformats.org/officeDocument/2006/relationships/image" Target="/ppt/media/image6.png" Id="Re024a38487094bfe" /><Relationship Type="http://schemas.openxmlformats.org/officeDocument/2006/relationships/notesSlide" Target="/ppt/notesSlides/notesSlide10.xml" Id="Rfb485bce5e1f44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2fc91f7fec4d6c" /><Relationship Type="http://schemas.openxmlformats.org/officeDocument/2006/relationships/notesSlide" Target="/ppt/notesSlides/notesSlide11.xml" Id="Radf1a82b3ef94a8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F69E17-D168-410A-BF37-CF1415AA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E5BD6E-06C0-4351-A2A4-38F1ECD2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78438-DA76-4B51-8BA1-87433AF2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NARRATIF DE SOUTENANCE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47816-30A3-4A07-8119-B3502494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90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Prédire le danger avant</a:t>
            </a:r>
          </a:p>
          <a:p xmlns:a="http://schemas.openxmlformats.org/drawingml/2006/main">
            <a:pPr algn="l">
              <a:defRPr sz="37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l'entrée physique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C8CD0-0604-4797-817E-1DF2815F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581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Un prototype de sécurité à caméra fixe qui transforme la vidéo en signaux causaux pose-zone pour l'alerte et l'arrêt court horizon.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E2334-A9CE-48E1-8423-FC4F3F60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409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El Fahime Mohamed Zayd</a:t>
            </a:r>
          </a:p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Bensaid Ilyas</a:t>
            </a:r>
          </a:p>
          <a:p xmlns:a="http://schemas.openxmlformats.org/drawingml/2006/main">
            <a:pPr algn="l">
              <a:defRPr sz="13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Supervised by: Prof. Tawfik Masrour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47af6ca4d54b6b"/>
          <a:srcRect xmlns:a="http://schemas.openxmlformats.org/drawingml/2006/main" l="0" t="9149" r="0" b="91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72300" y="685800"/>
            <a:ext cx="4476750" cy="2743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398C0-7BE6-4B09-B07B-74C622BA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242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FC15C-3D5B-4EBC-8CB9-B7FFFF32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290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rPr>
              <a:t>72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F89EE-9E07-443C-9F26-7B9F9A6F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815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vidéos parentes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E4809E-7633-4624-9E23-BA2D2F3A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290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23A4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23A48"/>
                </a:solidFill>
                <a:latin typeface="Aptos Display"/>
                <a:ea typeface="Aptos Display"/>
                <a:cs typeface="Aptos Display"/>
              </a:rPr>
              <a:t>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CFB25-CA6D-44B6-9E9B-26C02932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815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entrées physiques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FD8B2-C6A9-4ECD-986B-31FC3F8E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290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7D5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F7D5C"/>
                </a:solidFill>
                <a:latin typeface="Aptos Display"/>
                <a:ea typeface="Aptos Display"/>
                <a:cs typeface="Aptos Display"/>
              </a:rPr>
              <a:t>0.903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6AD45-CEA7-4004-92EF-1D1C067F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815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P(entrée &lt;= 0,3 s) au point strict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F5CF0-CDD4-40FD-A456-DF2B4952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Rythme: problème -&gt; annotation -&gt; variables -&gt; modèles -&gt; évaluation -&gt; résultats -&gt; limites de déploiement</a:t>
            </a:r>
          </a:p>
        </p:txBody>
      </p:sp>
    </p:spTree>
    <p:extLst>
      <p:ext uri="{BB962C8B-B14F-4D97-AF65-F5344CB8AC3E}">
        <p14:creationId xmlns:p14="http://schemas.microsoft.com/office/powerpoint/2010/main" val="1384249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6DEC21-237C-46DC-A84D-FA2E740B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612A0-109D-42EF-89FF-C840AE0E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Soutenance s�curit� machine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794EE-DC5C-4F77-9C27-678BDA39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3C6B8-347F-4043-9CCF-DEAA7FB8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3C301-52DF-47B5-B89B-75CAA17A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CIBLE OP�RATIONNELLE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E2E32-351D-4762-9190-979C8AC4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561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Le syst�me est utile seulement s'il gagne du temps avant l'entr�e.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e15ac566e4276"/>
          <a:stretch xmlns:a="http://schemas.openxmlformats.org/drawingml/2006/main"/>
        </p:blipFill>
        <p:spPr>
          <a:xfrm xmlns:a="http://schemas.openxmlformats.org/drawingml/2006/main">
            <a:off x="6572250" y="1168003"/>
            <a:ext cx="4476750" cy="235029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42970-C5E4-4AA5-BC16-4327EE44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76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19050">
            <a:solidFill>
              <a:srgbClr val="D990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69BF3-3358-4D6B-A7DF-DFB393C5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FA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9FAFB"/>
                </a:solidFill>
                <a:latin typeface="Aptos"/>
                <a:ea typeface="Aptos"/>
                <a:cs typeface="Aptos"/>
              </a:rPr>
              <a:t>Alerte op�rateur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803DD-7D53-4174-B5C4-CC77DDBB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098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TCN risk_present_now, plus pr�coce et plus tol�rante aux faux positifs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25C5C2-8A4B-4143-BF77-91A7C294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476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19050">
            <a:solidFill>
              <a:srgbClr val="2F7D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6BB7E6-DBC4-47BE-851D-F3B0B4B2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FA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9FAFB"/>
                </a:solidFill>
                <a:latin typeface="Aptos"/>
                <a:ea typeface="Aptos"/>
                <a:cs typeface="Aptos"/>
              </a:rPr>
              <a:t>Entr�e physique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10083-0030-45C5-8565-A445EE60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480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�v�nement objectif mesur� sur la zone dangereuse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32F88B-9FDC-4FD5-B422-AB2B18FD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476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19050">
            <a:solidFill>
              <a:srgbClr val="B23A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BF3DEB-1008-43AF-8A26-C8880CC0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FA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9FAFB"/>
                </a:solidFill>
                <a:latin typeface="Aptos"/>
                <a:ea typeface="Aptos"/>
                <a:cs typeface="Aptos"/>
              </a:rPr>
              <a:t>Arr�t auto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86E6AD-1A16-4E46-A2C1-63B5648F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862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GRU exact-entry, court horizon et confiance �lev�e seulement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F9F5B5-A005-454C-ACCD-44505C26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447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BC059F-E66D-41AF-B914-90A4DEC8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48150"/>
            <a:ext cx="4133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9FA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9FAFB"/>
                </a:solidFill>
                <a:latin typeface="Aptos"/>
                <a:ea typeface="Aptos"/>
                <a:cs typeface="Aptos"/>
              </a:rPr>
              <a:t>Le TCN sert l'alerte op�rateur continue. Le GRU exact-entry sert l'imminence d'arr�t quand l'entr�e physique devient cr�dible � 0,2-0,3 s.</a:t>
            </a:r>
          </a:p>
        </p:txBody>
      </p:sp>
    </p:spTree>
    <p:extLst>
      <p:ext uri="{BB962C8B-B14F-4D97-AF65-F5344CB8AC3E}">
        <p14:creationId xmlns:p14="http://schemas.microsoft.com/office/powerpoint/2010/main" val="17987743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89D4CE-306C-4781-8283-E8B9EE79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9C919-951B-400F-B413-91F7E236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Soutenance s�curit� machine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A7585-1E81-44F9-816A-2CE655EE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941E9-4A61-46E5-82FB-8B17B193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B8936-AFC5-4AF2-8DE6-26D7DB0D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23A4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23A48"/>
                </a:solidFill>
                <a:latin typeface="Aptos"/>
                <a:ea typeface="Aptos"/>
                <a:cs typeface="Aptos"/>
              </a:rPr>
              <a:t>R�ALIT� DU 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F4AE5-9623-4087-A3BA-BE8154B4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Le dataset est petit, mais centr� sur l'�v�nement rare � apprendre.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b545c721348ce"/>
          <a:stretch xmlns:a="http://schemas.openxmlformats.org/drawingml/2006/main"/>
        </p:blipFill>
        <p:spPr>
          <a:xfrm xmlns:a="http://schemas.openxmlformats.org/drawingml/2006/main">
            <a:off x="800100" y="2209800"/>
            <a:ext cx="5334000" cy="21336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63738-067A-4C2D-9245-198A62EE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09750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D1937-FDE5-4B3C-AFE3-167ABC29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431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rPr>
              <a:t>4 100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265C2-6D27-4F66-B101-3B33D0B6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955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fen�tres sans danger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B0A0E-424D-4E67-B4C8-0416EFD2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19425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23A4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23A48"/>
                </a:solidFill>
                <a:latin typeface="Aptos Display"/>
                <a:ea typeface="Aptos Display"/>
                <a:cs typeface="Aptos Display"/>
              </a:rPr>
              <a:t>864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588819-B7D4-4BE0-B376-333ABD6C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71875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fen�tres d'entr�e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F93E8-34B1-4FA9-B47E-BFA06FB4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957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7D5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F7D5C"/>
                </a:solidFill>
                <a:latin typeface="Aptos Display"/>
                <a:ea typeface="Aptos Display"/>
                <a:cs typeface="Aptos Display"/>
              </a:rPr>
              <a:t>388 / 4 576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DBD9A7-81B1-4730-B9E4-305CA7BA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482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positif vs n�gatif pour la cible 1,0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B6CC3-0692-4E09-8588-E71CE0F7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Point cl�: le graphique de gauche compte les �pisodes vid�o, pas tout le temps d'entra�nement. Au niveau des fen�tres, le temps sans danger est beaucoup plus grand.</a:t>
            </a:r>
          </a:p>
        </p:txBody>
      </p:sp>
    </p:spTree>
    <p:extLst>
      <p:ext uri="{BB962C8B-B14F-4D97-AF65-F5344CB8AC3E}">
        <p14:creationId xmlns:p14="http://schemas.microsoft.com/office/powerpoint/2010/main" val="175759555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83B76F-3A5D-49BC-90A6-B6761587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E2730-8CEF-4A71-B616-D2DDFCF3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Soutenance s�curit� machine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9FFFC-0915-479B-B8FC-7174DB8D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E8248-BA57-4EDC-8BAD-228080AC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D624B-1DA4-4A8B-A44F-EE9EF181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9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01F"/>
                </a:solidFill>
                <a:latin typeface="Aptos"/>
                <a:ea typeface="Aptos"/>
                <a:cs typeface="Aptos"/>
              </a:rPr>
              <a:t>ANNOTATION COMME M�THODE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45F75-14F4-44F0-A8BF-0E952579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Nous avons cr�� l'outil d'annotation car la cible est temporelle.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a10e353ef4365"/>
          <a:stretch xmlns:a="http://schemas.openxmlformats.org/drawingml/2006/main"/>
        </p:blipFill>
        <p:spPr>
          <a:xfrm xmlns:a="http://schemas.openxmlformats.org/drawingml/2006/main">
            <a:off x="766699" y="1733550"/>
            <a:ext cx="6372352" cy="3733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E2785-A7EF-4ADD-B2FE-1F596A45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47850"/>
            <a:ext cx="3333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90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DD8BE-962D-4DCD-A7BB-E1DF4A7C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81200"/>
            <a:ext cx="29908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Ce qu'il enregistre: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 polygone 2D fixe de danger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 marqueurs risque et entr�e physique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 segments attention / blouse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 revue image par image et correction timeline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F4FC2C-9BDF-40AF-8020-A71123BD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67200"/>
            <a:ext cx="3333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FCB29-1188-402F-9238-1B0D9BA3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00550"/>
            <a:ext cx="2990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Pourquoi c'est important: l'entr�e physique reste la cible objective; le d�but du risque devient le rep�re humain d'anticipation attendue.</a:t>
            </a:r>
          </a:p>
        </p:txBody>
      </p:sp>
    </p:spTree>
    <p:extLst>
      <p:ext uri="{BB962C8B-B14F-4D97-AF65-F5344CB8AC3E}">
        <p14:creationId xmlns:p14="http://schemas.microsoft.com/office/powerpoint/2010/main" val="17821982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EF85A2-B365-4E5B-AABB-90159452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890FC-2786-4CE7-9706-6F62DD6E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Soutenance s�curit� machine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3B114-CF27-4438-918C-D21A4268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75B8F-364E-4A80-B9B7-032FD08B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4B0BC-8AB6-41FF-84EA-E8572ECD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ING�NIERIE DES VARIABLES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DC6EC-72E2-40D9-984B-667B295E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Le mod�le ne voit pas d'abord les pixels bruts; il voit des signaux pose-zone causaux.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89b8e93bd40a9"/>
          <a:stretch xmlns:a="http://schemas.openxmlformats.org/drawingml/2006/main"/>
        </p:blipFill>
        <p:spPr>
          <a:xfrm xmlns:a="http://schemas.openxmlformats.org/drawingml/2006/main">
            <a:off x="859325" y="1695450"/>
            <a:ext cx="6739549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AC55A-2A14-4370-9F8B-1746DFBD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143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91C5AC-60E5-455F-82A1-BA8807C0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28003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Entr�e structur�e: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 poignets, coudes, t�te, torse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 confiance de pose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 distance au polygone danger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 indicateurs dedans/dehors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 vitesse et acc�l�ration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3021C-CEE0-4CD7-96F9-AB2B94FC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Cela force le mod�le � apprendre le mouvement vers la zone dangereuse, pas l'identit� de l'acteur ni la texture du fond.</a:t>
            </a:r>
          </a:p>
        </p:txBody>
      </p:sp>
    </p:spTree>
    <p:extLst>
      <p:ext uri="{BB962C8B-B14F-4D97-AF65-F5344CB8AC3E}">
        <p14:creationId xmlns:p14="http://schemas.microsoft.com/office/powerpoint/2010/main" val="18713566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68C41D-5481-4242-BEBE-F5AC5EA6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47B7F-4E25-49B7-8A00-A41DE68A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Soutenance sécurité machine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DB0EF-22AC-4F39-827D-9E8BA06E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15560-2BB5-4DE7-AA8E-3E04E9B4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FB48F-7323-4192-A848-4A408A0B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7317F-65F7-403B-A382-9A8E6783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Le pipeline final confie l'alerte au TCN et l'imminence d'arrêt au GRU.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5B4B9-F986-4A05-83CC-7DE04362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4762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7D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3B962-4687-4470-AAB2-0882DA2B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526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TCN warning / risk_present_now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C4863-E6C8-40E1-85D3-67327AC4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67000"/>
            <a:ext cx="4000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Entrée 60 x 54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Conv1d 54 -&gt; 96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4 blocs TCN résiduels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Dilatations 1,2,4,8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Moyenne + dernier pas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MLP 192 -&gt; 96 -&gt; 1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Sortie unique: risk_present_now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723D5-CD1F-4C02-AAC0-707E9BE4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4762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23A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A75C9-2C41-4A6A-A20B-61FDDF4A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23A4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23A48"/>
                </a:solidFill>
                <a:latin typeface="Aptos"/>
                <a:ea typeface="Aptos"/>
                <a:cs typeface="Aptos"/>
              </a:rPr>
              <a:t>GRU exact-entry / score_by_02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25454-CECF-4661-9B68-1C29162A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4000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Entrée 30 x 54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GRU 2 couches, hidden 96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Dropout 0,20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MLP sur dernière sortie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Score: score_by_02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Lecture stop à 0,2 s et 0,3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46519-A939-4FD2-9E5E-FFC0D274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Les deux modèles lisent les mêmes features causales et interviennent à deux niveaux de la décision de sécurité.</a:t>
            </a:r>
          </a:p>
        </p:txBody>
      </p:sp>
    </p:spTree>
    <p:extLst>
      <p:ext uri="{BB962C8B-B14F-4D97-AF65-F5344CB8AC3E}">
        <p14:creationId xmlns:p14="http://schemas.microsoft.com/office/powerpoint/2010/main" val="6584292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5642A6-42AB-4363-B57D-E8531B12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EF6C7-335D-4E99-8D3A-E8946922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Petit dataset: splits r�p�t�s par vid�o parente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2B439-4A69-4176-BBEA-D0113BE2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68407-EBC7-4EA5-8FED-4122B327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0502C-5E55-4B07-99D3-72DC2214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ROBUSTESSE DE L'�VALUATION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8679B-5310-48ED-890E-D4176632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00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Les splits r�p�t�s �vitent de raconter un split chanceux.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74B16-8512-4873-879E-AB3A0FAD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52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9C530-ABA3-464D-B738-7E3EDAD3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431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Graine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12965-1E95-4B0F-B237-81DF9C2B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47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A21DC0-D3CD-4B04-9B6B-AB8027E8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124200"/>
            <a:ext cx="47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31157B-DEE9-4B3C-AA89-FD3BFB2E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124200"/>
            <a:ext cx="47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31FE24-1A7E-45A5-A768-9D26B20C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appr.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81ECC-C930-4B20-BC02-EFA3AC0B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905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077409-B8D3-42F8-AE64-954876BE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05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AB60B2-802E-4DD2-9E61-E2192FB0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152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315E7-164E-4081-A23F-90AFF391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431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Graine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C59BBA-6B67-4076-8589-658F9616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24200"/>
            <a:ext cx="47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3AE23-31B6-4367-A72D-7677EB9D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24200"/>
            <a:ext cx="47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A47E9F-85F6-4220-82BA-8130B812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24200"/>
            <a:ext cx="47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2F908F-2556-424D-B69C-9E61E3FA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05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appr.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26C698-D441-422E-85D5-BE8FABAB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905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CC45BD-47B8-4DCD-8066-3D1920D0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05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D94A86-7F24-408C-80BC-3BAB316F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95500"/>
            <a:ext cx="152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B7645E-EAF3-44B5-8705-DAF56219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431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Graine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DE84D1-DB65-48C2-AB34-17198B07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24200"/>
            <a:ext cx="47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A6F4AC-7A01-4F14-9EEF-C76B8C0A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124200"/>
            <a:ext cx="47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F03356-3CAE-4F55-8DAB-E173487F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24200"/>
            <a:ext cx="47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9FCAEE-E372-4DF9-94D3-E3D1BBC4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905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appr.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2A99F0-B7CC-4F3B-A961-3D27DFA0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905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val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8E5286-87EF-4D58-A227-9F7C00FB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05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861568-5D0D-4ECB-B8DA-964501BB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95500"/>
            <a:ext cx="152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AD9931-751A-48AA-AED4-47C11E64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Graine 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146A30-B29B-491F-AEC4-4E2A56B1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24200"/>
            <a:ext cx="47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E208D2-F1DA-474A-A37C-B8445873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124200"/>
            <a:ext cx="47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0288AD-30CD-4C6E-9ABB-E6A7D64B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24200"/>
            <a:ext cx="47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C92124-B917-4271-903B-7886B3CE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05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appr.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B86FEE-A5B3-4596-A3C1-3C5FBE47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905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val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9B19FF-25B4-4B1D-8C4A-943AA464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05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B66F72-D6EF-4D9F-A5C2-16287F83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4476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DE5677-D58E-4F2E-8B6D-392E1E40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81550"/>
            <a:ext cx="4133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R�gle: chaque split est fait par vid�o parente, donc les fen�tres voisines d'une m�me vid�o ne fuient pas entre train et test.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270424-051B-4BD8-8741-E2372481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48200"/>
            <a:ext cx="4762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901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26A160-81F7-4975-B087-592663D3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81550"/>
            <a:ext cx="4419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Interpr�tation: les graines r�p�t�es ne remplacent pas un grand dataset, mais elles r�duisent la d�pendance � une seule s�paration favorable ou d�favorable.</a:t>
            </a:r>
          </a:p>
        </p:txBody>
      </p:sp>
    </p:spTree>
    <p:extLst>
      <p:ext uri="{BB962C8B-B14F-4D97-AF65-F5344CB8AC3E}">
        <p14:creationId xmlns:p14="http://schemas.microsoft.com/office/powerpoint/2010/main" val="14838198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5F7631-CCD6-4A65-A650-35AD700C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1CAEA-CDE4-4FFF-A600-55B88405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Résultats: compromis d'alerte TCN et compromis de stop GRU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23766-B0B9-4EBD-8851-1F5B9700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335E2-9D59-4324-898C-DC3E5F56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8F7F4-F0F6-4760-8B2A-42140C11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RÉSULTAT PRINCIPAL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6B68F-E91A-4F40-A1F4-E70F2E36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Alerte opérateur et stop court horizon se lisent avec des métriques différentes.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DE2B6-123A-4B8D-96FF-19C3DE80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D27DE-87EE-40F5-A140-232E9F18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Alerte opérateur TCN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2E99C-EF64-4784-8E0C-08931EB6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096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718096"/>
                </a:solidFill>
                <a:latin typeface="Aptos Mono"/>
                <a:ea typeface="Aptos Mono"/>
                <a:cs typeface="Aptos Mono"/>
              </a:rPr>
              <a:t>Sortie unique: risk_present_now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B2E931-C24C-4059-A215-599AB9F8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Seuil 0,55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695E3-271A-4DD5-82C1-43BB73C4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Early 0,2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7C79F-D4AD-438B-9680-A81729A4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0.850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93D35-568E-4800-BF41-FA5E9AFE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242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Early 0,3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F0397-ACF0-435A-B37F-20EF1581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337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0.642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BAF93-0313-4E6B-B79F-91AE4F6C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242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Précision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B3D117-CD83-420E-BFC7-9A49414F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0.859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54BC8D-25AD-4FEA-9D10-FA17D74B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242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FA/min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FE5B12-200D-4EBD-9CA4-300A632E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337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1.574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6240F9-6CA9-44D2-B532-DCBE69FC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4495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Seuil 0,35 plus agressif: Early 0,3 = 0.683, mais précision = 0.661 et FA/min = 6.015.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754914-8E32-4669-AD0F-6AB233E7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449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F8EE58-B6A1-4B71-8A16-06BDE531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415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Pour l'alerte opérateur, le seuil 0,55 garde une avance utile à 0,2-0,3 s tout en limitant le bruit continu.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E23981-F9F5-417F-8E97-27C50F5F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95450"/>
            <a:ext cx="52959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23A4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14D728-9B68-4239-A43D-192E3B0E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431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23A4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23A48"/>
                </a:solidFill>
                <a:latin typeface="Aptos"/>
                <a:ea typeface="Aptos"/>
                <a:cs typeface="Aptos"/>
              </a:rPr>
              <a:t>Stop court horizon GRU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05783C-B2B9-4037-A1DF-BFBC26BE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8096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718096"/>
                </a:solidFill>
                <a:latin typeface="Aptos Mono"/>
                <a:ea typeface="Aptos Mono"/>
                <a:cs typeface="Aptos Mono"/>
              </a:rPr>
              <a:t>Score: score_by_02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6C6E9C-A1DB-4701-BC21-48C4D6FB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Seuil 0,95 strict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9C349A-49E9-4BC4-B0AE-CF6989D0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242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P(&lt;=0,2 s)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4FEEA1-BBA6-4600-8681-73714970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337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23A4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23A48"/>
                </a:solidFill>
                <a:latin typeface="Aptos"/>
                <a:ea typeface="Aptos"/>
                <a:cs typeface="Aptos"/>
              </a:rPr>
              <a:t>0.708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EAEF99-AED4-465B-AE7B-CDB9B012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242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P(&lt;=0,3 s)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63CFD6-EFE4-4F3A-9B84-77FFE1C4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337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23A4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23A48"/>
                </a:solidFill>
                <a:latin typeface="Aptos"/>
                <a:ea typeface="Aptos"/>
                <a:cs typeface="Aptos"/>
              </a:rPr>
              <a:t>0.903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4E1662-B366-416C-8404-CC35435F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242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Temps moyen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668D43-4596-4E28-859E-1563710B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337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23A4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23A48"/>
                </a:solidFill>
                <a:latin typeface="Aptos"/>
                <a:ea typeface="Aptos"/>
                <a:cs typeface="Aptos"/>
              </a:rPr>
              <a:t>0.133 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8A2894-C538-4839-A206-58564D8E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00500"/>
            <a:ext cx="4648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Seuil 0,90 plus couvrant: P(&lt;=0,2 s) = 0.502, P(&lt;=0,3 s) = 0.741, temps moyen = 0.221 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A4B244-EC1B-4BD0-A845-2F00E26F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62500"/>
            <a:ext cx="4648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7EA"/>
          </a:solidFill>
          <a:ln xmlns:a="http://schemas.openxmlformats.org/drawingml/2006/main" w="9525">
            <a:solidFill>
              <a:srgbClr val="B23A4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75BC0D-DD84-422D-9052-9E38971E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95850"/>
            <a:ext cx="430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Pour le stop, le seuil 0,95 reste le point le plus crédible quand l'on veut agir seulement à l'approche immédiate de l'entrée.</a:t>
            </a:r>
          </a:p>
        </p:txBody>
      </p:sp>
    </p:spTree>
    <p:extLst>
      <p:ext uri="{BB962C8B-B14F-4D97-AF65-F5344CB8AC3E}">
        <p14:creationId xmlns:p14="http://schemas.microsoft.com/office/powerpoint/2010/main" val="10333059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BD5157-21C7-47A4-9C7F-6676680F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935A2-954B-4D46-B4A4-7E1C613C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Artefact � montrer: attention_blouse_examples.png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1313D-187D-4193-A0E3-5F135786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33E77-54A4-4ACD-806B-32F108F5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AE431-B991-4F04-91D5-E01E6127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9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01F"/>
                </a:solidFill>
                <a:latin typeface="Aptos"/>
                <a:ea typeface="Aptos"/>
                <a:cs typeface="Aptos"/>
              </a:rPr>
              <a:t>COUCHE DE POLITIQUE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F18B0-285E-473D-850F-5CF41D1A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Attention et blouse modifient la sensibilit� d'alerte, pas le danger physique.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09055af034292"/>
          <a:stretch xmlns:a="http://schemas.openxmlformats.org/drawingml/2006/main"/>
        </p:blipFill>
        <p:spPr>
          <a:xfrm xmlns:a="http://schemas.openxmlformats.org/drawingml/2006/main">
            <a:off x="1619691" y="1695450"/>
            <a:ext cx="3599569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D58E2-16E5-462E-BCF1-FA44EE92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90700"/>
            <a:ext cx="4000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90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D3542-D95F-4451-A005-D3E42032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24050"/>
            <a:ext cx="3657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 = score de danger physique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 = risque attention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 = risque blouse/PPE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S_full = 1 - (1-D)(1-0.30A)(1-0.25P)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D7C03-07D1-48B9-9DDD-F106DBC6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90950"/>
            <a:ext cx="3733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C'est un choix de politique: si le risque physique est d�j� non nul, une attention distraite ou une blouse non conforme peut baisser le seuil d'alerte.</a:t>
            </a:r>
          </a:p>
        </p:txBody>
      </p:sp>
    </p:spTree>
    <p:extLst>
      <p:ext uri="{BB962C8B-B14F-4D97-AF65-F5344CB8AC3E}">
        <p14:creationId xmlns:p14="http://schemas.microsoft.com/office/powerpoint/2010/main" val="208968324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3C2EB8-E539-4FF5-9141-EBE011E2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A8B35-5975-40DA-B4DD-D863FD84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Artefact � montrer: timing_budget.png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59F0B-794D-481E-81BA-A057A75B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77232-7A2A-44B5-848B-A2E07B72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77A53-2586-42A8-9DED-3224D7EB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23A4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23A48"/>
                </a:solidFill>
                <a:latin typeface="Aptos"/>
                <a:ea typeface="Aptos"/>
                <a:cs typeface="Aptos"/>
              </a:rPr>
              <a:t>PRUDENCE D�PLOIEMENT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07563-3CFF-4F2F-8298-FEF4FD89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Le prototype reste 2D et doit encore prouver toute la cha�ne d'arr�t.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4a38487094bfe"/>
          <a:stretch xmlns:a="http://schemas.openxmlformats.org/drawingml/2006/main"/>
        </p:blipFill>
        <p:spPr>
          <a:xfrm xmlns:a="http://schemas.openxmlformats.org/drawingml/2006/main">
            <a:off x="6667500" y="1683544"/>
            <a:ext cx="4762500" cy="250031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10492-611A-4A00-97D4-EEC40CEF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23A4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191F9-D1B2-4D25-9CBC-D8C29416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23A4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23A48"/>
                </a:solidFill>
                <a:latin typeface="Aptos"/>
                <a:ea typeface="Aptos"/>
                <a:cs typeface="Aptos"/>
              </a:rPr>
              <a:t>Pourquoi le prototype reste limit�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7F83A-228F-49AB-B9E5-01811539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4000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Zone dangereuse projet�e en 2D</a:t>
            </a:r>
          </a:p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Cam�ra et machine fixes</a:t>
            </a:r>
          </a:p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Deux acteurs seulement</a:t>
            </a:r>
          </a:p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Pas encore de mesure compl�te cam�ra -&gt; arr�t m�canique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97B62-368E-485A-8848-57115E1E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10591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7EA"/>
          </a:solidFill>
          <a:ln xmlns:a="http://schemas.openxmlformats.org/drawingml/2006/main" w="9525">
            <a:solidFill>
              <a:srgbClr val="B23A4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DA9061-1809-4D39-96B0-50C69A93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10248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La projection 2D est acceptable pour ce prototype � cam�ra fixe. Pour un d�ploiement, il faudra une validation 3D plus robuste, avec multi-angle ou profondeur, plus une mesure compl�te de la latence jusqu'� l'action m�canique.</a:t>
            </a:r>
          </a:p>
        </p:txBody>
      </p:sp>
    </p:spTree>
    <p:extLst>
      <p:ext uri="{BB962C8B-B14F-4D97-AF65-F5344CB8AC3E}">
        <p14:creationId xmlns:p14="http://schemas.microsoft.com/office/powerpoint/2010/main" val="148202680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D19B0F-0863-46A9-B095-DBC392CD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02FAB-E8B2-469A-B0BA-1EEBFF37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Conclure par les gains, puis les perspectives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1C107-FD66-4769-8AA1-E5515B7E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EA227-F304-436B-B6DD-467AFF52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7D879-D6EA-4D3A-A383-C73CF141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FB82B-C8B6-41D3-BA2A-46C127B2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Le gain: une cha�ne causale compl�te, pas seulement un classifieur.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4EBBE-C113-434C-9BC5-4DA0A34E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4857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8F5A6-06CF-45EF-9C98-BD896040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574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9FA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9FAFB"/>
                </a:solidFill>
                <a:latin typeface="Aptos"/>
                <a:ea typeface="Aptos"/>
                <a:cs typeface="Aptos"/>
              </a:rPr>
              <a:t>Ce qui marche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D01B86-4C5D-4BEC-82B9-12C653DA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8D2C1-77B4-4F67-8DC5-DE2C9219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Annotation d�di�e: entr�e physique et d�but du risque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2D2CD-5C0D-4A84-9975-A0D4722B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49E2F-3886-4BA0-A371-23CD045E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Variables pose-zone avec fen�tres causales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0478A-1A94-410F-9D6E-30451584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CCACD-9F4A-4952-9D3A-5F324DF7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Signal TCN d'alerte continue et GRU de stop imminent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1120E2-8F60-461D-9347-DB58E1DE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0571F-C9B1-4398-9264-519B69FA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Politique d'alerte avec attention et blouse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49359-F13B-4D8A-9544-137A4078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90700"/>
            <a:ext cx="4857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2A97B2-160B-48BC-B6D7-3F51F24A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574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9FA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9FAFB"/>
                </a:solidFill>
                <a:latin typeface="Aptos"/>
                <a:ea typeface="Aptos"/>
                <a:cs typeface="Aptos"/>
              </a:rPr>
              <a:t>Prochaines �tapes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9B960A-C153-4E07-ADAC-BAB68C33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051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5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BE6285-C4BA-4AE0-8867-4CACC943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Plus d'acteurs, vrais n�gatifs, machines et angles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F2A6A0-8CD8-4F53-BEB0-5278E65C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5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7BDE0C-7EBA-4E31-B108-50DBC6A9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432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Multi-angle ou profondeur pour valider le volume 3D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C4E881-57D4-4260-BC61-4C55C83E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338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5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08C2AB-BFCF-4EC7-80B5-42E85E1F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576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Latence compl�te: cam�ra jusqu'� m�canique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1BFD9C-F120-4A36-A87B-E56BDFCA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5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F6A9A6-0798-450D-8A0E-B2C9DC9A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719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�valuation de s�ret� au-del� de la classification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2B60A8-4604-4201-9E73-FFCADE29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Phrase finale: c'est un prototype contr�l� avec un signal de s�curit� utile; la suite est de prouver la robustesse hors sc�nario.</a:t>
            </a:r>
          </a:p>
        </p:txBody>
      </p:sp>
    </p:spTree>
    <p:extLst>
      <p:ext uri="{BB962C8B-B14F-4D97-AF65-F5344CB8AC3E}">
        <p14:creationId xmlns:p14="http://schemas.microsoft.com/office/powerpoint/2010/main" val="5470374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2026-05-31T20:58:55.8180000Z</dcterms:created>
  <dcterms:modified xsi:type="dcterms:W3CDTF">2026-05-31T20:58:55.8180000Z</dcterms:modified>
</coreProperties>
</file>