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2da10e94a449be" /><Relationship Type="http://schemas.openxmlformats.org/officeDocument/2006/relationships/extended-properties" Target="/docProps/app.xml" Id="R8ec341cc91104863" /><Relationship Type="http://schemas.openxmlformats.org/officeDocument/2006/relationships/officeDocument" Target="/ppt/presentation.xml" Id="R2e0c28cd3be248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d541806da0491b"/>
  </p:sldMasterIdLst>
  <p:notesMasterIdLst>
    <p:notesMasterId xmlns:r="http://schemas.openxmlformats.org/officeDocument/2006/relationships" r:id="R2abbeb7854154a4b"/>
  </p:notesMasterIdLst>
  <p:sldIdLst>
    <p:sldId xmlns:r="http://schemas.openxmlformats.org/officeDocument/2006/relationships" id="256" r:id="R7bbd37ac73254c03"/>
    <p:sldId xmlns:r="http://schemas.openxmlformats.org/officeDocument/2006/relationships" id="257" r:id="Rb4e3d896eef64973"/>
    <p:sldId xmlns:r="http://schemas.openxmlformats.org/officeDocument/2006/relationships" id="258" r:id="R2f9c02acf24e41b5"/>
    <p:sldId xmlns:r="http://schemas.openxmlformats.org/officeDocument/2006/relationships" id="259" r:id="Re75b6900e64c4838"/>
    <p:sldId xmlns:r="http://schemas.openxmlformats.org/officeDocument/2006/relationships" id="260" r:id="R1ea907517e094441"/>
    <p:sldId xmlns:r="http://schemas.openxmlformats.org/officeDocument/2006/relationships" id="261" r:id="Rd182098c21a84f6a"/>
    <p:sldId xmlns:r="http://schemas.openxmlformats.org/officeDocument/2006/relationships" id="262" r:id="R4f01647bb70146d2"/>
    <p:sldId xmlns:r="http://schemas.openxmlformats.org/officeDocument/2006/relationships" id="263" r:id="R53a766eeef5c419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541806da0491b" /><Relationship Type="http://schemas.openxmlformats.org/officeDocument/2006/relationships/theme" Target="/ppt/theme/theme1.xml" Id="R75b5a40df4ad4c35" /><Relationship Type="http://schemas.openxmlformats.org/officeDocument/2006/relationships/notesMaster" Target="/ppt/notesMasters/notesMaster1.xml" Id="R2abbeb7854154a4b" /><Relationship Type="http://schemas.openxmlformats.org/officeDocument/2006/relationships/presProps" Target="/ppt/presProps.xml" Id="R44dc561127ba442d" /><Relationship Type="http://schemas.openxmlformats.org/officeDocument/2006/relationships/viewProps" Target="/ppt/viewProps.xml" Id="R354ce9bb39cb4612" /><Relationship Type="http://schemas.openxmlformats.org/officeDocument/2006/relationships/tableStyles" Target="/ppt/tableStyles.xml" Id="Rb306f93263e54a36" /><Relationship Type="http://schemas.openxmlformats.org/officeDocument/2006/relationships/slide" Target="/ppt/slides/slide1.xml" Id="R7bbd37ac73254c03" /><Relationship Type="http://schemas.openxmlformats.org/officeDocument/2006/relationships/slide" Target="/ppt/slides/slide2.xml" Id="Rb4e3d896eef64973" /><Relationship Type="http://schemas.openxmlformats.org/officeDocument/2006/relationships/slide" Target="/ppt/slides/slide3.xml" Id="R2f9c02acf24e41b5" /><Relationship Type="http://schemas.openxmlformats.org/officeDocument/2006/relationships/slide" Target="/ppt/slides/slide4.xml" Id="Re75b6900e64c4838" /><Relationship Type="http://schemas.openxmlformats.org/officeDocument/2006/relationships/slide" Target="/ppt/slides/slide5.xml" Id="R1ea907517e094441" /><Relationship Type="http://schemas.openxmlformats.org/officeDocument/2006/relationships/slide" Target="/ppt/slides/slide6.xml" Id="Rd182098c21a84f6a" /><Relationship Type="http://schemas.openxmlformats.org/officeDocument/2006/relationships/slide" Target="/ppt/slides/slide7.xml" Id="R4f01647bb70146d2" /><Relationship Type="http://schemas.openxmlformats.org/officeDocument/2006/relationships/slide" Target="/ppt/slides/slide8.xml" Id="R53a766eeef5c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ebf8a11e0924a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79cb06cea04723" /><Relationship Type="http://schemas.openxmlformats.org/officeDocument/2006/relationships/notesMaster" Target="/ppt/notesMasters/notesMaster1.xml" Id="Ra7f5928ebaa543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878c787ea2408c" /><Relationship Type="http://schemas.openxmlformats.org/officeDocument/2006/relationships/notesMaster" Target="/ppt/notesMasters/notesMaster1.xml" Id="Rdd55344d1bfb43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cc44607c9a4d38" /><Relationship Type="http://schemas.openxmlformats.org/officeDocument/2006/relationships/notesMaster" Target="/ppt/notesMasters/notesMaster1.xml" Id="R54bad6909ea74f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2398b341ea4e3e" /><Relationship Type="http://schemas.openxmlformats.org/officeDocument/2006/relationships/notesMaster" Target="/ppt/notesMasters/notesMaster1.xml" Id="Rcff9ffc135b048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534dc0b6f14dfd" /><Relationship Type="http://schemas.openxmlformats.org/officeDocument/2006/relationships/notesMaster" Target="/ppt/notesMasters/notesMaster1.xml" Id="R29cb73d96f0b4b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c308081dc54442" /><Relationship Type="http://schemas.openxmlformats.org/officeDocument/2006/relationships/notesMaster" Target="/ppt/notesMasters/notesMaster1.xml" Id="R3521f911eb694e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1e993a7df44162" /><Relationship Type="http://schemas.openxmlformats.org/officeDocument/2006/relationships/notesMaster" Target="/ppt/notesMasters/notesMaster1.xml" Id="R79a485e90cd041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a8e9b801494930" /><Relationship Type="http://schemas.openxmlformats.org/officeDocument/2006/relationships/notesMaster" Target="/ppt/notesMasters/notesMaster1.xml" Id="Rfe28a7f65fd140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e142c73d8483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c9f4ee2316f4938" /><Relationship Type="http://schemas.openxmlformats.org/officeDocument/2006/relationships/slideLayout" Target="/ppt/slideLayouts/slideLayout2.xml" Id="R41878e1c419342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878e1c4193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cf4b2916364c5e" /><Relationship Type="http://schemas.openxmlformats.org/officeDocument/2006/relationships/image" Target="/ppt/media/image.jpeg" Id="R4302eef6618d46de" /><Relationship Type="http://schemas.openxmlformats.org/officeDocument/2006/relationships/notesSlide" Target="/ppt/notesSlides/notesSlide1.xml" Id="R58d91bc4c63d49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629fc652fd49ec" /><Relationship Type="http://schemas.openxmlformats.org/officeDocument/2006/relationships/notesSlide" Target="/ppt/notesSlides/notesSlide2.xml" Id="Rd7620532499640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0ff9c1a00a4cd5" /><Relationship Type="http://schemas.openxmlformats.org/officeDocument/2006/relationships/image" Target="/ppt/media/image2.jpeg" Id="Re6d0a677931f44d7" /><Relationship Type="http://schemas.openxmlformats.org/officeDocument/2006/relationships/image" Target="/ppt/media/image3.jpeg" Id="Rfe14dd029a264ea6" /><Relationship Type="http://schemas.openxmlformats.org/officeDocument/2006/relationships/image" Target="/ppt/media/image4.jpeg" Id="R9727f079bb5d4e40" /><Relationship Type="http://schemas.openxmlformats.org/officeDocument/2006/relationships/notesSlide" Target="/ppt/notesSlides/notesSlide3.xml" Id="R5d67511c703746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09275710d443ea" /><Relationship Type="http://schemas.openxmlformats.org/officeDocument/2006/relationships/image" Target="/ppt/media/image5.jpeg" Id="Rfc03a133f4674b9b" /><Relationship Type="http://schemas.openxmlformats.org/officeDocument/2006/relationships/notesSlide" Target="/ppt/notesSlides/notesSlide4.xml" Id="R198afd2132d24d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aa96ed095a417a" /><Relationship Type="http://schemas.openxmlformats.org/officeDocument/2006/relationships/notesSlide" Target="/ppt/notesSlides/notesSlide5.xml" Id="Rad7dae20b7284c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641c7722454a1a" /><Relationship Type="http://schemas.openxmlformats.org/officeDocument/2006/relationships/notesSlide" Target="/ppt/notesSlides/notesSlide6.xml" Id="Rc55d1d951abc43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978f32dc0d453c" /><Relationship Type="http://schemas.openxmlformats.org/officeDocument/2006/relationships/image" Target="/ppt/media/image6.jpeg" Id="R57be935941f04f10" /><Relationship Type="http://schemas.openxmlformats.org/officeDocument/2006/relationships/notesSlide" Target="/ppt/notesSlides/notesSlide7.xml" Id="R653bda2dad594e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005241fdb5474a" /><Relationship Type="http://schemas.openxmlformats.org/officeDocument/2006/relationships/notesSlide" Target="/ppt/notesSlides/notesSlide8.xml" Id="Rdb5598385a9745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98707D-6016-4B2D-8BFA-7E924C4D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D5108-984D-471E-86E8-9ACA3FF2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81724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86000"/>
              </a:lnSpc>
              <a:buNone/>
              <a:defRPr sz="6450" b="1">
                <a:solidFill>
                  <a:srgbClr val="121826"/>
                </a:solidFill>
              </a:defRPr>
            </a:pPr>
            <a:r>
              <a:rPr sz="6450" b="1">
                <a:solidFill>
                  <a:srgbClr val="121826"/>
                </a:solidFill>
              </a:rPr>
              <a:t>POC IA sécurité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55EE7-B668-44A7-8365-0FE8CDC4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77343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>
                <a:solidFill>
                  <a:srgbClr val="5E6878"/>
                </a:solidFill>
              </a:defRPr>
            </a:pPr>
            <a:r>
              <a:rPr sz="2250">
                <a:solidFill>
                  <a:srgbClr val="5E6878"/>
                </a:solidFill>
              </a:rPr>
              <a:t>Collecte, labellisation et augmentation des données pour entraîner trois modèles, puis une couche de décision.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AAA8E-8C69-45EC-BFB7-7ECD550F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10600"/>
            <a:ext cx="3962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864FF"/>
                </a:solidFill>
              </a:defRPr>
            </a:pPr>
            <a:r>
              <a:rPr sz="4500" b="1">
                <a:solidFill>
                  <a:srgbClr val="1864FF"/>
                </a:solidFill>
              </a:rPr>
              <a:t>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922C9-4CCE-4E71-9341-51075637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53550"/>
            <a:ext cx="396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878"/>
                </a:solidFill>
              </a:defRPr>
            </a:pPr>
            <a:r>
              <a:rPr sz="1575">
                <a:solidFill>
                  <a:srgbClr val="5E6878"/>
                </a:solidFill>
              </a:rPr>
              <a:t>vidéos actuelles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FB022-87B5-4E99-94D5-903D1334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610600"/>
            <a:ext cx="3962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68A5B"/>
                </a:solidFill>
              </a:defRPr>
            </a:pPr>
            <a:r>
              <a:rPr sz="4500" b="1">
                <a:solidFill>
                  <a:srgbClr val="168A5B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D25B6-9F93-4FC0-9AFE-65F53381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353550"/>
            <a:ext cx="396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878"/>
                </a:solidFill>
              </a:defRPr>
            </a:pPr>
            <a:r>
              <a:rPr sz="1575">
                <a:solidFill>
                  <a:srgbClr val="5E6878"/>
                </a:solidFill>
              </a:rPr>
              <a:t>modèles POC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F23F5-674C-4AA5-A63F-56318CCB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9600"/>
            <a:ext cx="8172450" cy="9067800"/>
          </a:xfrm>
          <a:prstGeom xmlns:a="http://schemas.openxmlformats.org/drawingml/2006/main" prst="roundRect">
            <a:avLst>
              <a:gd name="adj" fmla="val 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2eef6618d46de"/>
          <a:srcRect xmlns:a="http://schemas.openxmlformats.org/drawingml/2006/main" l="5889" t="0" r="5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6450" y="876300"/>
            <a:ext cx="7562850" cy="4286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29C4A-12BD-487F-8BC1-605E361F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334000"/>
            <a:ext cx="7562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121826"/>
                </a:solidFill>
              </a:defRPr>
            </a:pPr>
            <a:r>
              <a:rPr sz="2025" b="1">
                <a:solidFill>
                  <a:srgbClr val="121826"/>
                </a:solidFill>
              </a:rPr>
              <a:t>Le risque principal: une main ou une partie du corps s’approche trop vite de la zone dangereuse.</a:t>
            </a:r>
          </a:p>
        </p:txBody>
      </p:sp>
    </p:spTree>
    <p:extLst>
      <p:ext uri="{BB962C8B-B14F-4D97-AF65-F5344CB8AC3E}">
        <p14:creationId xmlns:p14="http://schemas.microsoft.com/office/powerpoint/2010/main" val="17704102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A4CEEA-3174-48D2-BAF3-E620F5E8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C72EC-A6DE-4310-A818-43F1E397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21826"/>
                </a:solidFill>
              </a:defRPr>
            </a:pPr>
            <a:r>
              <a:rPr sz="4800" b="1">
                <a:solidFill>
                  <a:srgbClr val="121826"/>
                </a:solidFill>
              </a:rPr>
              <a:t>Ce qu’on a déjà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0ACBD-CAC0-4549-94B9-4364533C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248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>
                <a:solidFill>
                  <a:srgbClr val="5E6878"/>
                </a:solidFill>
              </a:defRPr>
            </a:pPr>
            <a:r>
              <a:rPr sz="2025">
                <a:solidFill>
                  <a:srgbClr val="5E6878"/>
                </a:solidFill>
              </a:rPr>
              <a:t>Le dataset existe déjà. La priorité est de le structurer par classes, événements et contexte sécurité.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955C2-2700-4700-90A7-8B9094B4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7415213" cy="7067550"/>
          </a:xfrm>
          <a:prstGeom xmlns:a="http://schemas.openxmlformats.org/drawingml/2006/main" prst="roundRect">
            <a:avLst>
              <a:gd name="adj" fmla="val 10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26FB4-5082-43EC-B1DC-9D89ACB7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3276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864FF"/>
                </a:solidFill>
              </a:defRPr>
            </a:pPr>
            <a:r>
              <a:rPr sz="4500" b="1">
                <a:solidFill>
                  <a:srgbClr val="1864FF"/>
                </a:solidFill>
              </a:rPr>
              <a:t>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AC911-D6EE-4AFB-84E9-AB5B2DF0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327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878"/>
                </a:solidFill>
              </a:defRPr>
            </a:pPr>
            <a:r>
              <a:rPr sz="1575">
                <a:solidFill>
                  <a:srgbClr val="5E6878"/>
                </a:solidFill>
              </a:rPr>
              <a:t>clips MP4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B9A9E-26D7-4639-BBD8-74AF50B1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3276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68A5B"/>
                </a:solidFill>
              </a:defRPr>
            </a:pPr>
            <a:r>
              <a:rPr sz="4500" b="1">
                <a:solidFill>
                  <a:srgbClr val="168A5B"/>
                </a:solidFill>
              </a:rPr>
              <a:t>10,4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36B60-82E7-4FF6-9D36-D49D6185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14700"/>
            <a:ext cx="327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878"/>
                </a:solidFill>
              </a:defRPr>
            </a:pPr>
            <a:r>
              <a:rPr sz="1575">
                <a:solidFill>
                  <a:srgbClr val="5E6878"/>
                </a:solidFill>
              </a:rPr>
              <a:t>vidéo brute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C7C2F-1352-4035-B2AC-59DEB1AE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3276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033"/>
                </a:solidFill>
              </a:defRPr>
            </a:pPr>
            <a:r>
              <a:rPr sz="4500" b="1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8E19E-8180-4CB2-8862-697C83B5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327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878"/>
                </a:solidFill>
              </a:defRPr>
            </a:pPr>
            <a:r>
              <a:rPr sz="1575">
                <a:solidFill>
                  <a:srgbClr val="5E6878"/>
                </a:solidFill>
              </a:rPr>
              <a:t>personnes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4D9C1-3A2A-473B-92E4-6D61804D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10000"/>
            <a:ext cx="3276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2A5B4"/>
                </a:solidFill>
              </a:defRPr>
            </a:pPr>
            <a:r>
              <a:rPr sz="4500" b="1">
                <a:solidFill>
                  <a:srgbClr val="12A5B4"/>
                </a:solidFill>
              </a:rPr>
              <a:t>30 FPS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C3475-F82A-43D7-9527-549CA60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327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878"/>
                </a:solidFill>
              </a:defRPr>
            </a:pPr>
            <a:r>
              <a:rPr sz="1575">
                <a:solidFill>
                  <a:srgbClr val="5E6878"/>
                </a:solidFill>
              </a:rPr>
              <a:t>toutes les vidéos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4DCCA-3B8A-4DEB-8D3F-BE09F6C0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6800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1">
                <a:solidFill>
                  <a:srgbClr val="D63F3A"/>
                </a:solidFill>
              </a:defRPr>
            </a:pPr>
            <a:r>
              <a:rPr sz="1800" b="1">
                <a:solidFill>
                  <a:srgbClr val="D63F3A"/>
                </a:solidFill>
              </a:rPr>
              <a:t>Important: les clips unsafe contiennent les vrais gestes dangereux, mais l’accident lui-même dure souvent environ 1 seconde ou moins.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57917-1AC6-44B7-A59B-945B74E1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305050"/>
            <a:ext cx="9063038" cy="7067550"/>
          </a:xfrm>
          <a:prstGeom xmlns:a="http://schemas.openxmlformats.org/drawingml/2006/main" prst="roundRect">
            <a:avLst>
              <a:gd name="adj" fmla="val 10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E33E9-5FB6-46F6-AB26-33E46594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8458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1826"/>
                </a:solidFill>
              </a:defRPr>
            </a:pPr>
            <a:r>
              <a:rPr sz="2700" b="1">
                <a:solidFill>
                  <a:srgbClr val="121826"/>
                </a:solidFill>
              </a:rPr>
              <a:t>Minutes par classe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B9F3D-207C-493F-BCA1-A63F1CE3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62300"/>
            <a:ext cx="645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826"/>
                </a:solidFill>
              </a:defRPr>
            </a:pPr>
            <a:r>
              <a:rPr sz="2100" b="1">
                <a:solidFill>
                  <a:srgbClr val="121826"/>
                </a:solidFill>
              </a:rPr>
              <a:t>safe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26EDF-0513-47F8-ADA0-B513911A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645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878"/>
                </a:solidFill>
              </a:defRPr>
            </a:pPr>
            <a:r>
              <a:rPr sz="1350">
                <a:solidFill>
                  <a:srgbClr val="5E6878"/>
                </a:solidFill>
              </a:rPr>
              <a:t>9 clips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97321-0BB8-40C2-B79B-E3E79E52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238500"/>
            <a:ext cx="2000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68A5B"/>
                </a:solidFill>
              </a:defRPr>
            </a:pPr>
            <a:r>
              <a:rPr sz="3900" b="1">
                <a:solidFill>
                  <a:srgbClr val="168A5B"/>
                </a:solidFill>
              </a:rPr>
              <a:t>6,37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4A5E8-E8ED-41A4-8A25-A851D1A6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845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C224F-A92D-4291-B2F3-70FC0611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609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B0066-CFD5-4E12-99C7-06A244CD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72000"/>
            <a:ext cx="645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826"/>
                </a:solidFill>
              </a:defRPr>
            </a:pPr>
            <a:r>
              <a:rPr sz="2100" b="1">
                <a:solidFill>
                  <a:srgbClr val="121826"/>
                </a:solidFill>
              </a:rPr>
              <a:t>unsafe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1B792-6ED0-4428-86A0-6A8CDB0F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14900"/>
            <a:ext cx="645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878"/>
                </a:solidFill>
              </a:defRPr>
            </a:pPr>
            <a:r>
              <a:rPr sz="1350">
                <a:solidFill>
                  <a:srgbClr val="5E6878"/>
                </a:solidFill>
              </a:rPr>
              <a:t>64 clips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E5DACA-DBC0-4F85-A883-876E24AB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4648200"/>
            <a:ext cx="2000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D63F3A"/>
                </a:solidFill>
              </a:defRPr>
            </a:pPr>
            <a:r>
              <a:rPr sz="3900" b="1">
                <a:solidFill>
                  <a:srgbClr val="D63F3A"/>
                </a:solidFill>
              </a:rPr>
              <a:t>4,00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5A7DFE-4A00-4009-9FC1-9858AF35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34000"/>
            <a:ext cx="845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B9041-3759-413E-A68A-F251CA56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34000"/>
            <a:ext cx="38385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F3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D4B7DD-199C-42B7-B9F7-260344DA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981700"/>
            <a:ext cx="8458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>
                <a:solidFill>
                  <a:srgbClr val="5E6878"/>
                </a:solidFill>
              </a:defRPr>
            </a:pPr>
            <a:r>
              <a:rPr sz="1725">
                <a:solidFill>
                  <a:srgbClr val="5E6878"/>
                </a:solidFill>
              </a:rPr>
              <a:t>Pour l’entraînement: on découpera les vidéos en fenêtres temporelles autour de event_start, pas seulement par fichier complet.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2F112-C6D4-4B54-946F-FEFAAD18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82150"/>
            <a:ext cx="16840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A8494"/>
                </a:solidFill>
              </a:defRPr>
            </a:pPr>
            <a:r>
              <a:rPr sz="1125">
                <a:solidFill>
                  <a:srgbClr val="7A8494"/>
                </a:solidFill>
              </a:rPr>
              <a:t>POC sécurité machine · version simple</a:t>
            </a:r>
          </a:p>
        </p:txBody>
      </p:sp>
    </p:spTree>
    <p:extLst>
      <p:ext uri="{BB962C8B-B14F-4D97-AF65-F5344CB8AC3E}">
        <p14:creationId xmlns:p14="http://schemas.microsoft.com/office/powerpoint/2010/main" val="7983221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93568A-B519-41B4-B09E-0F718034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6831D-0231-4DCE-8A36-46FFEA47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6840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21826"/>
                </a:solidFill>
              </a:defRPr>
            </a:pPr>
            <a:r>
              <a:rPr sz="4800" b="1">
                <a:solidFill>
                  <a:srgbClr val="121826"/>
                </a:solidFill>
              </a:rPr>
              <a:t>Exemples à labelliser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42B9C-C2EE-4813-A84F-98726D0D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115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>
                <a:solidFill>
                  <a:srgbClr val="5E6878"/>
                </a:solidFill>
              </a:defRPr>
            </a:pPr>
            <a:r>
              <a:rPr sz="2025">
                <a:solidFill>
                  <a:srgbClr val="5E6878"/>
                </a:solidFill>
              </a:rPr>
              <a:t>On garde des exemples visuels clairs: setup, événement dangereux, et contexte sécurité mauvais.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80825-7AD1-47A3-8C92-94F0C061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5435600" cy="6877050"/>
          </a:xfrm>
          <a:prstGeom xmlns:a="http://schemas.openxmlformats.org/drawingml/2006/main" prst="roundRect">
            <a:avLst>
              <a:gd name="adj" fmla="val 14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0a677931f44d7"/>
          <a:srcRect xmlns:a="http://schemas.openxmlformats.org/drawingml/2006/main" l="0" t="4756" r="0" b="47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2667000"/>
            <a:ext cx="4826000" cy="3286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8C5CA-D7D1-48F3-8E2D-27616A13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24575"/>
            <a:ext cx="876300" cy="3276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864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C20E1-D83E-4A1B-820B-E5F96579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9125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64FF"/>
                </a:solidFill>
              </a:defRPr>
            </a:pPr>
            <a:r>
              <a:rPr sz="1275" b="1">
                <a:solidFill>
                  <a:srgbClr val="1864FF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8042A-2329-4EDC-8DC9-7BF86CFB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2940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025" b="1">
                <a:solidFill>
                  <a:srgbClr val="121826"/>
                </a:solidFill>
              </a:defRPr>
            </a:pPr>
            <a:r>
              <a:rPr sz="2025" b="1">
                <a:solidFill>
                  <a:srgbClr val="121826"/>
                </a:solidFill>
              </a:rPr>
              <a:t>Enregistrement réel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158DD-5FB8-4DEC-9475-9C2B472E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05650"/>
            <a:ext cx="4819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5E6878"/>
                </a:solidFill>
              </a:defRPr>
            </a:pPr>
            <a:r>
              <a:rPr sz="1500">
                <a:solidFill>
                  <a:srgbClr val="5E6878"/>
                </a:solidFill>
              </a:rPr>
              <a:t>Machine, zone jaune, caméra en hauteur et laptop: cette scène sert à calibrer la zone dangereuse.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CB630-6198-4A4F-B24E-8D61AC73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400300"/>
            <a:ext cx="5435600" cy="6877050"/>
          </a:xfrm>
          <a:prstGeom xmlns:a="http://schemas.openxmlformats.org/drawingml/2006/main" prst="roundRect">
            <a:avLst>
              <a:gd name="adj" fmla="val 14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4dd029a264ea6"/>
          <a:srcRect xmlns:a="http://schemas.openxmlformats.org/drawingml/2006/main" l="13285" t="0" r="132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31000" y="2667000"/>
            <a:ext cx="4826000" cy="3286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0718C-F4C1-4D77-AC8D-7519E158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6124575"/>
            <a:ext cx="952500" cy="3276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3F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AA29D-1F33-4F70-A224-FC0AC2EB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912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3F3A"/>
                </a:solidFill>
              </a:defRPr>
            </a:pPr>
            <a:r>
              <a:rPr sz="1275" b="1">
                <a:solidFill>
                  <a:srgbClr val="D63F3A"/>
                </a:solidFill>
              </a:rPr>
              <a:t>unsafe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C5E75-0400-4502-86D0-87A3D3C2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62940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025" b="1">
                <a:solidFill>
                  <a:srgbClr val="121826"/>
                </a:solidFill>
              </a:defRPr>
            </a:pPr>
            <a:r>
              <a:rPr sz="2025" b="1">
                <a:solidFill>
                  <a:srgbClr val="121826"/>
                </a:solidFill>
              </a:rPr>
              <a:t>Proche de tomber / danger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3596D-92AE-4B6B-B3B3-DEC5421F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105650"/>
            <a:ext cx="4819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5E6878"/>
                </a:solidFill>
              </a:defRPr>
            </a:pPr>
            <a:r>
              <a:rPr sz="1500">
                <a:solidFill>
                  <a:srgbClr val="5E6878"/>
                </a:solidFill>
              </a:rPr>
              <a:t>Exemple positif: mouvement rapide près de la machine. À annoter autour de event_start.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C7C03-6743-4ADA-B23B-CA2B1263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500" y="2400300"/>
            <a:ext cx="5435600" cy="6877050"/>
          </a:xfrm>
          <a:prstGeom xmlns:a="http://schemas.openxmlformats.org/drawingml/2006/main" prst="roundRect">
            <a:avLst>
              <a:gd name="adj" fmla="val 14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7f079bb5d4e40"/>
          <a:srcRect xmlns:a="http://schemas.openxmlformats.org/drawingml/2006/main" l="13285" t="0" r="132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33300" y="2667000"/>
            <a:ext cx="4826000" cy="32861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1683E-A3A0-4391-9D2E-91D70AC0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3300" y="6124575"/>
            <a:ext cx="2000250" cy="3276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49D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2EB6A-31AF-4D8B-A054-BE6D2CA5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191250"/>
            <a:ext cx="1733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9D16"/>
                </a:solidFill>
              </a:defRPr>
            </a:pPr>
            <a:r>
              <a:rPr sz="1275" b="1">
                <a:solidFill>
                  <a:srgbClr val="E49D16"/>
                </a:solidFill>
              </a:rPr>
              <a:t>mauvais contexte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D2F4A-2AAB-4D80-B5FC-7FF362DB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662940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025" b="1">
                <a:solidFill>
                  <a:srgbClr val="121826"/>
                </a:solidFill>
              </a:defRPr>
            </a:pPr>
            <a:r>
              <a:rPr sz="2025" b="1">
                <a:solidFill>
                  <a:srgbClr val="121826"/>
                </a:solidFill>
              </a:rPr>
              <a:t>Distrait + blouse ouverte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62C39-B5C9-4D13-B417-15086725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105650"/>
            <a:ext cx="4819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5E6878"/>
                </a:solidFill>
              </a:defRPr>
            </a:pPr>
            <a:r>
              <a:rPr sz="1500">
                <a:solidFill>
                  <a:srgbClr val="5E6878"/>
                </a:solidFill>
              </a:rPr>
              <a:t>La personne regarde ailleurs et la blouse bleue est ouverte: attention basse et col/blouse incorrect.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B5490-BBFE-45BA-BF54-003AD305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63100"/>
            <a:ext cx="16840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A8494"/>
                </a:solidFill>
              </a:defRPr>
            </a:pPr>
            <a:r>
              <a:rPr sz="1125">
                <a:solidFill>
                  <a:srgbClr val="7A8494"/>
                </a:solidFill>
              </a:rPr>
              <a:t>POC sécurité machine · version simple</a:t>
            </a:r>
          </a:p>
        </p:txBody>
      </p:sp>
    </p:spTree>
    <p:extLst>
      <p:ext uri="{BB962C8B-B14F-4D97-AF65-F5344CB8AC3E}">
        <p14:creationId xmlns:p14="http://schemas.microsoft.com/office/powerpoint/2010/main" val="4466684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6E140F-F7D3-44B3-A42C-CF9E48D8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C2521-6E16-4253-8D8F-79A6A13C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6840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21826"/>
                </a:solidFill>
              </a:defRPr>
            </a:pPr>
            <a:r>
              <a:rPr sz="4800" b="1">
                <a:solidFill>
                  <a:srgbClr val="121826"/>
                </a:solidFill>
              </a:rPr>
              <a:t>Ce qu’il faut labelliser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21CDC-BFF9-4FA0-8889-F1808A1B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610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>
                <a:solidFill>
                  <a:srgbClr val="5E6878"/>
                </a:solidFill>
              </a:defRPr>
            </a:pPr>
            <a:r>
              <a:rPr sz="2025">
                <a:solidFill>
                  <a:srgbClr val="5E6878"/>
                </a:solidFill>
              </a:rPr>
              <a:t>On ne labellise pas seulement safe/unsafe. On labellise le moment, la zone, l’attention et le vêtement.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AEEA9-E897-48D6-B81D-399C2222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8229600" cy="6800850"/>
          </a:xfrm>
          <a:prstGeom xmlns:a="http://schemas.openxmlformats.org/drawingml/2006/main" prst="roundRect">
            <a:avLst>
              <a:gd name="adj" fmla="val 11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3a133f4674b9b"/>
          <a:srcRect xmlns:a="http://schemas.openxmlformats.org/drawingml/2006/main" l="0" t="6250" r="0" b="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2705100"/>
            <a:ext cx="762000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6F637-89BB-4ED5-8DD6-D8E948C4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10300"/>
            <a:ext cx="7620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2100" b="1">
                <a:solidFill>
                  <a:srgbClr val="D63F3A"/>
                </a:solidFill>
              </a:defRPr>
            </a:pPr>
            <a:r>
              <a:rPr sz="2100" b="1">
                <a:solidFill>
                  <a:srgbClr val="D63F3A"/>
                </a:solidFill>
              </a:rPr>
              <a:t>event_start = première frame où la main entre dans la zone dangereuse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E6103-9ACC-4602-943A-0076CBD8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5E6878"/>
                </a:solidFill>
              </a:defRPr>
            </a:pPr>
            <a:r>
              <a:rPr sz="1725">
                <a:solidFill>
                  <a:srgbClr val="5E6878"/>
                </a:solidFill>
              </a:rPr>
              <a:t>event_end = retour hors danger ou fin de l’action dangereuse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061A9-E1A7-4803-8E4F-817AEBB6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8229600" cy="6800850"/>
          </a:xfrm>
          <a:prstGeom xmlns:a="http://schemas.openxmlformats.org/drawingml/2006/main" prst="roundRect">
            <a:avLst>
              <a:gd name="adj" fmla="val 11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A545D-CC56-46B4-9C00-A0C58C35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05100"/>
            <a:ext cx="762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1826"/>
                </a:solidFill>
              </a:defRPr>
            </a:pPr>
            <a:r>
              <a:rPr sz="2700" b="1">
                <a:solidFill>
                  <a:srgbClr val="121826"/>
                </a:solidFill>
              </a:rPr>
              <a:t>Champs minimum par clip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B336B-E881-4074-B01B-CD01F8C8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7BADB-7EB3-41FF-A542-0000474E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95650"/>
            <a:ext cx="739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121826"/>
                </a:solidFill>
              </a:defRPr>
            </a:pPr>
            <a:r>
              <a:rPr sz="1800">
                <a:solidFill>
                  <a:srgbClr val="121826"/>
                </a:solidFill>
              </a:rPr>
              <a:t>event_start_frame et event_end_frame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CFAB7-9665-4419-9761-8F40B1AC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E6152-565D-40A9-A909-B0AF3081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95700"/>
            <a:ext cx="739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121826"/>
                </a:solidFill>
              </a:defRPr>
            </a:pPr>
            <a:r>
              <a:rPr sz="1800">
                <a:solidFill>
                  <a:srgbClr val="121826"/>
                </a:solidFill>
              </a:rPr>
              <a:t>zone dangereuse 3D: position + dimensions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A9C9D-CBA9-4940-BFB5-DD4E6C2B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F1D6F-A1E3-46C3-AC1E-39CA48B0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14800"/>
            <a:ext cx="739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121826"/>
                </a:solidFill>
              </a:defRPr>
            </a:pPr>
            <a:r>
              <a:rPr sz="1800">
                <a:solidFill>
                  <a:srgbClr val="121826"/>
                </a:solidFill>
              </a:rPr>
              <a:t>distance main/corps-zone par frame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AAE09-AF05-4688-AA51-1FDBA52F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A7E46-4171-47DF-BF3D-36C1800F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14850"/>
            <a:ext cx="739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121826"/>
                </a:solidFill>
              </a:defRPr>
            </a:pPr>
            <a:r>
              <a:rPr sz="1800">
                <a:solidFill>
                  <a:srgbClr val="121826"/>
                </a:solidFill>
              </a:rPr>
              <a:t>attention: attentive / distracted / unclear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228C6-B14C-4ED3-8BC6-268C3799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33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10F4D-4C37-408F-9E53-AA8D9793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33950"/>
            <a:ext cx="739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121826"/>
                </a:solidFill>
              </a:defRPr>
            </a:pPr>
            <a:r>
              <a:rPr sz="1800">
                <a:solidFill>
                  <a:srgbClr val="121826"/>
                </a:solidFill>
              </a:rPr>
              <a:t>blouse/col: correct / ouvert / incorrect / not_visible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EBA80-0546-47D3-8BE3-146BCC5A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34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43B44-0A22-4B6F-B350-0260962B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334000"/>
            <a:ext cx="739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121826"/>
                </a:solidFill>
              </a:defRPr>
            </a:pPr>
            <a:r>
              <a:rPr sz="1800">
                <a:solidFill>
                  <a:srgbClr val="121826"/>
                </a:solidFill>
              </a:rPr>
              <a:t>personne, angle caméra, FPS, scénario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E52AB-2DF8-4088-9CA8-F6A9DB61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63100"/>
            <a:ext cx="16840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A8494"/>
                </a:solidFill>
              </a:defRPr>
            </a:pPr>
            <a:r>
              <a:rPr sz="1125">
                <a:solidFill>
                  <a:srgbClr val="7A8494"/>
                </a:solidFill>
              </a:rPr>
              <a:t>POC sécurité machine · version simple</a:t>
            </a:r>
          </a:p>
        </p:txBody>
      </p:sp>
    </p:spTree>
    <p:extLst>
      <p:ext uri="{BB962C8B-B14F-4D97-AF65-F5344CB8AC3E}">
        <p14:creationId xmlns:p14="http://schemas.microsoft.com/office/powerpoint/2010/main" val="14989501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744152-F017-40F1-8146-C65D0F98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8518E-B49C-47FC-BD6B-82DAE336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6840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21826"/>
                </a:solidFill>
              </a:defRPr>
            </a:pPr>
            <a:r>
              <a:rPr sz="4800" b="1">
                <a:solidFill>
                  <a:srgbClr val="121826"/>
                </a:solidFill>
              </a:rPr>
              <a:t>Architecture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C3847-E465-4F39-A128-25513544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1887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>
                <a:solidFill>
                  <a:srgbClr val="5E6878"/>
                </a:solidFill>
              </a:defRPr>
            </a:pPr>
            <a:r>
              <a:rPr sz="2025">
                <a:solidFill>
                  <a:srgbClr val="5E6878"/>
                </a:solidFill>
              </a:rPr>
              <a:t>Les trois modèles restent séparés. Une couche stack/policy combine leurs signaux pour décider plus prudemment.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4D97D-95DD-45AC-8397-39D70076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5461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4288">
            <a:solidFill>
              <a:srgbClr val="1864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1F09B-66DC-4AFD-8283-EBC74B94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5010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4FF"/>
                </a:solidFill>
              </a:defRPr>
            </a:pPr>
            <a:r>
              <a:rPr sz="2100" b="1">
                <a:solidFill>
                  <a:srgbClr val="1864FF"/>
                </a:solidFill>
              </a:rPr>
              <a:t>Modèle col/blouse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6A7C7-8167-4665-AF2A-5295645B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501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21826"/>
                </a:solidFill>
              </a:defRPr>
            </a:pPr>
            <a:r>
              <a:rPr sz="1500">
                <a:solidFill>
                  <a:srgbClr val="121826"/>
                </a:solidFill>
              </a:rPr>
              <a:t>Correct, ouvert, incorrect, non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CA381-36B8-46F1-8460-1E48432D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400300"/>
            <a:ext cx="5461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14288">
            <a:solidFill>
              <a:srgbClr val="E49D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2AA32-FEC6-49C5-8940-F35788B5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09850"/>
            <a:ext cx="5010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49D16"/>
                </a:solidFill>
              </a:defRPr>
            </a:pPr>
            <a:r>
              <a:rPr sz="2100" b="1">
                <a:solidFill>
                  <a:srgbClr val="E49D16"/>
                </a:solidFill>
              </a:rPr>
              <a:t>Modèle attention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1BBCC-DA81-4F1B-8B0E-296B514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28950"/>
            <a:ext cx="501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21826"/>
                </a:solidFill>
              </a:defRPr>
            </a:pPr>
            <a:r>
              <a:rPr sz="1500">
                <a:solidFill>
                  <a:srgbClr val="121826"/>
                </a:solidFill>
              </a:rPr>
              <a:t>Score 0-1: attentif, distrait, incertain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C5987-7E57-4686-BC37-1D784391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400300"/>
            <a:ext cx="5461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4F3"/>
          </a:solidFill>
          <a:ln xmlns:a="http://schemas.openxmlformats.org/drawingml/2006/main" w="14288">
            <a:solidFill>
              <a:srgbClr val="D63F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F212A-BCD8-44DA-9293-4157C156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609850"/>
            <a:ext cx="5010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3F3A"/>
                </a:solidFill>
              </a:defRPr>
            </a:pPr>
            <a:r>
              <a:rPr sz="2100" b="1">
                <a:solidFill>
                  <a:srgbClr val="D63F3A"/>
                </a:solidFill>
              </a:rPr>
              <a:t>Master predictor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EE299-A896-49ED-AFBB-1D69F8A2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028950"/>
            <a:ext cx="501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21826"/>
                </a:solidFill>
              </a:defRPr>
            </a:pPr>
            <a:r>
              <a:rPr sz="1500">
                <a:solidFill>
                  <a:srgbClr val="121826"/>
                </a:solidFill>
              </a:rPr>
              <a:t>Risque futur: main/corps vers zone dans N secondes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31ECD-D71F-4AE5-9634-380AC290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6840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E6878"/>
                </a:solidFill>
              </a:defRPr>
            </a:pPr>
            <a:r>
              <a:rPr sz="3150" b="1">
                <a:solidFill>
                  <a:srgbClr val="5E6878"/>
                </a:solidFill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8C4DC-C817-478D-BDCD-9B138D08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6840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BD56F-FF64-4A95-9BE4-63DE6A58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1619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Stack / policy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E45B6-B297-4137-974D-520BD0A3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96050"/>
            <a:ext cx="1619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>
                <a:solidFill>
                  <a:srgbClr val="DDE6F3"/>
                </a:solidFill>
              </a:defRPr>
            </a:pPr>
            <a:r>
              <a:rPr sz="1875">
                <a:solidFill>
                  <a:srgbClr val="DDE6F3"/>
                </a:solidFill>
              </a:rPr>
              <a:t>Amplifie le risque si l’attention est basse, rend les seuils plus stricts quand la personne est proche de la machine, et déclenche une règle dure si la blouse/col est mauvais près de la zone.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70B2B-B839-4D73-8834-3B4EAE0F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7650"/>
            <a:ext cx="876300" cy="3276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68A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000EE-A9B2-4D30-AE9D-76BE2EF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4385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A5B"/>
                </a:solidFill>
              </a:defRPr>
            </a:pPr>
            <a:r>
              <a:rPr sz="1275" b="1">
                <a:solidFill>
                  <a:srgbClr val="168A5B"/>
                </a:solidFill>
              </a:rPr>
              <a:t>safe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63B77-799B-4C35-BA0D-B8694040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867650"/>
            <a:ext cx="1266825" cy="3276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49D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B0CDC-FA35-4309-B73A-1B4E1ED8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943850"/>
            <a:ext cx="10001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9D16"/>
                </a:solidFill>
              </a:defRPr>
            </a:pPr>
            <a:r>
              <a:rPr sz="1275" b="1">
                <a:solidFill>
                  <a:srgbClr val="E49D16"/>
                </a:solidFill>
              </a:rPr>
              <a:t>near_risk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9FDAD-D586-4EA2-8F90-E7EA6752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7867650"/>
            <a:ext cx="2943225" cy="3276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3F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90B76-A5F1-4171-85F4-7B098493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943850"/>
            <a:ext cx="26765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3F3A"/>
                </a:solidFill>
              </a:defRPr>
            </a:pPr>
            <a:r>
              <a:rPr sz="1275" b="1">
                <a:solidFill>
                  <a:srgbClr val="D63F3A"/>
                </a:solidFill>
              </a:rPr>
              <a:t>will_enter_danger_zone_Ns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EEFDCC-828C-4A23-BFAA-AA5E21E0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7867650"/>
            <a:ext cx="1790700" cy="3276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3F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21F1C-4CB3-4611-9891-E1FE5FC2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9438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3F3A"/>
                </a:solidFill>
              </a:defRPr>
            </a:pPr>
            <a:r>
              <a:rPr sz="1275" b="1">
                <a:solidFill>
                  <a:srgbClr val="D63F3A"/>
                </a:solidFill>
              </a:rPr>
              <a:t>in_danger_zone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72B684-0FD6-482D-9691-FE63AFD3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867650"/>
            <a:ext cx="2000250" cy="3276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20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A02E7-CFED-4548-9218-C5256260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943850"/>
            <a:ext cx="1733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shutdown / alert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08740-DAB6-4F4E-BA25-B4AAB2F8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63100"/>
            <a:ext cx="16840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A8494"/>
                </a:solidFill>
              </a:defRPr>
            </a:pPr>
            <a:r>
              <a:rPr sz="1125">
                <a:solidFill>
                  <a:srgbClr val="7A8494"/>
                </a:solidFill>
              </a:rPr>
              <a:t>POC sécurité machine · version simple</a:t>
            </a:r>
          </a:p>
        </p:txBody>
      </p:sp>
    </p:spTree>
    <p:extLst>
      <p:ext uri="{BB962C8B-B14F-4D97-AF65-F5344CB8AC3E}">
        <p14:creationId xmlns:p14="http://schemas.microsoft.com/office/powerpoint/2010/main" val="9045176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68B91A-67E7-4339-B23D-7B06D47C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08E52-90D5-4727-ACB9-F9C35B6B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6840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21826"/>
                </a:solidFill>
              </a:defRPr>
            </a:pPr>
            <a:r>
              <a:rPr sz="4800" b="1">
                <a:solidFill>
                  <a:srgbClr val="121826"/>
                </a:solidFill>
              </a:rPr>
              <a:t>Augmentation par modèle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62590-440D-4F87-84FD-0C92F7F2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9696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>
                <a:solidFill>
                  <a:srgbClr val="5E6878"/>
                </a:solidFill>
              </a:defRPr>
            </a:pPr>
            <a:r>
              <a:rPr sz="2025">
                <a:solidFill>
                  <a:srgbClr val="5E6878"/>
                </a:solidFill>
              </a:rPr>
              <a:t>L’augmentation doit rester réaliste et seulement dans le train set, jamais dans validation/test.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3C4F0-1D38-4E92-8722-E1190291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5435600" cy="6838950"/>
          </a:xfrm>
          <a:prstGeom xmlns:a="http://schemas.openxmlformats.org/drawingml/2006/main" prst="roundRect">
            <a:avLst>
              <a:gd name="adj" fmla="val 1402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2EB20-D759-47A2-9AF2-D42F6B1F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4819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64FF"/>
                </a:solidFill>
              </a:defRPr>
            </a:pPr>
            <a:r>
              <a:rPr sz="2625" b="1">
                <a:solidFill>
                  <a:srgbClr val="1864FF"/>
                </a:solidFill>
              </a:rPr>
              <a:t>1. Col / blouse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1C340-3C7C-47F5-9452-56C60779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9299D-A644-4501-9228-A5EF610E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crop cou + torse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406AF-C6E5-4B73-8CB6-642FBE1F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73B57-4486-4F7F-B9B0-49368B66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5760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brightness / contraste / flou léger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0ED6C-BA1C-4222-90CD-557FD595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D1F86-3AD0-4FA0-A2F9-3E6671A9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765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petites rotations et échelles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BAD2A-9BA1-4594-8AB7-0605CC45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40E62-7347-4803-8D1A-6C65ECAF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occlusion partielle réaliste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BFB12-9388-4DA1-9354-FD1E34F5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9C250-2BBA-47EC-9FC7-581A137D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5775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équilibrer correct vs ouvert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D8BD2-770B-44DB-9C51-D9F449B5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419350"/>
            <a:ext cx="5435600" cy="6838950"/>
          </a:xfrm>
          <a:prstGeom xmlns:a="http://schemas.openxmlformats.org/drawingml/2006/main" prst="roundRect">
            <a:avLst>
              <a:gd name="adj" fmla="val 1402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D97A8-7FE2-45D8-AD12-956B1E63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86050"/>
            <a:ext cx="4819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49D16"/>
                </a:solidFill>
              </a:defRPr>
            </a:pPr>
            <a:r>
              <a:rPr sz="2625" b="1">
                <a:solidFill>
                  <a:srgbClr val="E49D16"/>
                </a:solidFill>
              </a:rPr>
              <a:t>2. Attention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0737F-A6D2-40D2-97BA-985A983C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57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9D16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FE91F-EC9B-4070-8873-76907F74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5755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fenêtres temporelles 1-3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8F00F-9D86-4EAA-9A05-5BA53A6F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57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9D16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42B9E6-0765-432B-89D2-4A208D37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5760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jitter sur tête / épaules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56F856-574D-48B9-82CA-AEEF9AF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9D16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EFF595-06AB-47FF-8AED-124E8E14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5765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mouvements de tête distraits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03F3CF-81E5-423F-A1FF-5ECCEAEF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5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9D16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E5F3A-4A12-4135-8D0F-A041B440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blur de mouvement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F9A1F2-DD82-4258-BF57-3FCD875D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9D16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2B791-D780-4C57-8323-A914FB60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classes attentive/distracted équilibrées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620F20-6EEC-4954-80D5-F44D6699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500" y="2419350"/>
            <a:ext cx="5435600" cy="6838950"/>
          </a:xfrm>
          <a:prstGeom xmlns:a="http://schemas.openxmlformats.org/drawingml/2006/main" prst="roundRect">
            <a:avLst>
              <a:gd name="adj" fmla="val 1402"/>
            </a:avLst>
          </a:prstGeom>
          <a:solidFill xmlns:a="http://schemas.openxmlformats.org/drawingml/2006/main">
            <a:srgbClr val="FFF4F3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9B6370-B537-46A6-952D-4EF62BCE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686050"/>
            <a:ext cx="4819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63F3A"/>
                </a:solidFill>
              </a:defRPr>
            </a:pPr>
            <a:r>
              <a:rPr sz="2625" b="1">
                <a:solidFill>
                  <a:srgbClr val="D63F3A"/>
                </a:solidFill>
              </a:rPr>
              <a:t>3. Master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AD9409-7EB4-4824-8136-2E60FF68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257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F3A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B29122-31F8-4786-81B0-02AD6BE1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25755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sliding windows avant event_start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367E5C-17F9-43A6-9F1D-E48B6B46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657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F3A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4D3156-D6D1-4FB7-A4CA-DF8BB37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65760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time-warp: geste plus lent/rapide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B89770-BDFF-4465-9C9B-A3E9914B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F3A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B99B0E-13CA-47A1-AD3E-B060284C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05765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bruit léger sur keypoints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D00CB2-C1C0-434E-B99E-E57514FD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45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F3A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ECFF58-C5B7-48ED-A821-2E0A8B84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45770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crop/caméra/lumière réalistes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8CD12C-E20B-4E40-B270-EA1E5B4C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857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F3A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65AC40-D6A1-482D-B551-C0632FEC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85775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>
                <a:solidFill>
                  <a:srgbClr val="121826"/>
                </a:solidFill>
              </a:defRPr>
            </a:pPr>
            <a:r>
              <a:rPr sz="1725">
                <a:solidFill>
                  <a:srgbClr val="121826"/>
                </a:solidFill>
              </a:rPr>
              <a:t>trajectoires synthétiques 3D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F06D6A-6E62-42D0-89EF-C895FFCB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63100"/>
            <a:ext cx="16840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A8494"/>
                </a:solidFill>
              </a:defRPr>
            </a:pPr>
            <a:r>
              <a:rPr sz="1125">
                <a:solidFill>
                  <a:srgbClr val="7A8494"/>
                </a:solidFill>
              </a:rPr>
              <a:t>POC sécurité machine · version simple</a:t>
            </a:r>
          </a:p>
        </p:txBody>
      </p:sp>
    </p:spTree>
    <p:extLst>
      <p:ext uri="{BB962C8B-B14F-4D97-AF65-F5344CB8AC3E}">
        <p14:creationId xmlns:p14="http://schemas.microsoft.com/office/powerpoint/2010/main" val="7009350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071106-955E-4A00-9D3B-FDDBF10D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57548-A44A-407B-8E54-29978083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6840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21826"/>
                </a:solidFill>
              </a:defRPr>
            </a:pPr>
            <a:r>
              <a:rPr sz="4800" b="1">
                <a:solidFill>
                  <a:srgbClr val="121826"/>
                </a:solidFill>
              </a:rPr>
              <a:t>Simulation 3D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58EB3-B791-4B4A-BB72-565C68D9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382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>
                <a:solidFill>
                  <a:srgbClr val="5E6878"/>
                </a:solidFill>
              </a:defRPr>
            </a:pPr>
            <a:r>
              <a:rPr sz="2025">
                <a:solidFill>
                  <a:srgbClr val="5E6878"/>
                </a:solidFill>
              </a:rPr>
              <a:t>La simulation sert surtout à contrôler la distance vraie entre le corps, la main et la zone dangereuse.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F250D-1D32-4B65-A9FC-0480F3D3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8229600" cy="6800850"/>
          </a:xfrm>
          <a:prstGeom xmlns:a="http://schemas.openxmlformats.org/drawingml/2006/main" prst="roundRect">
            <a:avLst>
              <a:gd name="adj" fmla="val 11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e935941f04f10"/>
          <a:srcRect xmlns:a="http://schemas.openxmlformats.org/drawingml/2006/main" l="0" t="17608" r="0" b="176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2705100"/>
            <a:ext cx="762000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F1651-D329-4DF9-B45B-B7DFB184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591300"/>
            <a:ext cx="7620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121826"/>
                </a:solidFill>
              </a:defRPr>
            </a:pPr>
            <a:r>
              <a:rPr sz="2025" b="1">
                <a:solidFill>
                  <a:srgbClr val="121826"/>
                </a:solidFill>
              </a:rPr>
              <a:t>On reconstruit la machine et la zone dangereuse dans un repère 3D connu.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97499-CB8A-4435-8879-C6351003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8229600" cy="6800850"/>
          </a:xfrm>
          <a:prstGeom xmlns:a="http://schemas.openxmlformats.org/drawingml/2006/main" prst="roundRect">
            <a:avLst>
              <a:gd name="adj" fmla="val 1120"/>
            </a:avLst>
          </a:prstGeom>
          <a:solidFill xmlns:a="http://schemas.openxmlformats.org/drawingml/2006/main">
            <a:srgbClr val="F1FBF6"/>
          </a:solidFill>
          <a:ln xmlns:a="http://schemas.openxmlformats.org/drawingml/2006/main" w="9525">
            <a:solidFill>
              <a:srgbClr val="C7EA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4D58B-F235-4F4A-988B-62C16CD2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05100"/>
            <a:ext cx="762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8A5B"/>
                </a:solidFill>
              </a:defRPr>
            </a:pPr>
            <a:r>
              <a:rPr sz="2700" b="1">
                <a:solidFill>
                  <a:srgbClr val="168A5B"/>
                </a:solidFill>
              </a:rPr>
              <a:t>Ce que la 3D ajoute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A9FE1-C9B1-4A1A-90E9-397972D1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17FE1-C821-4ED3-BAC6-587E9EC8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9565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distance exacte main/corps-zone par frame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5EA86-DE13-44D3-9647-431CC596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14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D7C72-299D-45F6-9867-AE814987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near-miss et accidents contrôlés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4C3A3-E60F-481B-8DE7-7CEB4428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33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FF259-D1A3-4FB4-9867-BF13F711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3385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variations de caméra et éclairage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1DE48-F7DD-4AC5-BBF1-538BE7C0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52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B288A-EA63-45FB-876C-ABA9076B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5295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plus de cas rares sans risque réel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579CA-4121-441E-8DA6-72B36325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72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4DA2C-1A32-4731-BCD0-271103D9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7205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validation finale sur vraies vidéos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DF426-C4F0-4776-BD67-139CAED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63100"/>
            <a:ext cx="16840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A8494"/>
                </a:solidFill>
              </a:defRPr>
            </a:pPr>
            <a:r>
              <a:rPr sz="1125">
                <a:solidFill>
                  <a:srgbClr val="7A8494"/>
                </a:solidFill>
              </a:rPr>
              <a:t>POC sécurité machine · version simple</a:t>
            </a:r>
          </a:p>
        </p:txBody>
      </p:sp>
    </p:spTree>
    <p:extLst>
      <p:ext uri="{BB962C8B-B14F-4D97-AF65-F5344CB8AC3E}">
        <p14:creationId xmlns:p14="http://schemas.microsoft.com/office/powerpoint/2010/main" val="5968372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A7B04-4DF3-4D99-8CB5-D3972451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0D30E-CABE-4C07-B679-9BF6EEF2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6840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21826"/>
                </a:solidFill>
              </a:defRPr>
            </a:pPr>
            <a:r>
              <a:rPr sz="4800" b="1">
                <a:solidFill>
                  <a:srgbClr val="121826"/>
                </a:solidFill>
              </a:rPr>
              <a:t>Prochaines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6DD5A-EA9C-4854-B3C0-1507144C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9544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>
                <a:solidFill>
                  <a:srgbClr val="5E6878"/>
                </a:solidFill>
              </a:defRPr>
            </a:pPr>
            <a:r>
              <a:rPr sz="2025">
                <a:solidFill>
                  <a:srgbClr val="5E6878"/>
                </a:solidFill>
              </a:rPr>
              <a:t>Objectif court terme: transformer les 73 vidéos en dataset entraînable pour une démo POC.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027B3-29A3-414C-9528-E501E46D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8229600" cy="6800850"/>
          </a:xfrm>
          <a:prstGeom xmlns:a="http://schemas.openxmlformats.org/drawingml/2006/main" prst="roundRect">
            <a:avLst>
              <a:gd name="adj" fmla="val 11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713F8-967B-4A75-9B49-4EB41E82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7620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64FF"/>
                </a:solidFill>
              </a:defRPr>
            </a:pPr>
            <a:r>
              <a:rPr sz="2850" b="1">
                <a:solidFill>
                  <a:srgbClr val="1864FF"/>
                </a:solidFill>
              </a:rPr>
              <a:t>Labelliser maintenant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65F9A-706C-41F0-91D1-11641B22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F0BDE-E019-4582-BF7D-F97CAC03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manifest propre par clip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6D409-ACCE-48E3-A23F-0FB3EA55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4DA7F-965E-45AE-94A3-E65E6303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event_start/event_end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5C86F-1AD3-460B-9432-B228D175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A8AFD-E0FB-48E4-A37B-2564AB61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5290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attention + blouse/col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B7AE9-19D7-4AF5-BCD0-83B4C05F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39CA2-E148-446A-82C0-CC4D54E4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zone dangereuse 3D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4BEA4-5D45-4FB7-9C74-8D1E5F4D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4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A526A-0FD8-411B-80EE-ECA22E2C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split par personne et scénario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C6F6F-24BB-45E8-A2C4-5C0557DA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8229600" cy="6800850"/>
          </a:xfrm>
          <a:prstGeom xmlns:a="http://schemas.openxmlformats.org/drawingml/2006/main" prst="roundRect">
            <a:avLst>
              <a:gd name="adj" fmla="val 1120"/>
            </a:avLst>
          </a:prstGeom>
          <a:solidFill xmlns:a="http://schemas.openxmlformats.org/drawingml/2006/main">
            <a:srgbClr val="FFF4F3"/>
          </a:solidFill>
          <a:ln xmlns:a="http://schemas.openxmlformats.org/drawingml/2006/main" w="9525">
            <a:solidFill>
              <a:srgbClr val="F0C0B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932B7-615E-4DE6-BD52-6ED182B5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05100"/>
            <a:ext cx="7620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3F3A"/>
                </a:solidFill>
              </a:defRPr>
            </a:pPr>
            <a:r>
              <a:rPr sz="2850" b="1">
                <a:solidFill>
                  <a:srgbClr val="D63F3A"/>
                </a:solidFill>
              </a:rPr>
              <a:t>Compléter le POC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790C5-AFEF-4D49-A753-9A381FCE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F3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831C5-747F-47AB-BDDB-544099C3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1470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extraire des fenêtres avant accident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34B2E-CF63-4E29-B122-99E009F4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33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F3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B0766-F447-4B51-9D55-132529B5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3380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augmenter chaque modèle séparément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85C73-DCFC-4C20-8796-2D531520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F3A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6D014-9FFD-4CD0-A487-D98333AF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5290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entraîner 3 baselines simples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8E0D1-15D2-478C-9FAD-A0FB7BCC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72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F3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7D0C6-3374-4009-AF06-43317D73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7200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brancher la policy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8936D7-07C9-43C3-A6DB-48B23D84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F3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7CB1D8-ECC6-4A6C-8903-07DACB81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010150"/>
            <a:ext cx="7391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21826"/>
                </a:solidFill>
              </a:defRPr>
            </a:pPr>
            <a:r>
              <a:rPr sz="1875">
                <a:solidFill>
                  <a:srgbClr val="121826"/>
                </a:solidFill>
              </a:rPr>
              <a:t>tester sur vidéos jamais vues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D904E1-D93C-4715-A46D-C703C7FB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63100"/>
            <a:ext cx="16840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A8494"/>
                </a:solidFill>
              </a:defRPr>
            </a:pPr>
            <a:r>
              <a:rPr sz="1125">
                <a:solidFill>
                  <a:srgbClr val="7A8494"/>
                </a:solidFill>
              </a:rPr>
              <a:t>POC sécurité machine · version simple</a:t>
            </a:r>
          </a:p>
        </p:txBody>
      </p:sp>
    </p:spTree>
    <p:extLst>
      <p:ext uri="{BB962C8B-B14F-4D97-AF65-F5344CB8AC3E}">
        <p14:creationId xmlns:p14="http://schemas.microsoft.com/office/powerpoint/2010/main" val="1228155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2026-05-13T10:15:06.1520000Z</dcterms:created>
  <dcterms:modified xsi:type="dcterms:W3CDTF">2026-05-13T10:15:06.1520000Z</dcterms:modified>
</coreProperties>
</file>