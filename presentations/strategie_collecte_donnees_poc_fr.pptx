
<file path=[Content_Types].xml><?xml version="1.0" encoding="utf-8"?>
<Types xmlns="http://schemas.openxmlformats.org/package/2006/content-types">
  <Default Extension="xml" ContentType="application/vnd.openxmlformats-package.core-properties+xml"/>
  <Default Extension="jpeg" ContentType="image/jpeg"/>
  <Default Extension="rels" ContentType="application/vnd.openxmlformats-package.relationships+xml"/>
  <Override PartName="/docProps/app.xml" ContentType="application/vnd.openxmlformats-officedocument.extended-properties+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theme/theme1.xml" ContentType="application/vnd.openxmlformats-officedocument.theme+xml"/>
  <Override PartName="/ppt/notesMasters/notesMaster1.xml" ContentType="application/vnd.openxmlformats-officedocument.presentationml.notesMaster+xml"/>
  <Override PartName="/ppt/notesMasters/theme/theme2.xml" ContentType="application/vnd.openxmlformats-officedocument.them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ableStyles.xml" ContentType="application/vnd.openxmlformats-officedocument.presentationml.tableStyles+xml"/>
  <Override PartName="/ppt/slideLayouts/slideLayout2.xml" ContentType="application/vnd.openxmlformats-officedocument.presentationml.slideLayout+xml"/>
  <Override PartName="/ppt/slides/slide1.xml" ContentType="application/vnd.openxmlformats-officedocument.presentationml.slide+xml"/>
  <Override PartName="/ppt/notesSlides/notesSlide1.xml" ContentType="application/vnd.openxmlformats-officedocument.presentationml.notesSlide+xml"/>
  <Override PartName="/ppt/slides/slide2.xml" ContentType="application/vnd.openxmlformats-officedocument.presentationml.slide+xml"/>
  <Override PartName="/ppt/slides/charts/chart1.xml" ContentType="application/vnd.openxmlformats-officedocument.drawingml.chart+xml"/>
  <Override PartName="/ppt/slides/charts/chart2.xml" ContentType="application/vnd.openxmlformats-officedocument.drawingml.chart+xml"/>
  <Override PartName="/ppt/notesSlides/notesSlide2.xml" ContentType="application/vnd.openxmlformats-officedocument.presentationml.notesSlide+xml"/>
  <Override PartName="/ppt/slides/slide3.xml" ContentType="application/vnd.openxmlformats-officedocument.presentationml.slide+xml"/>
  <Override PartName="/ppt/notesSlides/notesSlide3.xml" ContentType="application/vnd.openxmlformats-officedocument.presentationml.notesSlide+xml"/>
  <Override PartName="/ppt/slides/slide4.xml" ContentType="application/vnd.openxmlformats-officedocument.presentationml.slide+xml"/>
  <Override PartName="/ppt/notesSlides/notesSlide4.xml" ContentType="application/vnd.openxmlformats-officedocument.presentationml.notesSlide+xml"/>
  <Override PartName="/ppt/slides/slide5.xml" ContentType="application/vnd.openxmlformats-officedocument.presentationml.slide+xml"/>
  <Override PartName="/ppt/notesSlides/notesSlide5.xml" ContentType="application/vnd.openxmlformats-officedocument.presentationml.notesSlide+xml"/>
  <Override PartName="/ppt/slides/slide6.xml" ContentType="application/vnd.openxmlformats-officedocument.presentationml.slide+xml"/>
  <Override PartName="/ppt/notesSlides/notesSlide6.xml" ContentType="application/vnd.openxmlformats-officedocument.presentationml.notesSlide+xml"/>
  <Override PartName="/ppt/slides/slide7.xml" ContentType="application/vnd.openxmlformats-officedocument.presentationml.slide+xml"/>
  <Override PartName="/ppt/notesSlides/notesSlide7.xml" ContentType="application/vnd.openxmlformats-officedocument.presentationml.notesSlide+xml"/>
  <Override PartName="/ppt/slides/slide8.xml" ContentType="application/vnd.openxmlformats-officedocument.presentationml.slide+xml"/>
  <Override PartName="/ppt/notesSlides/notesSlide8.xml" ContentType="application/vnd.openxmlformats-officedocument.presentationml.notesSlide+xml"/>
  <Override PartName="/ppt/slides/slide9.xml" ContentType="application/vnd.openxmlformats-officedocument.presentationml.slide+xml"/>
  <Override PartName="/ppt/notesSlides/notesSlide9.xml" ContentType="application/vnd.openxmlformats-officedocument.presentationml.notesSlide+xml"/>
  <Override PartName="/ppt/slides/slide10.xml" ContentType="application/vnd.openxmlformats-officedocument.presentationml.slide+xml"/>
  <Override PartName="/ppt/notesSlides/notesSlide10.xml" ContentType="application/vnd.openxmlformats-officedocument.presentationml.notesSlide+xml"/>
  <Override PartName="/ppt/slides/slide11.xml" ContentType="application/vnd.openxmlformats-officedocument.presentationml.slide+xml"/>
  <Override PartName="/ppt/notesSlides/notesSlide11.xml" ContentType="application/vnd.openxmlformats-officedocument.presentationml.notesSlide+xml"/>
</Types>
</file>

<file path=_rels/.rels>&#65279;<?xml version="1.0" encoding="utf-8"?><Relationships xmlns="http://schemas.openxmlformats.org/package/2006/relationships"><Relationship Type="http://schemas.openxmlformats.org/package/2006/relationships/metadata/core-properties" Target="/docProps/core.xml" Id="R4288c868f2f04e03" /><Relationship Type="http://schemas.openxmlformats.org/officeDocument/2006/relationships/extended-properties" Target="/docProps/app.xml" Id="Rcb7f6a88b3ac424b" /><Relationship Type="http://schemas.openxmlformats.org/officeDocument/2006/relationships/officeDocument" Target="/ppt/presentation.xml" Id="R038c77822c3c4fe5" /></Relationships>
</file>

<file path=ppt/presentation.xml><?xml version="1.0" encoding="utf-8"?>
<p:presentation xmlns:p="http://schemas.openxmlformats.org/presentationml/2006/main">
  <p:sldMasterIdLst>
    <p:sldMasterId xmlns:r="http://schemas.openxmlformats.org/officeDocument/2006/relationships" id="2147483648" r:id="R9097ffeecca94653"/>
  </p:sldMasterIdLst>
  <p:notesMasterIdLst>
    <p:notesMasterId xmlns:r="http://schemas.openxmlformats.org/officeDocument/2006/relationships" r:id="R2d09994320cf4d78"/>
  </p:notesMasterIdLst>
  <p:sldIdLst>
    <p:sldId xmlns:r="http://schemas.openxmlformats.org/officeDocument/2006/relationships" id="256" r:id="R6985212fdac44631"/>
    <p:sldId xmlns:r="http://schemas.openxmlformats.org/officeDocument/2006/relationships" id="257" r:id="Rab1b635622d94a57"/>
    <p:sldId xmlns:r="http://schemas.openxmlformats.org/officeDocument/2006/relationships" id="258" r:id="Rbab080ddb15c4bda"/>
    <p:sldId xmlns:r="http://schemas.openxmlformats.org/officeDocument/2006/relationships" id="259" r:id="R3c43800e09554a7c"/>
    <p:sldId xmlns:r="http://schemas.openxmlformats.org/officeDocument/2006/relationships" id="260" r:id="R879fce496594432c"/>
    <p:sldId xmlns:r="http://schemas.openxmlformats.org/officeDocument/2006/relationships" id="261" r:id="R55783616cd344a45"/>
    <p:sldId xmlns:r="http://schemas.openxmlformats.org/officeDocument/2006/relationships" id="262" r:id="R15c159551df1490a"/>
    <p:sldId xmlns:r="http://schemas.openxmlformats.org/officeDocument/2006/relationships" id="263" r:id="R90c4691ca30349df"/>
    <p:sldId xmlns:r="http://schemas.openxmlformats.org/officeDocument/2006/relationships" id="264" r:id="R220c63c3ad1044b2"/>
    <p:sldId xmlns:r="http://schemas.openxmlformats.org/officeDocument/2006/relationships" id="265" r:id="R4e931e8c3ecf463f"/>
    <p:sldId xmlns:r="http://schemas.openxmlformats.org/officeDocument/2006/relationships" id="266" r:id="R7789a5edff9c4dd9"/>
  </p:sldIdLst>
  <p:sldSz cx="18288000" cy="10287000"/>
  <p:notesSz cx="6858000" cy="9144000"/>
  <p:defaultTextStyle>
    <a:defPPr xmlns:a="http://schemas.openxmlformats.org/drawingml/2006/main">
      <a:defRPr lang="en-US"/>
    </a:defPPr>
    <a:lvl1pPr xmlns:a="http://schemas.openxmlformats.org/drawingml/2006/main" marL="0" indent="0" algn="l" defTabSz="914400">
      <a:defRPr sz="1800" kern="1200">
        <a:solidFill>
          <a:schemeClr val="tx1"/>
        </a:solidFill>
        <a:latin typeface="+mn-lt"/>
        <a:ea typeface="+mn-ea"/>
        <a:cs typeface="+mn-cs"/>
      </a:defRPr>
    </a:lvl1pPr>
    <a:lvl2pPr xmlns:a="http://schemas.openxmlformats.org/drawingml/2006/main" marL="457200" indent="0" algn="l" defTabSz="914400">
      <a:defRPr sz="1800" kern="1200">
        <a:solidFill>
          <a:schemeClr val="tx1"/>
        </a:solidFill>
        <a:latin typeface="+mn-lt"/>
        <a:ea typeface="+mn-ea"/>
        <a:cs typeface="+mn-cs"/>
      </a:defRPr>
    </a:lvl2pPr>
    <a:lvl3pPr xmlns:a="http://schemas.openxmlformats.org/drawingml/2006/main" marL="914400" indent="0" algn="l" defTabSz="914400">
      <a:defRPr sz="1800" kern="1200">
        <a:solidFill>
          <a:schemeClr val="tx1"/>
        </a:solidFill>
        <a:latin typeface="+mn-lt"/>
        <a:ea typeface="+mn-ea"/>
        <a:cs typeface="+mn-cs"/>
      </a:defRPr>
    </a:lvl3pPr>
    <a:lvl4pPr xmlns:a="http://schemas.openxmlformats.org/drawingml/2006/main" marL="1371600" indent="0" algn="l" defTabSz="914400">
      <a:defRPr sz="1800" kern="1200">
        <a:solidFill>
          <a:schemeClr val="tx1"/>
        </a:solidFill>
        <a:latin typeface="+mn-lt"/>
        <a:ea typeface="+mn-ea"/>
        <a:cs typeface="+mn-cs"/>
      </a:defRPr>
    </a:lvl4pPr>
    <a:lvl5pPr xmlns:a="http://schemas.openxmlformats.org/drawingml/2006/main" marL="1828800" indent="0" algn="l" defTabSz="914400">
      <a:defRPr sz="1800" kern="1200">
        <a:solidFill>
          <a:schemeClr val="tx1"/>
        </a:solidFill>
        <a:latin typeface="+mn-lt"/>
        <a:ea typeface="+mn-ea"/>
        <a:cs typeface="+mn-cs"/>
      </a:defRPr>
    </a:lvl5pPr>
    <a:lvl6pPr xmlns:a="http://schemas.openxmlformats.org/drawingml/2006/main" marL="2286000" indent="0" algn="l" defTabSz="914400">
      <a:defRPr sz="1800" kern="1200">
        <a:solidFill>
          <a:schemeClr val="tx1"/>
        </a:solidFill>
        <a:latin typeface="+mn-lt"/>
        <a:ea typeface="+mn-ea"/>
        <a:cs typeface="+mn-cs"/>
      </a:defRPr>
    </a:lvl6pPr>
    <a:lvl7pPr xmlns:a="http://schemas.openxmlformats.org/drawingml/2006/main" marL="2743200" indent="0" algn="l" defTabSz="914400">
      <a:defRPr sz="1800" kern="1200">
        <a:solidFill>
          <a:schemeClr val="tx1"/>
        </a:solidFill>
        <a:latin typeface="+mn-lt"/>
        <a:ea typeface="+mn-ea"/>
        <a:cs typeface="+mn-cs"/>
      </a:defRPr>
    </a:lvl7pPr>
    <a:lvl8pPr xmlns:a="http://schemas.openxmlformats.org/drawingml/2006/main" marL="3200400" indent="0" algn="l" defTabSz="914400">
      <a:defRPr sz="1800" kern="1200">
        <a:solidFill>
          <a:schemeClr val="tx1"/>
        </a:solidFill>
        <a:latin typeface="+mn-lt"/>
        <a:ea typeface="+mn-ea"/>
        <a:cs typeface="+mn-cs"/>
      </a:defRPr>
    </a:lvl8pPr>
    <a:lvl9pPr xmlns:a="http://schemas.openxmlformats.org/drawingml/2006/main" marL="3657600" indent="0" algn="l" defTabSz="914400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p="http://schemas.openxmlformats.org/presentationml/2006/main">
  <p:extLst>
    <p:ext xmlns:p14="http://schemas.microsoft.com/office/powerpoint/2010/main" uri="{E76CE94A-603C-4142-B9EB-6D1370010A27}">
      <p14:discardImageEditData val="0"/>
    </p:ext>
    <p:ext xmlns:p14="http://schemas.microsoft.com/office/powerpoint/2010/main" uri="{D31A062A-798A-4329-ABDD-BBA856620510}">
      <p14:defaultImageDpi val="32767"/>
    </p:ext>
    <p:ext xmlns:p15="http://schemas.microsoft.com/office/powerpoint/2012/main" uri="{FD5EFAAD-0ECE-453E-9831-46B23BE46B34}">
      <p15:chartTrackingRefBased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p="http://schemas.openxmlformats.org/presentationml/2006/main">
  <p:normalViewPr>
    <p:restoredLeft sz="15611"/>
    <p:restoredTop sz="94658"/>
  </p:normalViewPr>
  <p:slideViewPr>
    <p:cSldViewPr snapToGrid="0">
      <p:cViewPr varScale="1">
        <p:scale>
          <a:sx xmlns:a="http://schemas.openxmlformats.org/drawingml/2006/main" n="120" d="100"/>
          <a:sy xmlns:a="http://schemas.openxmlformats.org/drawingml/2006/main" n="120" d="100"/>
        </p:scale>
        <p:origin x="800" y="184"/>
      </p:cViewPr>
      <p:guideLst/>
    </p:cSldViewPr>
  </p:slideViewPr>
  <p:notesTextViewPr>
    <p:cViewPr>
      <p:scale>
        <a:sx xmlns:a="http://schemas.openxmlformats.org/drawingml/2006/main" n="1" d="1"/>
        <a:sy xmlns:a="http://schemas.openxmlformats.org/drawingml/2006/main" n="1" d="1"/>
      </p:scale>
      <p:origin x="0" y="0"/>
    </p:cViewPr>
  </p:notesTextViewPr>
  <p:gridSpacing cx="76200" cy="76200"/>
</p:viewPr>
</file>

<file path=ppt/_rels/presentation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9097ffeecca94653" /><Relationship Type="http://schemas.openxmlformats.org/officeDocument/2006/relationships/theme" Target="/ppt/theme/theme1.xml" Id="R23d2492c454c43db" /><Relationship Type="http://schemas.openxmlformats.org/officeDocument/2006/relationships/notesMaster" Target="/ppt/notesMasters/notesMaster1.xml" Id="R2d09994320cf4d78" /><Relationship Type="http://schemas.openxmlformats.org/officeDocument/2006/relationships/presProps" Target="/ppt/presProps.xml" Id="R35b1984ac5f745b7" /><Relationship Type="http://schemas.openxmlformats.org/officeDocument/2006/relationships/viewProps" Target="/ppt/viewProps.xml" Id="R4447ee0c45574d0d" /><Relationship Type="http://schemas.openxmlformats.org/officeDocument/2006/relationships/tableStyles" Target="/ppt/tableStyles.xml" Id="Ra85d864b21484b17" /><Relationship Type="http://schemas.openxmlformats.org/officeDocument/2006/relationships/slide" Target="/ppt/slides/slide1.xml" Id="R6985212fdac44631" /><Relationship Type="http://schemas.openxmlformats.org/officeDocument/2006/relationships/slide" Target="/ppt/slides/slide2.xml" Id="Rab1b635622d94a57" /><Relationship Type="http://schemas.openxmlformats.org/officeDocument/2006/relationships/slide" Target="/ppt/slides/slide3.xml" Id="Rbab080ddb15c4bda" /><Relationship Type="http://schemas.openxmlformats.org/officeDocument/2006/relationships/slide" Target="/ppt/slides/slide4.xml" Id="R3c43800e09554a7c" /><Relationship Type="http://schemas.openxmlformats.org/officeDocument/2006/relationships/slide" Target="/ppt/slides/slide5.xml" Id="R879fce496594432c" /><Relationship Type="http://schemas.openxmlformats.org/officeDocument/2006/relationships/slide" Target="/ppt/slides/slide6.xml" Id="R55783616cd344a45" /><Relationship Type="http://schemas.openxmlformats.org/officeDocument/2006/relationships/slide" Target="/ppt/slides/slide7.xml" Id="R15c159551df1490a" /><Relationship Type="http://schemas.openxmlformats.org/officeDocument/2006/relationships/slide" Target="/ppt/slides/slide8.xml" Id="R90c4691ca30349df" /><Relationship Type="http://schemas.openxmlformats.org/officeDocument/2006/relationships/slide" Target="/ppt/slides/slide9.xml" Id="R220c63c3ad1044b2" /><Relationship Type="http://schemas.openxmlformats.org/officeDocument/2006/relationships/slide" Target="/ppt/slides/slide10.xml" Id="R4e931e8c3ecf463f" /><Relationship Type="http://schemas.openxmlformats.org/officeDocument/2006/relationships/slide" Target="/ppt/slides/slide11.xml" Id="R7789a5edff9c4dd9" /></Relationships>
</file>

<file path=ppt/notesMasters/_rels/notesMaster1.xml.rels>&#65279;<?xml version="1.0" encoding="utf-8"?><Relationships xmlns="http://schemas.openxmlformats.org/package/2006/relationships"><Relationship Type="http://schemas.openxmlformats.org/officeDocument/2006/relationships/theme" Target="/ppt/notesMasters/theme/theme2.xml" Id="R940b8ac4d1a04bf9" /></Relationships>
</file>

<file path=ppt/notesMasters/notesMaster1.xml><?xml version="1.0" encoding="utf-8"?>
<p:notesMaster xmlns:p="http://schemas.openxmlformats.org/presentationml/2006/main">
  <p:cSld>
    <p:bg>
      <p:bgRef idx="1001">
        <a:schemeClr xmlns:a="http://schemas.openxmlformats.org/drawingml/2006/main" val="bg1"/>
      </p:bgRef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Header Placeholder"/>
          <p:cNvSpPr/>
          <p:nvPr>
            <p:ph type="hdr" sz="quarter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3" name="Date Placeholder"/>
          <p:cNvSpPr/>
          <p:nvPr>
            <p:ph type="dt" sz="quarter" idx="1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Image Placeholder"/>
          <p:cNvSpPr/>
          <p:nvPr>
            <p:ph type="sldImg" idx="2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5" name="Notes Placeholder"/>
          <p:cNvSpPr/>
          <p:nvPr>
            <p:ph type="body" sz="quarter" idx="3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6" name="Footer Placeholder"/>
          <p:cNvSpPr/>
          <p:nvPr>
            <p:ph type="ftr" sz="quarter" idx="4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7" name="Slide Number Placeholder"/>
          <p:cNvSpPr/>
          <p:nvPr>
            <p:ph type="sldNum" sz="quarter" idx="5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 bg1="lt1" tx1="dk1" bg2="lt2" tx2="dk2" accent1="accent1" accent2="accent2" accent3="accent3" accent4="accent4" accent5="accent5" accent6="accent6" hlink="hlink" folHlink="folHlink"/>
  <p:notesStyle>
    <a:lvl1pPr xmlns:a="http://schemas.openxmlformats.org/drawingml/2006/main" marL="0" algn="l" defTabSz="914400" rtl="0" eaLnBrk="1" latinLnBrk="0" hangingPunct="1">
      <a:defRPr sz="1200" kern="1200"/>
    </a:lvl1pPr>
  </p:notesStyle>
</p:notesMaster>
</file>

<file path=ppt/notesMasters/theme/theme2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Calibri Light"/>
        <a:ea typeface="Calibri Light"/>
        <a:cs typeface="Calibri Light"/>
      </a:majorFont>
      <a:minorFont>
        <a:latin typeface="Calibri"/>
        <a:ea typeface="Calibri"/>
        <a:cs typeface="Calibri"/>
      </a:minorFont>
    </a:fontScheme>
    <a:fmtScheme name="ChatGPT">
      <a:fillStyleLst>
        <a:solidFill>
          <a:schemeClr val="phClr"/>
        </a:solidFill>
        <a:solidFill>
          <a:schemeClr val="dk1"/>
        </a:solidFill>
        <a:solidFill>
          <a:schemeClr val="accent1"/>
        </a:soli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ppt/notesSlides/_rels/notesSlide1.xml.rels>&#65279;<?xml version="1.0" encoding="utf-8"?><Relationships xmlns="http://schemas.openxmlformats.org/package/2006/relationships"><Relationship Type="http://schemas.openxmlformats.org/officeDocument/2006/relationships/slide" Target="/ppt/slides/slide1.xml" Id="R5b47b197e7684df1" /><Relationship Type="http://schemas.openxmlformats.org/officeDocument/2006/relationships/notesMaster" Target="/ppt/notesMasters/notesMaster1.xml" Id="R141484e2f90048ea" /></Relationships>
</file>

<file path=ppt/notesSlides/_rels/notesSlide2.xml.rels>&#65279;<?xml version="1.0" encoding="utf-8"?><Relationships xmlns="http://schemas.openxmlformats.org/package/2006/relationships"><Relationship Type="http://schemas.openxmlformats.org/officeDocument/2006/relationships/slide" Target="/ppt/slides/slide2.xml" Id="R2f08872e90ed4125" /><Relationship Type="http://schemas.openxmlformats.org/officeDocument/2006/relationships/notesMaster" Target="/ppt/notesMasters/notesMaster1.xml" Id="R5175022388e44467" /></Relationships>
</file>

<file path=ppt/notesSlides/_rels/notesSlide3.xml.rels>&#65279;<?xml version="1.0" encoding="utf-8"?><Relationships xmlns="http://schemas.openxmlformats.org/package/2006/relationships"><Relationship Type="http://schemas.openxmlformats.org/officeDocument/2006/relationships/slide" Target="/ppt/slides/slide3.xml" Id="Re1ae334bedc94bbc" /><Relationship Type="http://schemas.openxmlformats.org/officeDocument/2006/relationships/notesMaster" Target="/ppt/notesMasters/notesMaster1.xml" Id="Rb382b8fcaf074f6f" /></Relationships>
</file>

<file path=ppt/notesSlides/_rels/notesSlide4.xml.rels>&#65279;<?xml version="1.0" encoding="utf-8"?><Relationships xmlns="http://schemas.openxmlformats.org/package/2006/relationships"><Relationship Type="http://schemas.openxmlformats.org/officeDocument/2006/relationships/slide" Target="/ppt/slides/slide4.xml" Id="Ra62de2fc374d4d17" /><Relationship Type="http://schemas.openxmlformats.org/officeDocument/2006/relationships/notesMaster" Target="/ppt/notesMasters/notesMaster1.xml" Id="Rf42e2ea02ba0422d" /></Relationships>
</file>

<file path=ppt/notesSlides/_rels/notesSlide5.xml.rels>&#65279;<?xml version="1.0" encoding="utf-8"?><Relationships xmlns="http://schemas.openxmlformats.org/package/2006/relationships"><Relationship Type="http://schemas.openxmlformats.org/officeDocument/2006/relationships/slide" Target="/ppt/slides/slide5.xml" Id="R6de58915f2ba4549" /><Relationship Type="http://schemas.openxmlformats.org/officeDocument/2006/relationships/notesMaster" Target="/ppt/notesMasters/notesMaster1.xml" Id="Rd8b78d7572b749eb" /></Relationships>
</file>

<file path=ppt/notesSlides/_rels/notesSlide6.xml.rels>&#65279;<?xml version="1.0" encoding="utf-8"?><Relationships xmlns="http://schemas.openxmlformats.org/package/2006/relationships"><Relationship Type="http://schemas.openxmlformats.org/officeDocument/2006/relationships/slide" Target="/ppt/slides/slide6.xml" Id="R1992cd5a429142a6" /><Relationship Type="http://schemas.openxmlformats.org/officeDocument/2006/relationships/notesMaster" Target="/ppt/notesMasters/notesMaster1.xml" Id="R1783399b83954048" /></Relationships>
</file>

<file path=ppt/notesSlides/_rels/notesSlide7.xml.rels>&#65279;<?xml version="1.0" encoding="utf-8"?><Relationships xmlns="http://schemas.openxmlformats.org/package/2006/relationships"><Relationship Type="http://schemas.openxmlformats.org/officeDocument/2006/relationships/slide" Target="/ppt/slides/slide7.xml" Id="R45b362b226ba4159" /><Relationship Type="http://schemas.openxmlformats.org/officeDocument/2006/relationships/notesMaster" Target="/ppt/notesMasters/notesMaster1.xml" Id="R7a2de127b6aa41f6" /></Relationships>
</file>

<file path=ppt/notesSlides/_rels/notesSlide8.xml.rels>&#65279;<?xml version="1.0" encoding="utf-8"?><Relationships xmlns="http://schemas.openxmlformats.org/package/2006/relationships"><Relationship Type="http://schemas.openxmlformats.org/officeDocument/2006/relationships/slide" Target="/ppt/slides/slide8.xml" Id="Rfee62ba8dfac4478" /><Relationship Type="http://schemas.openxmlformats.org/officeDocument/2006/relationships/notesMaster" Target="/ppt/notesMasters/notesMaster1.xml" Id="R47dbe41c1192441d" /></Relationships>
</file>

<file path=ppt/notesSlides/_rels/notesSlide9.xml.rels>&#65279;<?xml version="1.0" encoding="utf-8"?><Relationships xmlns="http://schemas.openxmlformats.org/package/2006/relationships"><Relationship Type="http://schemas.openxmlformats.org/officeDocument/2006/relationships/slide" Target="/ppt/slides/slide9.xml" Id="R39eb8b57a3c64f87" /><Relationship Type="http://schemas.openxmlformats.org/officeDocument/2006/relationships/notesMaster" Target="/ppt/notesMasters/notesMaster1.xml" Id="Rbd25c94cef654ad9" /></Relationships>
</file>

<file path=ppt/notesSlides/_rels/notesSlide10.xml.rels>&#65279;<?xml version="1.0" encoding="utf-8"?><Relationships xmlns="http://schemas.openxmlformats.org/package/2006/relationships"><Relationship Type="http://schemas.openxmlformats.org/officeDocument/2006/relationships/slide" Target="/ppt/slides/slide10.xml" Id="R17da423bb2744342" /><Relationship Type="http://schemas.openxmlformats.org/officeDocument/2006/relationships/notesMaster" Target="/ppt/notesMasters/notesMaster1.xml" Id="R2dbf2a2d98854be2" /></Relationships>
</file>

<file path=ppt/notesSlides/_rels/notesSlide11.xml.rels>&#65279;<?xml version="1.0" encoding="utf-8"?><Relationships xmlns="http://schemas.openxmlformats.org/package/2006/relationships"><Relationship Type="http://schemas.openxmlformats.org/officeDocument/2006/relationships/slide" Target="/ppt/slides/slide11.xml" Id="Rf579e1e268aa48bd" /><Relationship Type="http://schemas.openxmlformats.org/officeDocument/2006/relationships/notesMaster" Target="/ppt/notesMasters/notesMaster1.xml" Id="R2f89f9e9f7784788" /></Relationships>
</file>

<file path=ppt/notesSlides/notesSlide1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2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3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4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5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6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7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8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9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0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1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slideLayouts/_rels/slideLayout2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c7be2741a8a7424d" /></Relationships>
</file>

<file path=ppt/slideLayouts/slideLayout2.xml><?xml version="1.0" encoding="utf-8"?>
<p:sldLayout xmlns:p="http://schemas.openxmlformats.org/presentationml/2006/main" type="title">
  <p:cSld name="Title Slide">
    <p:spTree>
      <p:nvGrpSpPr>
        <p:cNvPr id="1" name=""/>
        <p:cNvGrpSpPr/>
        <p:nvPr/>
      </p:nvGrpSpPr>
      <p:grpSpPr>
        <a:xfrm xmlns:a="http://schemas.openxmlformats.org/drawingml/2006/main"/>
      </p:grpSpPr>
    </p:spTree>
  </p:cSld>
</p:sldLayout>
</file>

<file path=ppt/slideMasters/_rels/slideMaster1.xml.rels>&#65279;<?xml version="1.0" encoding="utf-8"?><Relationships xmlns="http://schemas.openxmlformats.org/package/2006/relationships"><Relationship Type="http://schemas.openxmlformats.org/officeDocument/2006/relationships/theme" Target="/ppt/theme/theme1.xml" Id="R70cf16f4e96e4bb1" /><Relationship Type="http://schemas.openxmlformats.org/officeDocument/2006/relationships/slideLayout" Target="/ppt/slideLayouts/slideLayout2.xml" Id="Rff20844fa62a452c" /></Relationships>
</file>

<file path=ppt/slideMasters/slideMaster1.xml><?xml version="1.0" encoding="utf-8"?>
<p:sldMaster xmlns:p="http://schemas.openxmlformats.org/presentationml/2006/main">
  <p:cSld name="Master">
    <p:bg>
      <p:bgRef idx="1001">
        <a:schemeClr xmlns:a="http://schemas.openxmlformats.org/drawingml/2006/main" val="bg1"/>
      </p:bgRef>
    </p:bg>
    <p:spTree>
      <p:nvGrpSpPr>
        <p:cNvPr id="1" name=""/>
        <p:cNvGrpSpPr/>
        <p:nvPr/>
      </p:nvGrpSpPr>
      <p:grpSpPr>
        <a:xfrm xmlns:a="http://schemas.openxmlformats.org/drawingml/2006/main"/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xmlns:r="http://schemas.openxmlformats.org/officeDocument/2006/relationships" id="2147483649" r:id="Rff20844fa62a452c"/>
  </p:sldLayoutIdLst>
  <p:txStyles>
    <p:titleStyle>
      <a:lvl1pPr xmlns:a="http://schemas.openxmlformats.org/drawingml/2006/main" algn="l">
        <a:lnSpc>
          <a:spcPct val="90000"/>
        </a:lnSpc>
        <a:spcBef>
          <a:spcPts val="0"/>
        </a:spcBef>
        <a:buNone/>
        <a:defRPr sz="4400">
          <a:solidFill>
            <a:schemeClr val="tx1"/>
          </a:solidFill>
          <a:latin typeface="+mj-lt"/>
          <a:ea typeface="+mj-lt"/>
          <a:cs typeface="+mj-lt"/>
        </a:defRPr>
      </a:lvl1pPr>
    </p:titleStyle>
    <p:bodyStyle>
      <a:lvl1pPr xmlns:a="http://schemas.openxmlformats.org/drawingml/2006/main" marL="228600" indent="-228600" algn="l">
        <a:lnSpc>
          <a:spcPct val="90000"/>
        </a:lnSpc>
        <a:spcBef>
          <a:spcPts val="1000"/>
        </a:spcBef>
        <a:buChar char="•"/>
        <a:defRPr sz="2800">
          <a:solidFill>
            <a:schemeClr val="tx1"/>
          </a:solidFill>
          <a:latin typeface="+mn-lt"/>
          <a:ea typeface="+mn-lt"/>
          <a:cs typeface="+mn-lt"/>
        </a:defRPr>
      </a:lvl1pPr>
      <a:lvl2pPr xmlns:a="http://schemas.openxmlformats.org/drawingml/2006/main" marL="685800" indent="-228600" algn="l">
        <a:lnSpc>
          <a:spcPct val="90000"/>
        </a:lnSpc>
        <a:spcBef>
          <a:spcPts val="500"/>
        </a:spcBef>
        <a:buChar char="•"/>
        <a:defRPr sz="2400">
          <a:solidFill>
            <a:schemeClr val="tx1"/>
          </a:solidFill>
          <a:latin typeface="+mn-lt"/>
          <a:ea typeface="+mn-lt"/>
          <a:cs typeface="+mn-lt"/>
        </a:defRPr>
      </a:lvl2pPr>
      <a:lvl3pPr xmlns:a="http://schemas.openxmlformats.org/drawingml/2006/main" marL="1143000" indent="-228600" algn="l">
        <a:lnSpc>
          <a:spcPct val="90000"/>
        </a:lnSpc>
        <a:spcBef>
          <a:spcPts val="500"/>
        </a:spcBef>
        <a:buChar char="•"/>
        <a:defRPr sz="2000">
          <a:solidFill>
            <a:schemeClr val="tx1"/>
          </a:solidFill>
          <a:latin typeface="+mn-lt"/>
          <a:ea typeface="+mn-lt"/>
          <a:cs typeface="+mn-lt"/>
        </a:defRPr>
      </a:lvl3pPr>
      <a:lvl4pPr xmlns:a="http://schemas.openxmlformats.org/drawingml/2006/main" marL="16002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4pPr>
      <a:lvl5pPr xmlns:a="http://schemas.openxmlformats.org/drawingml/2006/main" marL="20574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5pPr>
      <a:lvl6pPr xmlns:a="http://schemas.openxmlformats.org/drawingml/2006/main" marL="25146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6pPr>
      <a:lvl7pPr xmlns:a="http://schemas.openxmlformats.org/drawingml/2006/main" marL="29718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7pPr>
      <a:lvl8pPr xmlns:a="http://schemas.openxmlformats.org/drawingml/2006/main" marL="34290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8pPr>
      <a:lvl9pPr xmlns:a="http://schemas.openxmlformats.org/drawingml/2006/main" marL="38862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9pPr>
    </p:bodyStyle>
    <p:otherStyle>
      <a:lvl1pPr xmlns:a="http://schemas.openxmlformats.org/drawingml/2006/main" marL="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1pPr>
      <a:lvl2pPr xmlns:a="http://schemas.openxmlformats.org/drawingml/2006/main" marL="4572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2pPr>
      <a:lvl3pPr xmlns:a="http://schemas.openxmlformats.org/drawingml/2006/main" marL="9144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3pPr>
      <a:lvl4pPr xmlns:a="http://schemas.openxmlformats.org/drawingml/2006/main" marL="13716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4pPr>
      <a:lvl5pPr xmlns:a="http://schemas.openxmlformats.org/drawingml/2006/main" marL="18288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5pPr>
      <a:lvl6pPr xmlns:a="http://schemas.openxmlformats.org/drawingml/2006/main" marL="22860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6pPr>
      <a:lvl7pPr xmlns:a="http://schemas.openxmlformats.org/drawingml/2006/main" marL="27432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7pPr>
      <a:lvl8pPr xmlns:a="http://schemas.openxmlformats.org/drawingml/2006/main" marL="32004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8pPr>
      <a:lvl9pPr xmlns:a="http://schemas.openxmlformats.org/drawingml/2006/main" marL="36576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9pPr>
    </p:otherStyle>
  </p:txStyles>
</p:sldMaster>
</file>

<file path=ppt/slides/_rels/slide1.xml.rels>&#65279;<?xml version="1.0" encoding="utf-8"?><Relationships xmlns="http://schemas.openxmlformats.org/package/2006/relationships"><Relationship Type="http://schemas.openxmlformats.org/officeDocument/2006/relationships/slideLayout" Target="/ppt/slideLayouts/slideLayout2.xml" Id="R7aad353445da4e3e" /><Relationship Type="http://schemas.openxmlformats.org/officeDocument/2006/relationships/image" Target="/ppt/media/image.jpeg" Id="Rb11ecbd2529944e7" /><Relationship Type="http://schemas.openxmlformats.org/officeDocument/2006/relationships/notesSlide" Target="/ppt/notesSlides/notesSlide1.xml" Id="Raa6f3bd636784398" /></Relationships>
</file>

<file path=ppt/slides/_rels/slide2.xml.rels>&#65279;<?xml version="1.0" encoding="utf-8"?><Relationships xmlns="http://schemas.openxmlformats.org/package/2006/relationships"><Relationship Type="http://schemas.openxmlformats.org/officeDocument/2006/relationships/slideLayout" Target="/ppt/slideLayouts/slideLayout2.xml" Id="Rfc76a25bb3e64220" /><Relationship Type="http://schemas.openxmlformats.org/officeDocument/2006/relationships/chart" Target="/ppt/slides/charts/chart1.xml" Id="Rc3a4b19f498045e7" /><Relationship Type="http://schemas.openxmlformats.org/officeDocument/2006/relationships/chart" Target="/ppt/slides/charts/chart2.xml" Id="R5f8f8130c6864a81" /><Relationship Type="http://schemas.openxmlformats.org/officeDocument/2006/relationships/notesSlide" Target="/ppt/notesSlides/notesSlide2.xml" Id="Rb2ccfe23915f4cce" /></Relationships>
</file>

<file path=ppt/slides/_rels/slide3.xml.rels>&#65279;<?xml version="1.0" encoding="utf-8"?><Relationships xmlns="http://schemas.openxmlformats.org/package/2006/relationships"><Relationship Type="http://schemas.openxmlformats.org/officeDocument/2006/relationships/slideLayout" Target="/ppt/slideLayouts/slideLayout2.xml" Id="R9478c2e9d1784fb0" /><Relationship Type="http://schemas.openxmlformats.org/officeDocument/2006/relationships/image" Target="/ppt/media/image2.jpeg" Id="R3cfd9576df0240cc" /><Relationship Type="http://schemas.openxmlformats.org/officeDocument/2006/relationships/notesSlide" Target="/ppt/notesSlides/notesSlide3.xml" Id="R38d5a5133c5d4a8b" /></Relationships>
</file>

<file path=ppt/slides/_rels/slide4.xml.rels>&#65279;<?xml version="1.0" encoding="utf-8"?><Relationships xmlns="http://schemas.openxmlformats.org/package/2006/relationships"><Relationship Type="http://schemas.openxmlformats.org/officeDocument/2006/relationships/slideLayout" Target="/ppt/slideLayouts/slideLayout2.xml" Id="R3036d650d1494e42" /><Relationship Type="http://schemas.openxmlformats.org/officeDocument/2006/relationships/notesSlide" Target="/ppt/notesSlides/notesSlide4.xml" Id="Rb1535a146e234838" /></Relationships>
</file>

<file path=ppt/slides/_rels/slide5.xml.rels>&#65279;<?xml version="1.0" encoding="utf-8"?><Relationships xmlns="http://schemas.openxmlformats.org/package/2006/relationships"><Relationship Type="http://schemas.openxmlformats.org/officeDocument/2006/relationships/slideLayout" Target="/ppt/slideLayouts/slideLayout2.xml" Id="R956a3ad6b99344c9" /><Relationship Type="http://schemas.openxmlformats.org/officeDocument/2006/relationships/notesSlide" Target="/ppt/notesSlides/notesSlide5.xml" Id="R4984f0243c754ddd" /></Relationships>
</file>

<file path=ppt/slides/_rels/slide6.xml.rels>&#65279;<?xml version="1.0" encoding="utf-8"?><Relationships xmlns="http://schemas.openxmlformats.org/package/2006/relationships"><Relationship Type="http://schemas.openxmlformats.org/officeDocument/2006/relationships/slideLayout" Target="/ppt/slideLayouts/slideLayout2.xml" Id="R7a210522417f4eed" /><Relationship Type="http://schemas.openxmlformats.org/officeDocument/2006/relationships/notesSlide" Target="/ppt/notesSlides/notesSlide6.xml" Id="R4d59f9263b4e49f0" /></Relationships>
</file>

<file path=ppt/slides/_rels/slide7.xml.rels>&#65279;<?xml version="1.0" encoding="utf-8"?><Relationships xmlns="http://schemas.openxmlformats.org/package/2006/relationships"><Relationship Type="http://schemas.openxmlformats.org/officeDocument/2006/relationships/slideLayout" Target="/ppt/slideLayouts/slideLayout2.xml" Id="R2cf1084215e94b60" /><Relationship Type="http://schemas.openxmlformats.org/officeDocument/2006/relationships/notesSlide" Target="/ppt/notesSlides/notesSlide7.xml" Id="R19e95a413e4c4ba4" /></Relationships>
</file>

<file path=ppt/slides/_rels/slide8.xml.rels>&#65279;<?xml version="1.0" encoding="utf-8"?><Relationships xmlns="http://schemas.openxmlformats.org/package/2006/relationships"><Relationship Type="http://schemas.openxmlformats.org/officeDocument/2006/relationships/slideLayout" Target="/ppt/slideLayouts/slideLayout2.xml" Id="Rbefd78ea98dd4ecf" /><Relationship Type="http://schemas.openxmlformats.org/officeDocument/2006/relationships/image" Target="/ppt/media/image3.jpeg" Id="Re73b5203218f4f6f" /><Relationship Type="http://schemas.openxmlformats.org/officeDocument/2006/relationships/notesSlide" Target="/ppt/notesSlides/notesSlide8.xml" Id="Rd8cc718ddb2d4d21" /></Relationships>
</file>

<file path=ppt/slides/_rels/slide9.xml.rels>&#65279;<?xml version="1.0" encoding="utf-8"?><Relationships xmlns="http://schemas.openxmlformats.org/package/2006/relationships"><Relationship Type="http://schemas.openxmlformats.org/officeDocument/2006/relationships/slideLayout" Target="/ppt/slideLayouts/slideLayout2.xml" Id="R0d4a6428e9034724" /><Relationship Type="http://schemas.openxmlformats.org/officeDocument/2006/relationships/notesSlide" Target="/ppt/notesSlides/notesSlide9.xml" Id="R356a7f31b20f4e01" /></Relationships>
</file>

<file path=ppt/slides/_rels/slide10.xml.rels>&#65279;<?xml version="1.0" encoding="utf-8"?><Relationships xmlns="http://schemas.openxmlformats.org/package/2006/relationships"><Relationship Type="http://schemas.openxmlformats.org/officeDocument/2006/relationships/slideLayout" Target="/ppt/slideLayouts/slideLayout2.xml" Id="R677eb6cbe3964308" /><Relationship Type="http://schemas.openxmlformats.org/officeDocument/2006/relationships/notesSlide" Target="/ppt/notesSlides/notesSlide10.xml" Id="Rdf81dbbd17c6497e" /></Relationships>
</file>

<file path=ppt/slides/_rels/slide11.xml.rels>&#65279;<?xml version="1.0" encoding="utf-8"?><Relationships xmlns="http://schemas.openxmlformats.org/package/2006/relationships"><Relationship Type="http://schemas.openxmlformats.org/officeDocument/2006/relationships/slideLayout" Target="/ppt/slideLayouts/slideLayout2.xml" Id="Rb2b5ad43aabf4f0a" /><Relationship Type="http://schemas.openxmlformats.org/officeDocument/2006/relationships/notesSlide" Target="/ppt/notesSlides/notesSlide11.xml" Id="R4dc444f45b18483c" /></Relationships>
</file>

<file path=ppt/slides/charts/chart1.xml><?xml version="1.0" encoding="utf-8"?>
<c:chartSpace xmlns:c="http://schemas.openxmlformats.org/drawingml/2006/chart">
  <c:lang val="en-US"/>
  <c:roundedCorners val="0"/>
  <c:chart>
    <c:title>
      <c:tx>
        <c:rich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rPr/>
              <a:t>Nombre de clips par personne et classe</a:t>
            </a:r>
          </a:p>
        </c:rich>
      </c:tx>
      <c:overlay val="0"/>
    </c:title>
    <c:autoTitleDeleted val="0"/>
    <c:plotArea>
      <c:layout/>
      <c:barChart>
        <c:barDir val="col"/>
        <c:varyColors val="0"/>
        <c:ser>
          <c:idx val="0"/>
          <c:order val="0"/>
          <c:tx>
            <c:v>safe</c:v>
          </c:tx>
          <c:cat>
            <c:strLit>
              <c:ptCount val="2"/>
              <c:pt idx="0">
                <c:v>ilyas</c:v>
              </c:pt>
              <c:pt idx="1">
                <c:v>zaayd</c:v>
              </c:pt>
            </c:strLit>
          </c:cat>
          <c:val>
            <c:numLit>
              <c:formatCode/>
              <c:ptCount val="2"/>
              <c:pt idx="0">
                <c:v>4</c:v>
              </c:pt>
              <c:pt idx="1">
                <c:v>5</c:v>
              </c:pt>
            </c:numLit>
          </c:val>
        </c:ser>
        <c:ser>
          <c:idx val="1"/>
          <c:order val="1"/>
          <c:tx>
            <c:v>unsafe</c:v>
          </c:tx>
          <c:cat>
            <c:strLit>
              <c:ptCount val="2"/>
              <c:pt idx="0">
                <c:v>ilyas</c:v>
              </c:pt>
              <c:pt idx="1">
                <c:v>zaayd</c:v>
              </c:pt>
            </c:strLit>
          </c:cat>
          <c:val>
            <c:numLit>
              <c:formatCode/>
              <c:ptCount val="2"/>
              <c:pt idx="0">
                <c:v>42</c:v>
              </c:pt>
              <c:pt idx="1">
                <c:v>22</c:v>
              </c:pt>
            </c:numLit>
          </c:val>
        </c:ser>
        <c:dLbls>
          <c:showLegendKey val="0"/>
          <c:showVal val="0"/>
          <c:showCatName val="0"/>
          <c:showSerName val="0"/>
          <c:showPercent val="0"/>
          <c:showBubbleSize val="0"/>
          <c:showLeaderLines val="0"/>
        </c:dLbls>
        <c:axId val="48650112"/>
        <c:axId val="48672768"/>
      </c:barChart>
      <c:catAx>
        <c:axId val="48650112"/>
        <c:scaling>
          <c:orientation val="minMax"/>
        </c:scaling>
        <c:delete val="0"/>
        <c:axPos val="b"/>
        <c:numFmt formatCode=""/>
        <c:majorTickMark val="none"/>
        <c:minorTickMark val="none"/>
        <c:spPr>
          <a:ln xmlns:a="http://schemas.openxmlformats.org/drawingml/2006/main" w="9525">
            <a:solidFill>
              <a:srgbClr val="D4D4D4"/>
            </a:solidFill>
            <a:prstDash val="solid"/>
          </a:ln>
        </c:spPr>
        <c:txPr>
          <a:bodyPr xmlns:a="http://schemas.openxmlformats.org/drawingml/2006/main" anchorCtr="1"/>
          <a:lstStyle xmlns:a="http://schemas.openxmlformats.org/drawingml/2006/main"/>
          <a:p xmlns:a="http://schemas.openxmlformats.org/drawingml/2006/main">
            <a:pPr>
              <a:defRPr>
                <a:solidFill>
                  <a:srgbClr val="666666"/>
                </a:solidFill>
              </a:defRPr>
            </a:pPr>
          </a:p>
        </c:txPr>
        <c:crossAx val="48672768"/>
        <c:crosses val="autoZero"/>
        <c:lblAlgn val="ctr"/>
        <c:lblOffset val="100"/>
        <c:noMultiLvlLbl val="0"/>
      </c:catAx>
      <c:valAx>
        <c:axId val="48672768"/>
        <c:scaling>
          <c:orientation val="minMax"/>
        </c:scaling>
        <c:delete val="1"/>
        <c:axPos val="l"/>
        <c:numFmt formatCode=""/>
        <c:majorTickMark val="none"/>
        <c:minorTickMark val="none"/>
        <c:spPr>
          <a:ln xmlns:a="http://schemas.openxmlformats.org/drawingml/2006/main" w="9525">
            <a:solidFill>
              <a:srgbClr val="D4D4D4"/>
            </a:solidFill>
            <a:prstDash val="solid"/>
          </a:ln>
        </c:spPr>
        <c:txPr>
          <a:bodyPr xmlns:a="http://schemas.openxmlformats.org/drawingml/2006/main" anchorCtr="1"/>
          <a:lstStyle xmlns:a="http://schemas.openxmlformats.org/drawingml/2006/main"/>
          <a:p xmlns:a="http://schemas.openxmlformats.org/drawingml/2006/main">
            <a:pPr>
              <a:defRPr>
                <a:solidFill>
                  <a:srgbClr val="666666"/>
                </a:solidFill>
              </a:defRPr>
            </a:pPr>
          </a:p>
        </c:txPr>
        <c:crossAx val="48650112"/>
        <c:crosses val="autoZero"/>
        <c:crossBetween val="between"/>
      </c:valAx>
    </c:plotArea>
    <c:legend>
      <c:legendPos val="b"/>
      <c:overlay val="0"/>
    </c:legend>
    <c:plotVisOnly val="1"/>
  </c:chart>
</c:chartSpace>
</file>

<file path=ppt/slides/charts/chart2.xml><?xml version="1.0" encoding="utf-8"?>
<c:chartSpace xmlns:c="http://schemas.openxmlformats.org/drawingml/2006/chart">
  <c:lang val="en-US"/>
  <c:roundedCorners val="0"/>
  <c:chart>
    <c:title>
      <c:tx>
        <c:rich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rPr/>
              <a:t>Durée moyenne des clips</a:t>
            </a:r>
          </a:p>
        </c:rich>
      </c:tx>
      <c:overlay val="0"/>
    </c:title>
    <c:autoTitleDeleted val="0"/>
    <c:plotArea>
      <c:layout/>
      <c:barChart>
        <c:barDir val="col"/>
        <c:varyColors val="0"/>
        <c:ser>
          <c:idx val="0"/>
          <c:order val="0"/>
          <c:tx>
            <c:v>secondes</c:v>
          </c:tx>
          <c:cat>
            <c:strLit>
              <c:ptCount val="2"/>
              <c:pt idx="0">
                <c:v>safe</c:v>
              </c:pt>
              <c:pt idx="1">
                <c:v>unsafe</c:v>
              </c:pt>
            </c:strLit>
          </c:cat>
          <c:val>
            <c:numLit>
              <c:formatCode/>
              <c:ptCount val="2"/>
              <c:pt idx="0">
                <c:v>42.9</c:v>
              </c:pt>
              <c:pt idx="1">
                <c:v>3.8</c:v>
              </c:pt>
            </c:numLit>
          </c:val>
        </c:ser>
        <c:dLbls>
          <c:showLegendKey val="0"/>
          <c:showVal val="0"/>
          <c:showCatName val="0"/>
          <c:showSerName val="0"/>
          <c:showPercent val="0"/>
          <c:showBubbleSize val="0"/>
          <c:showLeaderLines val="0"/>
        </c:dLbls>
        <c:axId val="48650112"/>
        <c:axId val="48672768"/>
      </c:barChart>
      <c:catAx>
        <c:axId val="48650112"/>
        <c:scaling>
          <c:orientation val="minMax"/>
        </c:scaling>
        <c:delete val="0"/>
        <c:axPos val="b"/>
        <c:numFmt formatCode=""/>
        <c:majorTickMark val="none"/>
        <c:minorTickMark val="none"/>
        <c:spPr>
          <a:ln xmlns:a="http://schemas.openxmlformats.org/drawingml/2006/main" w="9525">
            <a:solidFill>
              <a:srgbClr val="D4D4D4"/>
            </a:solidFill>
            <a:prstDash val="solid"/>
          </a:ln>
        </c:spPr>
        <c:txPr>
          <a:bodyPr xmlns:a="http://schemas.openxmlformats.org/drawingml/2006/main" anchorCtr="1"/>
          <a:lstStyle xmlns:a="http://schemas.openxmlformats.org/drawingml/2006/main"/>
          <a:p xmlns:a="http://schemas.openxmlformats.org/drawingml/2006/main">
            <a:pPr>
              <a:defRPr>
                <a:solidFill>
                  <a:srgbClr val="666666"/>
                </a:solidFill>
              </a:defRPr>
            </a:pPr>
          </a:p>
        </c:txPr>
        <c:crossAx val="48672768"/>
        <c:crosses val="autoZero"/>
        <c:lblAlgn val="ctr"/>
        <c:lblOffset val="100"/>
        <c:noMultiLvlLbl val="0"/>
      </c:catAx>
      <c:valAx>
        <c:axId val="48672768"/>
        <c:scaling>
          <c:orientation val="minMax"/>
        </c:scaling>
        <c:delete val="1"/>
        <c:axPos val="l"/>
        <c:numFmt formatCode=""/>
        <c:majorTickMark val="none"/>
        <c:minorTickMark val="none"/>
        <c:spPr>
          <a:ln xmlns:a="http://schemas.openxmlformats.org/drawingml/2006/main" w="9525">
            <a:solidFill>
              <a:srgbClr val="D4D4D4"/>
            </a:solidFill>
            <a:prstDash val="solid"/>
          </a:ln>
        </c:spPr>
        <c:txPr>
          <a:bodyPr xmlns:a="http://schemas.openxmlformats.org/drawingml/2006/main" anchorCtr="1"/>
          <a:lstStyle xmlns:a="http://schemas.openxmlformats.org/drawingml/2006/main"/>
          <a:p xmlns:a="http://schemas.openxmlformats.org/drawingml/2006/main">
            <a:pPr>
              <a:defRPr>
                <a:solidFill>
                  <a:srgbClr val="666666"/>
                </a:solidFill>
              </a:defRPr>
            </a:pPr>
          </a:p>
        </c:txPr>
        <c:crossAx val="48650112"/>
        <c:crosses val="autoZero"/>
        <c:crossBetween val="between"/>
      </c:valAx>
    </c:plotArea>
    <c:legend>
      <c:legendPos val="b"/>
      <c:overlay val="0"/>
    </c:legend>
    <c:plotVisOnly val="1"/>
  </c:chart>
</c:chartSpace>
</file>

<file path=ppt/slides/slide1.xml><?xml version="1.0" encoding="utf-8"?>
<p:sld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" name="background">
            <a:extLst xmlns:a="http://schemas.openxmlformats.org/drawingml/2006/main">
              <a:ext uri="{FF2B5EF4-FFF2-40B4-BE49-F238E27FC236}">
                <a16:creationId xmlns:a16="http://schemas.microsoft.com/office/drawing/2014/main" id="{830BB51E-DF4E-4D2D-845D-441783A9496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8288000" cy="10287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7F8FA"/>
          </a:solidFill>
        </p:spPr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003ABCCA-0A0C-433B-9443-FAFA2A4D476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3900" y="628650"/>
            <a:ext cx="640842" cy="358140"/>
          </a:xfrm>
          <a:prstGeom xmlns:a="http://schemas.openxmlformats.org/drawingml/2006/main" prst="roundRect">
            <a:avLst>
              <a:gd name="adj" fmla="val 50000"/>
            </a:avLst>
          </a:prstGeom>
          <a:solidFill xmlns:a="http://schemas.openxmlformats.org/drawingml/2006/main">
            <a:srgbClr val="1663FF"/>
          </a:solidFill>
        </p:spPr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DA0E88E5-C6E9-47B3-AD60-31DC2D3B2FD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95350" y="704850"/>
            <a:ext cx="304800" cy="20955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/>
          <a:lstStyle xmlns:a="http://schemas.openxmlformats.org/drawingml/2006/main"/>
          <a:p xmlns:a="http://schemas.openxmlformats.org/drawingml/2006/main">
            <a:pPr>
              <a:defRPr sz="1350" b="1">
                <a:solidFill>
                  <a:srgbClr val="FFFFFF"/>
                </a:solidFill>
              </a:defRPr>
            </a:pPr>
            <a:r>
              <a:rPr sz="1350" b="1">
                <a:solidFill>
                  <a:srgbClr val="FFFFFF"/>
                </a:solidFill>
              </a:rPr>
              <a:t>POC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852F4938-ED48-4C97-9616-4F57F2688C8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479042" y="628650"/>
            <a:ext cx="1555052" cy="358140"/>
          </a:xfrm>
          <a:prstGeom xmlns:a="http://schemas.openxmlformats.org/drawingml/2006/main" prst="roundRect">
            <a:avLst>
              <a:gd name="adj" fmla="val 50000"/>
            </a:avLst>
          </a:prstGeom>
          <a:solidFill xmlns:a="http://schemas.openxmlformats.org/drawingml/2006/main">
            <a:srgbClr val="172033"/>
          </a:solidFill>
        </p:spPr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76216646-37B4-4CDE-9F87-025A4CC705C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657350" y="704850"/>
            <a:ext cx="1219200" cy="20955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/>
          <a:lstStyle xmlns:a="http://schemas.openxmlformats.org/drawingml/2006/main"/>
          <a:p xmlns:a="http://schemas.openxmlformats.org/drawingml/2006/main">
            <a:pPr>
              <a:defRPr sz="1350" b="1">
                <a:solidFill>
                  <a:srgbClr val="FFFFFF"/>
                </a:solidFill>
              </a:defRPr>
            </a:pPr>
            <a:r>
              <a:rPr sz="1350" b="1">
                <a:solidFill>
                  <a:srgbClr val="FFFFFF"/>
                </a:solidFill>
              </a:rPr>
              <a:t>sécurité machine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C0855E05-7AA3-41E7-AFC2-C9017A3A5CF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3900" y="1238250"/>
            <a:ext cx="8324850" cy="165735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/>
          <a:lstStyle xmlns:a="http://schemas.openxmlformats.org/drawingml/2006/main"/>
          <a:p xmlns:a="http://schemas.openxmlformats.org/drawingml/2006/main">
            <a:pPr>
              <a:lnSpc>
                <a:spcPct val="86000"/>
              </a:lnSpc>
              <a:buNone/>
              <a:defRPr sz="6300" b="1">
                <a:solidFill>
                  <a:srgbClr val="111827"/>
                </a:solidFill>
              </a:defRPr>
            </a:pPr>
            <a:r>
              <a:rPr sz="6300" b="1">
                <a:solidFill>
                  <a:srgbClr val="111827"/>
                </a:solidFill>
              </a:rPr>
              <a:t>Collecte de données &amp; architecture IA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A6D19C3C-B47B-46D2-88DF-D3F6F58E910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3900" y="3124200"/>
            <a:ext cx="7448550" cy="108585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/>
          <a:lstStyle xmlns:a="http://schemas.openxmlformats.org/drawingml/2006/main"/>
          <a:p xmlns:a="http://schemas.openxmlformats.org/drawingml/2006/main">
            <a:pPr>
              <a:lnSpc>
                <a:spcPct val="108000"/>
              </a:lnSpc>
              <a:buNone/>
              <a:defRPr sz="2175">
                <a:solidFill>
                  <a:srgbClr val="596273"/>
                </a:solidFill>
              </a:defRPr>
            </a:pPr>
            <a:r>
              <a:rPr sz="2175">
                <a:solidFill>
                  <a:srgbClr val="596273"/>
                </a:solidFill>
              </a:rPr>
              <a:t>Objectif: construire un dataset exploitable pour prédire l’approche dangereuse de la zone machine, mesurer l’attention et contrôler le col bleu.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78ACB1B4-646E-4B8B-B124-D731EE8FFDB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3900" y="8705850"/>
            <a:ext cx="4000500" cy="66675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/>
          <a:lstStyle xmlns:a="http://schemas.openxmlformats.org/drawingml/2006/main"/>
          <a:p xmlns:a="http://schemas.openxmlformats.org/drawingml/2006/main">
            <a:pPr>
              <a:defRPr sz="4350" b="1">
                <a:solidFill>
                  <a:srgbClr val="1663FF"/>
                </a:solidFill>
              </a:defRPr>
            </a:pPr>
            <a:r>
              <a:rPr sz="4350" b="1">
                <a:solidFill>
                  <a:srgbClr val="1663FF"/>
                </a:solidFill>
              </a:rPr>
              <a:t>73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89F595AC-05DB-4766-B103-AB4973DDC90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3900" y="9429750"/>
            <a:ext cx="4000500" cy="2286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/>
          <a:lstStyle xmlns:a="http://schemas.openxmlformats.org/drawingml/2006/main"/>
          <a:p xmlns:a="http://schemas.openxmlformats.org/drawingml/2006/main">
            <a:pPr>
              <a:defRPr sz="1500">
                <a:solidFill>
                  <a:srgbClr val="596273"/>
                </a:solidFill>
              </a:defRPr>
            </a:pPr>
            <a:r>
              <a:rPr sz="1500">
                <a:solidFill>
                  <a:srgbClr val="596273"/>
                </a:solidFill>
              </a:rPr>
              <a:t>vidéos déjà capturées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3CAEE1E2-A9C8-4CE5-BC50-D90D0C7F4FE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048250" y="8705850"/>
            <a:ext cx="4000500" cy="66675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/>
          <a:lstStyle xmlns:a="http://schemas.openxmlformats.org/drawingml/2006/main"/>
          <a:p xmlns:a="http://schemas.openxmlformats.org/drawingml/2006/main">
            <a:pPr>
              <a:defRPr sz="4350" b="1">
                <a:solidFill>
                  <a:srgbClr val="178A5B"/>
                </a:solidFill>
              </a:defRPr>
            </a:pPr>
            <a:r>
              <a:rPr sz="4350" b="1">
                <a:solidFill>
                  <a:srgbClr val="178A5B"/>
                </a:solidFill>
              </a:rPr>
              <a:t>10,4 min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CE500EB2-2564-4D09-81EE-81F9D2F9D5D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048250" y="9429750"/>
            <a:ext cx="4000500" cy="2286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/>
          <a:lstStyle xmlns:a="http://schemas.openxmlformats.org/drawingml/2006/main"/>
          <a:p xmlns:a="http://schemas.openxmlformats.org/drawingml/2006/main">
            <a:pPr>
              <a:defRPr sz="1500">
                <a:solidFill>
                  <a:srgbClr val="596273"/>
                </a:solidFill>
              </a:defRPr>
            </a:pPr>
            <a:r>
              <a:rPr sz="1500">
                <a:solidFill>
                  <a:srgbClr val="596273"/>
                </a:solidFill>
              </a:rPr>
              <a:t>données brutes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82C03D6B-2702-4F21-B0A6-3120B3075FE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564434" y="628650"/>
            <a:ext cx="7999667" cy="9029700"/>
          </a:xfrm>
          <a:prstGeom xmlns:a="http://schemas.openxmlformats.org/drawingml/2006/main" prst="roundRect">
            <a:avLst>
              <a:gd name="adj" fmla="val 953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9E0E7"/>
            </a:solidFill>
            <a:prstDash val="solid"/>
          </a:ln>
        </p:spPr>
      </p:sp>
      <p:pic>
        <p:nvPicPr>
          <p:cNvPr id="13" name="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b11ecbd2529944e7"/>
          <a:srcRect xmlns:a="http://schemas.openxmlformats.org/drawingml/2006/main" l="2893" t="0" r="2893" b="0"/>
          <a:stretch xmlns:a="http://schemas.openxmlformats.org/drawingml/2006/main">
            <a:fillRect l="0" t="0" r="0" b="0"/>
          </a:stretch>
        </p:blipFill>
        <p:spPr>
          <a:xfrm xmlns:a="http://schemas.openxmlformats.org/drawingml/2006/main">
            <a:off x="9831133" y="895350"/>
            <a:ext cx="7466267" cy="3962400"/>
          </a:xfrm>
          <a:prstGeom xmlns:a="http://schemas.openxmlformats.org/drawingml/2006/main" prst="rect">
            <a:avLst/>
          </a:prstGeom>
        </p:spPr>
      </p:pic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4FB2786A-830E-4047-9CB9-5F941ED6A19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829800" y="5257800"/>
            <a:ext cx="171450" cy="171450"/>
          </a:xfrm>
          <a:prstGeom xmlns:a="http://schemas.openxmlformats.org/drawingml/2006/main" prst="roundRect">
            <a:avLst>
              <a:gd name="adj" fmla="val 50000"/>
            </a:avLst>
          </a:prstGeom>
          <a:solidFill xmlns:a="http://schemas.openxmlformats.org/drawingml/2006/main">
            <a:srgbClr val="D43F3A"/>
          </a:solidFill>
        </p:spPr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1A23FCCC-C2B2-466B-8B14-C013B0DBCD6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153650" y="5067300"/>
            <a:ext cx="7143750" cy="5334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/>
          <a:lstStyle xmlns:a="http://schemas.openxmlformats.org/drawingml/2006/main"/>
          <a:p xmlns:a="http://schemas.openxmlformats.org/drawingml/2006/main">
            <a:pPr>
              <a:defRPr sz="1800" b="1">
                <a:solidFill>
                  <a:srgbClr val="111827"/>
                </a:solidFill>
              </a:defRPr>
            </a:pPr>
            <a:r>
              <a:rPr sz="1800" b="1">
                <a:solidFill>
                  <a:srgbClr val="111827"/>
                </a:solidFill>
              </a:rPr>
              <a:t>L’événement critique dure &lt; 1 seconde: la main entre dans le volume dangereux.</a:t>
            </a:r>
          </a:p>
        </p:txBody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A4FF1D88-390F-4EBA-8DD3-E7AE16076DF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831133" y="5829300"/>
            <a:ext cx="2412556" cy="876300"/>
          </a:xfrm>
          <a:prstGeom xmlns:a="http://schemas.openxmlformats.org/drawingml/2006/main" prst="roundRect">
            <a:avLst>
              <a:gd name="adj" fmla="val 8696"/>
            </a:avLst>
          </a:prstGeom>
          <a:solidFill xmlns:a="http://schemas.openxmlformats.org/drawingml/2006/main">
            <a:srgbClr val="E8F7EF"/>
          </a:solidFill>
          <a:ln xmlns:a="http://schemas.openxmlformats.org/drawingml/2006/main" w="9525">
            <a:solidFill>
              <a:srgbClr val="BEE8D2"/>
            </a:solidFill>
            <a:prstDash val="solid"/>
          </a:ln>
        </p:spPr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A067146D-AF51-432B-B28C-BB487EFE7E0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001250" y="5962650"/>
            <a:ext cx="2076450" cy="2667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/>
          <a:lstStyle xmlns:a="http://schemas.openxmlformats.org/drawingml/2006/main"/>
          <a:p xmlns:a="http://schemas.openxmlformats.org/drawingml/2006/main">
            <a:pPr>
              <a:defRPr sz="1650" b="1">
                <a:solidFill>
                  <a:srgbClr val="178A5B"/>
                </a:solidFill>
              </a:defRPr>
            </a:pPr>
            <a:r>
              <a:rPr sz="1650" b="1">
                <a:solidFill>
                  <a:srgbClr val="178A5B"/>
                </a:solidFill>
              </a:rPr>
              <a:t>contexte</a:t>
            </a:r>
          </a:p>
        </p:txBody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6A0FF6D2-9762-4631-ADF3-39BBA92BBE0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357989" y="5829300"/>
            <a:ext cx="2412556" cy="876300"/>
          </a:xfrm>
          <a:prstGeom xmlns:a="http://schemas.openxmlformats.org/drawingml/2006/main" prst="roundRect">
            <a:avLst>
              <a:gd name="adj" fmla="val 8696"/>
            </a:avLst>
          </a:prstGeom>
          <a:solidFill xmlns:a="http://schemas.openxmlformats.org/drawingml/2006/main">
            <a:srgbClr val="FFF5D9"/>
          </a:solidFill>
          <a:ln xmlns:a="http://schemas.openxmlformats.org/drawingml/2006/main" w="9525">
            <a:solidFill>
              <a:srgbClr val="F3D88B"/>
            </a:solidFill>
            <a:prstDash val="solid"/>
          </a:ln>
        </p:spPr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C140845B-4DEB-405A-AECF-7259795E110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534900" y="5962650"/>
            <a:ext cx="2076450" cy="2667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/>
          <a:lstStyle xmlns:a="http://schemas.openxmlformats.org/drawingml/2006/main"/>
          <a:p xmlns:a="http://schemas.openxmlformats.org/drawingml/2006/main">
            <a:pPr>
              <a:defRPr sz="1650" b="1">
                <a:solidFill>
                  <a:srgbClr val="E5A11A"/>
                </a:solidFill>
              </a:defRPr>
            </a:pPr>
            <a:r>
              <a:rPr sz="1650" b="1">
                <a:solidFill>
                  <a:srgbClr val="E5A11A"/>
                </a:solidFill>
              </a:rPr>
              <a:t>approche</a:t>
            </a:r>
          </a:p>
        </p:txBody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39BB80E4-6F87-4B6B-8D3B-430A1EF82B6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4884844" y="5829300"/>
            <a:ext cx="2412556" cy="876300"/>
          </a:xfrm>
          <a:prstGeom xmlns:a="http://schemas.openxmlformats.org/drawingml/2006/main" prst="roundRect">
            <a:avLst>
              <a:gd name="adj" fmla="val 8696"/>
            </a:avLst>
          </a:prstGeom>
          <a:solidFill xmlns:a="http://schemas.openxmlformats.org/drawingml/2006/main">
            <a:srgbClr val="FDEAE9"/>
          </a:solidFill>
          <a:ln xmlns:a="http://schemas.openxmlformats.org/drawingml/2006/main" w="9525">
            <a:solidFill>
              <a:srgbClr val="F2B9B6"/>
            </a:solidFill>
            <a:prstDash val="solid"/>
          </a:ln>
        </p:spPr>
      </p:sp>
      <p:sp>
        <p:nv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F7EF497D-3977-4C7B-85BF-55F3B12CFBF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5049500" y="5962650"/>
            <a:ext cx="2076450" cy="2667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/>
          <a:lstStyle xmlns:a="http://schemas.openxmlformats.org/drawingml/2006/main"/>
          <a:p xmlns:a="http://schemas.openxmlformats.org/drawingml/2006/main">
            <a:pPr>
              <a:defRPr sz="1650" b="1">
                <a:solidFill>
                  <a:srgbClr val="D43F3A"/>
                </a:solidFill>
              </a:defRPr>
            </a:pPr>
            <a:r>
              <a:rPr sz="1650" b="1">
                <a:solidFill>
                  <a:srgbClr val="D43F3A"/>
                </a:solidFill>
              </a:rPr>
              <a:t>entrée zone</a:t>
            </a:r>
          </a:p>
        </p:txBody>
      </p:sp>
    </p:spTree>
    <p:extLst>
      <p:ext uri="{BB962C8B-B14F-4D97-AF65-F5344CB8AC3E}">
        <p14:creationId xmlns:p14="http://schemas.microsoft.com/office/powerpoint/2010/main" val="1505843601"/>
      </p:ext>
    </p:extLst>
  </p:cSld>
</p:sld>
</file>

<file path=ppt/slides/slide2.xml><?xml version="1.0" encoding="utf-8"?>
<p:sld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" name="background">
            <a:extLst xmlns:a="http://schemas.openxmlformats.org/drawingml/2006/main">
              <a:ext uri="{FF2B5EF4-FFF2-40B4-BE49-F238E27FC236}">
                <a16:creationId xmlns:a16="http://schemas.microsoft.com/office/drawing/2014/main" id="{BFD8C736-9A72-43EB-A42C-E1262659C56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8288000" cy="10287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7F8FA"/>
          </a:solidFill>
        </p:spPr>
      </p:sp>
      <p:sp>
        <p:nvSpPr>
          <p:cNvPr id="2" name="slide-title">
            <a:extLst xmlns:a="http://schemas.openxmlformats.org/drawingml/2006/main">
              <a:ext uri="{FF2B5EF4-FFF2-40B4-BE49-F238E27FC236}">
                <a16:creationId xmlns:a16="http://schemas.microsoft.com/office/drawing/2014/main" id="{5B0C3409-59ED-4189-A617-EA570BE496E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04850" y="552450"/>
            <a:ext cx="16878300" cy="6096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/>
          <a:lstStyle xmlns:a="http://schemas.openxmlformats.org/drawingml/2006/main"/>
          <a:p xmlns:a="http://schemas.openxmlformats.org/drawingml/2006/main">
            <a:pPr>
              <a:lnSpc>
                <a:spcPct val="90000"/>
              </a:lnSpc>
              <a:buNone/>
              <a:defRPr sz="4350" b="1">
                <a:solidFill>
                  <a:srgbClr val="111827"/>
                </a:solidFill>
              </a:defRPr>
            </a:pPr>
            <a:r>
              <a:rPr sz="4350" b="1">
                <a:solidFill>
                  <a:srgbClr val="111827"/>
                </a:solidFill>
              </a:rPr>
              <a:t>État actuel de la collecte</a:t>
            </a:r>
          </a:p>
        </p:txBody>
      </p:sp>
      <p:sp>
        <p:nvSpPr>
          <p:cNvPr id="3" name="slide-subtitle">
            <a:extLst xmlns:a="http://schemas.openxmlformats.org/drawingml/2006/main">
              <a:ext uri="{FF2B5EF4-FFF2-40B4-BE49-F238E27FC236}">
                <a16:creationId xmlns:a16="http://schemas.microsoft.com/office/drawing/2014/main" id="{2B785904-F148-4D4D-B454-03D607957B7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04850" y="1276350"/>
            <a:ext cx="8763000" cy="32385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/>
          <a:lstStyle xmlns:a="http://schemas.openxmlformats.org/drawingml/2006/main"/>
          <a:p xmlns:a="http://schemas.openxmlformats.org/drawingml/2006/main">
            <a:pPr>
              <a:lnSpc>
                <a:spcPct val="108000"/>
              </a:lnSpc>
              <a:buNone/>
              <a:defRPr sz="1875">
                <a:solidFill>
                  <a:srgbClr val="596273"/>
                </a:solidFill>
              </a:defRPr>
            </a:pPr>
            <a:r>
              <a:rPr sz="1875">
                <a:solidFill>
                  <a:srgbClr val="596273"/>
                </a:solidFill>
              </a:rPr>
              <a:t>Les données existent, mais la prochaine valeur vient du nettoyage et du labelling temporel.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89DF7122-118C-4307-9108-5AD23381773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04850" y="1924050"/>
            <a:ext cx="3352800" cy="66675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/>
          <a:lstStyle xmlns:a="http://schemas.openxmlformats.org/drawingml/2006/main"/>
          <a:p xmlns:a="http://schemas.openxmlformats.org/drawingml/2006/main">
            <a:pPr>
              <a:defRPr sz="4350" b="1">
                <a:solidFill>
                  <a:srgbClr val="1663FF"/>
                </a:solidFill>
              </a:defRPr>
            </a:pPr>
            <a:r>
              <a:rPr sz="4350" b="1">
                <a:solidFill>
                  <a:srgbClr val="1663FF"/>
                </a:solidFill>
              </a:rPr>
              <a:t>73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5D612742-2F45-4B3A-9BA7-62BAAF12FB1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04850" y="2628900"/>
            <a:ext cx="3352800" cy="2286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/>
          <a:lstStyle xmlns:a="http://schemas.openxmlformats.org/drawingml/2006/main"/>
          <a:p xmlns:a="http://schemas.openxmlformats.org/drawingml/2006/main">
            <a:pPr>
              <a:defRPr sz="1500">
                <a:solidFill>
                  <a:srgbClr val="596273"/>
                </a:solidFill>
              </a:defRPr>
            </a:pPr>
            <a:r>
              <a:rPr sz="1500">
                <a:solidFill>
                  <a:srgbClr val="596273"/>
                </a:solidFill>
              </a:rPr>
              <a:t>clips MP4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1ED7A97D-E265-4458-876E-3EEC286BAE2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286250" y="1924050"/>
            <a:ext cx="3352800" cy="66675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/>
          <a:lstStyle xmlns:a="http://schemas.openxmlformats.org/drawingml/2006/main"/>
          <a:p xmlns:a="http://schemas.openxmlformats.org/drawingml/2006/main">
            <a:pPr>
              <a:defRPr sz="4350" b="1">
                <a:solidFill>
                  <a:srgbClr val="172033"/>
                </a:solidFill>
              </a:defRPr>
            </a:pPr>
            <a:r>
              <a:rPr sz="4350" b="1">
                <a:solidFill>
                  <a:srgbClr val="172033"/>
                </a:solidFill>
              </a:rPr>
              <a:t>2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933F180A-1533-4598-AAB4-5E81A75CFBD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286250" y="2628900"/>
            <a:ext cx="3352800" cy="2286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/>
          <a:lstStyle xmlns:a="http://schemas.openxmlformats.org/drawingml/2006/main"/>
          <a:p xmlns:a="http://schemas.openxmlformats.org/drawingml/2006/main">
            <a:pPr>
              <a:defRPr sz="1500">
                <a:solidFill>
                  <a:srgbClr val="596273"/>
                </a:solidFill>
              </a:defRPr>
            </a:pPr>
            <a:r>
              <a:rPr sz="1500">
                <a:solidFill>
                  <a:srgbClr val="596273"/>
                </a:solidFill>
              </a:rPr>
              <a:t>techniciens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8AF73220-E4BE-4D18-9CB7-762BBFED568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04850" y="3067050"/>
            <a:ext cx="3352800" cy="66675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/>
          <a:lstStyle xmlns:a="http://schemas.openxmlformats.org/drawingml/2006/main"/>
          <a:p xmlns:a="http://schemas.openxmlformats.org/drawingml/2006/main">
            <a:pPr>
              <a:defRPr sz="4350" b="1">
                <a:solidFill>
                  <a:srgbClr val="11A7B5"/>
                </a:solidFill>
              </a:defRPr>
            </a:pPr>
            <a:r>
              <a:rPr sz="4350" b="1">
                <a:solidFill>
                  <a:srgbClr val="11A7B5"/>
                </a:solidFill>
              </a:rPr>
              <a:t>1440×720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0A09C2D8-E988-46DC-B193-7BAA101E4BA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04850" y="3790950"/>
            <a:ext cx="3352800" cy="2286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/>
          <a:lstStyle xmlns:a="http://schemas.openxmlformats.org/drawingml/2006/main"/>
          <a:p xmlns:a="http://schemas.openxmlformats.org/drawingml/2006/main">
            <a:pPr>
              <a:defRPr sz="1500">
                <a:solidFill>
                  <a:srgbClr val="596273"/>
                </a:solidFill>
              </a:defRPr>
            </a:pPr>
            <a:r>
              <a:rPr sz="1500">
                <a:solidFill>
                  <a:srgbClr val="596273"/>
                </a:solidFill>
              </a:rPr>
              <a:t>résolution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402028A0-0A1A-45CD-97B2-2ABFF09340F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286250" y="3067050"/>
            <a:ext cx="3352800" cy="66675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/>
          <a:lstStyle xmlns:a="http://schemas.openxmlformats.org/drawingml/2006/main"/>
          <a:p xmlns:a="http://schemas.openxmlformats.org/drawingml/2006/main">
            <a:pPr>
              <a:defRPr sz="4350" b="1">
                <a:solidFill>
                  <a:srgbClr val="178A5B"/>
                </a:solidFill>
              </a:defRPr>
            </a:pPr>
            <a:r>
              <a:rPr sz="4350" b="1">
                <a:solidFill>
                  <a:srgbClr val="178A5B"/>
                </a:solidFill>
              </a:rPr>
              <a:t>30 FPS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D8090B31-E597-468E-AABA-D3126221AAA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286250" y="3790950"/>
            <a:ext cx="3352800" cy="2286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/>
          <a:lstStyle xmlns:a="http://schemas.openxmlformats.org/drawingml/2006/main"/>
          <a:p xmlns:a="http://schemas.openxmlformats.org/drawingml/2006/main">
            <a:pPr>
              <a:defRPr sz="1500">
                <a:solidFill>
                  <a:srgbClr val="596273"/>
                </a:solidFill>
              </a:defRPr>
            </a:pPr>
            <a:r>
              <a:rPr sz="1500">
                <a:solidFill>
                  <a:srgbClr val="596273"/>
                </a:solidFill>
              </a:rPr>
              <a:t>fréquence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CF81C2B4-7D7B-425C-A7C1-D74DAAA4307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04850" y="4231386"/>
            <a:ext cx="6936867" cy="5019294"/>
          </a:xfrm>
          <a:prstGeom xmlns:a="http://schemas.openxmlformats.org/drawingml/2006/main" prst="roundRect">
            <a:avLst>
              <a:gd name="adj" fmla="val 1518"/>
            </a:avLst>
          </a:prstGeom>
          <a:solidFill xmlns:a="http://schemas.openxmlformats.org/drawingml/2006/main">
            <a:srgbClr val="FFF7F6"/>
          </a:solidFill>
          <a:ln xmlns:a="http://schemas.openxmlformats.org/drawingml/2006/main" w="9525">
            <a:solidFill>
              <a:srgbClr val="F1C2BF"/>
            </a:solidFill>
            <a:prstDash val="solid"/>
          </a:ln>
        </p:spPr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1E93B6E9-2597-4264-93D6-68A5C682661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28700" y="4514850"/>
            <a:ext cx="6286500" cy="32385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/>
          <a:lstStyle xmlns:a="http://schemas.openxmlformats.org/drawingml/2006/main"/>
          <a:p xmlns:a="http://schemas.openxmlformats.org/drawingml/2006/main">
            <a:pPr>
              <a:defRPr sz="2100" b="1">
                <a:solidFill>
                  <a:srgbClr val="D43F3A"/>
                </a:solidFill>
              </a:defRPr>
            </a:pPr>
            <a:r>
              <a:rPr sz="2100" b="1">
                <a:solidFill>
                  <a:srgbClr val="D43F3A"/>
                </a:solidFill>
              </a:rPr>
              <a:t>Point faible identifié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4B246D14-BF40-409D-97EB-50598DA502B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28700" y="5048250"/>
            <a:ext cx="95250" cy="95250"/>
          </a:xfrm>
          <a:prstGeom xmlns:a="http://schemas.openxmlformats.org/drawingml/2006/main" prst="roundRect">
            <a:avLst>
              <a:gd name="adj" fmla="val 50000"/>
            </a:avLst>
          </a:prstGeom>
          <a:solidFill xmlns:a="http://schemas.openxmlformats.org/drawingml/2006/main">
            <a:srgbClr val="D43F3A"/>
          </a:solidFill>
        </p:spPr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ADFB7A54-DD5E-4E55-9B54-73E7A99C63B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57300" y="5048250"/>
            <a:ext cx="6057900" cy="3048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/>
          <a:lstStyle xmlns:a="http://schemas.openxmlformats.org/drawingml/2006/main"/>
          <a:p xmlns:a="http://schemas.openxmlformats.org/drawingml/2006/main">
            <a:pPr>
              <a:lnSpc>
                <a:spcPct val="105000"/>
              </a:lnSpc>
              <a:buNone/>
              <a:defRPr sz="1800">
                <a:solidFill>
                  <a:srgbClr val="111827"/>
                </a:solidFill>
              </a:defRPr>
            </a:pPr>
            <a:r>
              <a:rPr sz="1800">
                <a:solidFill>
                  <a:srgbClr val="111827"/>
                </a:solidFill>
              </a:rPr>
              <a:t>Les clips unsafe sont majoritaires mais très courts.</a:t>
            </a:r>
          </a:p>
        </p:txBody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CEE49540-26FC-4811-B631-B8DFB69C902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28700" y="5448300"/>
            <a:ext cx="95250" cy="95250"/>
          </a:xfrm>
          <a:prstGeom xmlns:a="http://schemas.openxmlformats.org/drawingml/2006/main" prst="roundRect">
            <a:avLst>
              <a:gd name="adj" fmla="val 50000"/>
            </a:avLst>
          </a:prstGeom>
          <a:solidFill xmlns:a="http://schemas.openxmlformats.org/drawingml/2006/main">
            <a:srgbClr val="D43F3A"/>
          </a:solidFill>
        </p:spPr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70AB2C92-7BFC-4096-8BD4-559933C4786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57300" y="5448300"/>
            <a:ext cx="6057900" cy="59055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/>
          <a:lstStyle xmlns:a="http://schemas.openxmlformats.org/drawingml/2006/main"/>
          <a:p xmlns:a="http://schemas.openxmlformats.org/drawingml/2006/main">
            <a:pPr>
              <a:lnSpc>
                <a:spcPct val="105000"/>
              </a:lnSpc>
              <a:buNone/>
              <a:defRPr sz="1800">
                <a:solidFill>
                  <a:srgbClr val="111827"/>
                </a:solidFill>
              </a:defRPr>
            </a:pPr>
            <a:r>
              <a:rPr sz="1800">
                <a:solidFill>
                  <a:srgbClr val="111827"/>
                </a:solidFill>
              </a:rPr>
              <a:t>Pour prédire, il faut annoter le moment exact où la main entre dans la zone.</a:t>
            </a:r>
          </a:p>
        </p:txBody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2766DFB1-47B7-4DFA-86B6-AD64EFC425A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28700" y="6134100"/>
            <a:ext cx="95250" cy="95250"/>
          </a:xfrm>
          <a:prstGeom xmlns:a="http://schemas.openxmlformats.org/drawingml/2006/main" prst="roundRect">
            <a:avLst>
              <a:gd name="adj" fmla="val 50000"/>
            </a:avLst>
          </a:prstGeom>
          <a:solidFill xmlns:a="http://schemas.openxmlformats.org/drawingml/2006/main">
            <a:srgbClr val="D43F3A"/>
          </a:solidFill>
        </p:spPr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75551760-B4DB-4741-8138-0C36AE2C8DB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57300" y="6134100"/>
            <a:ext cx="6057900" cy="3048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/>
          <a:lstStyle xmlns:a="http://schemas.openxmlformats.org/drawingml/2006/main"/>
          <a:p xmlns:a="http://schemas.openxmlformats.org/drawingml/2006/main">
            <a:pPr>
              <a:lnSpc>
                <a:spcPct val="105000"/>
              </a:lnSpc>
              <a:buNone/>
              <a:defRPr sz="1800">
                <a:solidFill>
                  <a:srgbClr val="111827"/>
                </a:solidFill>
              </a:defRPr>
            </a:pPr>
            <a:r>
              <a:rPr sz="1800">
                <a:solidFill>
                  <a:srgbClr val="111827"/>
                </a:solidFill>
              </a:rPr>
              <a:t>Les noms actuels ne suffisent pas comme vérité terrain.</a:t>
            </a:r>
          </a:p>
        </p:txBody>
      </p:sp>
      <p:graphicFrame>
        <p:nvGraphicFramePr>
          <p:cNvPr id="20" name="clips-par-personne"/>
          <p:cNvGraphicFramePr/>
          <p:nvPr/>
        </p:nvGraphicFramePr>
        <p:xfrm>
          <a:off xmlns:a="http://schemas.openxmlformats.org/drawingml/2006/main" x="8003667" y="1914906"/>
          <a:ext xmlns:a="http://schemas.openxmlformats.org/drawingml/2006/main" cx="9579483" cy="3429000"/>
        </p:xfrm>
        <a:graphic xmlns:a="http://schemas.openxmlformats.org/drawingml/2006/main">
          <a:graphicData uri="http://schemas.openxmlformats.org/drawingml/2006/chart">
            <c:chart xmlns:r="http://schemas.openxmlformats.org/officeDocument/2006/relationships" xmlns:c="http://schemas.openxmlformats.org/drawingml/2006/chart" r:id="Rc3a4b19f498045e7"/>
          </a:graphicData>
        </a:graphic>
      </p:graphicFrame>
      <p:graphicFrame>
        <p:nvGraphicFramePr>
          <p:cNvPr id="21" name="duree-moyenne"/>
          <p:cNvGraphicFramePr/>
          <p:nvPr/>
        </p:nvGraphicFramePr>
        <p:xfrm>
          <a:off xmlns:a="http://schemas.openxmlformats.org/drawingml/2006/main" x="8003667" y="5553456"/>
          <a:ext xmlns:a="http://schemas.openxmlformats.org/drawingml/2006/main" cx="9579483" cy="3429000"/>
        </p:xfrm>
        <a:graphic xmlns:a="http://schemas.openxmlformats.org/drawingml/2006/main">
          <a:graphicData uri="http://schemas.openxmlformats.org/drawingml/2006/chart">
            <c:chart xmlns:r="http://schemas.openxmlformats.org/officeDocument/2006/relationships" xmlns:c="http://schemas.openxmlformats.org/drawingml/2006/chart" r:id="R5f8f8130c6864a81"/>
          </a:graphicData>
        </a:graphic>
      </p:graphicFrame>
      <p:sp>
        <p:nvSpPr>
          <p:cNvPr id="22" name="">
            <a:extLst xmlns:a="http://schemas.openxmlformats.org/drawingml/2006/main">
              <a:ext uri="{FF2B5EF4-FFF2-40B4-BE49-F238E27FC236}">
                <a16:creationId xmlns:a16="http://schemas.microsoft.com/office/drawing/2014/main" id="{ABE470B1-4F48-4E49-953C-3D3F63EDEF8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04850" y="9582150"/>
            <a:ext cx="16383000" cy="1524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/>
          <a:lstStyle xmlns:a="http://schemas.openxmlformats.org/drawingml/2006/main"/>
          <a:p xmlns:a="http://schemas.openxmlformats.org/drawingml/2006/main">
            <a:pPr>
              <a:defRPr sz="1050">
                <a:solidFill>
                  <a:srgbClr val="7A8494"/>
                </a:solidFill>
              </a:defRPr>
            </a:pPr>
            <a:r>
              <a:rPr sz="1050">
                <a:solidFill>
                  <a:srgbClr val="7A8494"/>
                </a:solidFill>
              </a:rPr>
              <a:t>Source: captures_manifest.csv généré depuis le dossier captures</a:t>
            </a:r>
          </a:p>
        </p:txBody>
      </p:sp>
      <p:sp>
        <p:nvSpPr>
          <p:cNvPr id="23" name="">
            <a:extLst xmlns:a="http://schemas.openxmlformats.org/drawingml/2006/main">
              <a:ext uri="{FF2B5EF4-FFF2-40B4-BE49-F238E27FC236}">
                <a16:creationId xmlns:a16="http://schemas.microsoft.com/office/drawing/2014/main" id="{86035EC1-CF8B-419F-B721-2CA55F239FD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7087850" y="9582150"/>
            <a:ext cx="495300" cy="1524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/>
          <a:lstStyle xmlns:a="http://schemas.openxmlformats.org/drawingml/2006/main"/>
          <a:p xmlns:a="http://schemas.openxmlformats.org/drawingml/2006/main">
            <a:pPr>
              <a:defRPr sz="1050">
                <a:solidFill>
                  <a:srgbClr val="7A8494"/>
                </a:solidFill>
              </a:defRPr>
            </a:pPr>
            <a:r>
              <a:rPr sz="1050">
                <a:solidFill>
                  <a:srgbClr val="7A8494"/>
                </a:solidFill>
              </a:rPr>
              <a:t>mai 2026</a:t>
            </a:r>
          </a:p>
        </p:txBody>
      </p:sp>
    </p:spTree>
    <p:extLst>
      <p:ext uri="{BB962C8B-B14F-4D97-AF65-F5344CB8AC3E}">
        <p14:creationId xmlns:p14="http://schemas.microsoft.com/office/powerpoint/2010/main" val="1496269803"/>
      </p:ext>
    </p:extLst>
  </p:cSld>
</p:sld>
</file>

<file path=ppt/slides/slide3.xml><?xml version="1.0" encoding="utf-8"?>
<p:sld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" name="background">
            <a:extLst xmlns:a="http://schemas.openxmlformats.org/drawingml/2006/main">
              <a:ext uri="{FF2B5EF4-FFF2-40B4-BE49-F238E27FC236}">
                <a16:creationId xmlns:a16="http://schemas.microsoft.com/office/drawing/2014/main" id="{DC4AD66B-62A8-4BFD-BB76-FCA6B8576CA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8288000" cy="10287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7F8FA"/>
          </a:solidFill>
        </p:spPr>
      </p:sp>
      <p:sp>
        <p:nvSpPr>
          <p:cNvPr id="2" name="slide-title">
            <a:extLst xmlns:a="http://schemas.openxmlformats.org/drawingml/2006/main">
              <a:ext uri="{FF2B5EF4-FFF2-40B4-BE49-F238E27FC236}">
                <a16:creationId xmlns:a16="http://schemas.microsoft.com/office/drawing/2014/main" id="{98149B6C-7628-4C6C-9AD9-E582B1888DE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04850" y="552450"/>
            <a:ext cx="16878300" cy="6096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/>
          <a:lstStyle xmlns:a="http://schemas.openxmlformats.org/drawingml/2006/main"/>
          <a:p xmlns:a="http://schemas.openxmlformats.org/drawingml/2006/main">
            <a:pPr>
              <a:lnSpc>
                <a:spcPct val="90000"/>
              </a:lnSpc>
              <a:buNone/>
              <a:defRPr sz="4350" b="1">
                <a:solidFill>
                  <a:srgbClr val="111827"/>
                </a:solidFill>
              </a:defRPr>
            </a:pPr>
            <a:r>
              <a:rPr sz="4350" b="1">
                <a:solidFill>
                  <a:srgbClr val="111827"/>
                </a:solidFill>
              </a:rPr>
              <a:t>Unsafe = séquence positive, pas label de toute la vidéo</a:t>
            </a:r>
          </a:p>
        </p:txBody>
      </p:sp>
      <p:sp>
        <p:nvSpPr>
          <p:cNvPr id="3" name="slide-subtitle">
            <a:extLst xmlns:a="http://schemas.openxmlformats.org/drawingml/2006/main">
              <a:ext uri="{FF2B5EF4-FFF2-40B4-BE49-F238E27FC236}">
                <a16:creationId xmlns:a16="http://schemas.microsoft.com/office/drawing/2014/main" id="{DB9C4239-6FCB-4909-BF0D-AAEC5613BCC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04850" y="1276350"/>
            <a:ext cx="10420350" cy="32385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/>
          <a:lstStyle xmlns:a="http://schemas.openxmlformats.org/drawingml/2006/main"/>
          <a:p xmlns:a="http://schemas.openxmlformats.org/drawingml/2006/main">
            <a:pPr>
              <a:lnSpc>
                <a:spcPct val="108000"/>
              </a:lnSpc>
              <a:buNone/>
              <a:defRPr sz="1875">
                <a:solidFill>
                  <a:srgbClr val="596273"/>
                </a:solidFill>
              </a:defRPr>
            </a:pPr>
            <a:r>
              <a:rPr sz="1875">
                <a:solidFill>
                  <a:srgbClr val="596273"/>
                </a:solidFill>
              </a:rPr>
              <a:t>L’accident réel est court. Ce qui nous intéresse est la trajectoire qui précède l’entrée de la main dans la zone.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56E91686-4910-4823-8BCB-7462088C9BC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04850" y="1972056"/>
            <a:ext cx="8239125" cy="7221474"/>
          </a:xfrm>
          <a:prstGeom xmlns:a="http://schemas.openxmlformats.org/drawingml/2006/main" prst="roundRect">
            <a:avLst>
              <a:gd name="adj" fmla="val 1055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9E0E7"/>
            </a:solidFill>
            <a:prstDash val="solid"/>
          </a:ln>
        </p:spPr>
      </p:sp>
      <p:pic>
        <p:nvPicPr>
          <p:cNvPr id="5" name="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3cfd9576df0240cc"/>
          <a:srcRect xmlns:a="http://schemas.openxmlformats.org/drawingml/2006/main" l="0" t="1066" r="0" b="1066"/>
          <a:stretch xmlns:a="http://schemas.openxmlformats.org/drawingml/2006/main">
            <a:fillRect l="0" t="0" r="0" b="0"/>
          </a:stretch>
        </p:blipFill>
        <p:spPr>
          <a:xfrm xmlns:a="http://schemas.openxmlformats.org/drawingml/2006/main">
            <a:off x="1028700" y="2257806"/>
            <a:ext cx="7591425" cy="3714750"/>
          </a:xfrm>
          <a:prstGeom xmlns:a="http://schemas.openxmlformats.org/drawingml/2006/main" prst="rect">
            <a:avLst/>
          </a:prstGeom>
        </p:spPr>
      </p:pic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B7263A18-8220-4A93-9E73-9B3C3870964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28700" y="6191250"/>
            <a:ext cx="7600950" cy="32385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/>
          <a:lstStyle xmlns:a="http://schemas.openxmlformats.org/drawingml/2006/main"/>
          <a:p xmlns:a="http://schemas.openxmlformats.org/drawingml/2006/main">
            <a:pPr>
              <a:defRPr sz="2100" b="1">
                <a:solidFill>
                  <a:srgbClr val="111827"/>
                </a:solidFill>
              </a:defRPr>
            </a:pPr>
            <a:r>
              <a:rPr sz="2100" b="1">
                <a:solidFill>
                  <a:srgbClr val="111827"/>
                </a:solidFill>
              </a:rPr>
              <a:t>Le clip entier ne doit pas être marqué unsafe frame par frame.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7C259F73-006B-4F94-9FBD-BA2EED4EB53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28700" y="6705600"/>
            <a:ext cx="95250" cy="95250"/>
          </a:xfrm>
          <a:prstGeom xmlns:a="http://schemas.openxmlformats.org/drawingml/2006/main" prst="roundRect">
            <a:avLst>
              <a:gd name="adj" fmla="val 50000"/>
            </a:avLst>
          </a:prstGeom>
          <a:solidFill xmlns:a="http://schemas.openxmlformats.org/drawingml/2006/main">
            <a:srgbClr val="E5A11A"/>
          </a:solidFill>
        </p:spPr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04CD8B1A-D923-484E-8235-BB8B392D883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57300" y="6705600"/>
            <a:ext cx="7372350" cy="3048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/>
          <a:lstStyle xmlns:a="http://schemas.openxmlformats.org/drawingml/2006/main"/>
          <a:p xmlns:a="http://schemas.openxmlformats.org/drawingml/2006/main">
            <a:pPr>
              <a:lnSpc>
                <a:spcPct val="105000"/>
              </a:lnSpc>
              <a:buNone/>
              <a:defRPr sz="1800">
                <a:solidFill>
                  <a:srgbClr val="111827"/>
                </a:solidFill>
              </a:defRPr>
            </a:pPr>
            <a:r>
              <a:rPr sz="1800">
                <a:solidFill>
                  <a:srgbClr val="111827"/>
                </a:solidFill>
              </a:rPr>
              <a:t>Avant l’événement: état encore safe, mais pré-accident.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F043CDB8-789E-40E8-9271-E45D1F37984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28700" y="7105650"/>
            <a:ext cx="95250" cy="95250"/>
          </a:xfrm>
          <a:prstGeom xmlns:a="http://schemas.openxmlformats.org/drawingml/2006/main" prst="roundRect">
            <a:avLst>
              <a:gd name="adj" fmla="val 50000"/>
            </a:avLst>
          </a:prstGeom>
          <a:solidFill xmlns:a="http://schemas.openxmlformats.org/drawingml/2006/main">
            <a:srgbClr val="E5A11A"/>
          </a:solidFill>
        </p:spPr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E818C134-4CF0-4296-B8F6-266B738D931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57300" y="7105650"/>
            <a:ext cx="7372350" cy="3048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/>
          <a:lstStyle xmlns:a="http://schemas.openxmlformats.org/drawingml/2006/main"/>
          <a:p xmlns:a="http://schemas.openxmlformats.org/drawingml/2006/main">
            <a:pPr>
              <a:lnSpc>
                <a:spcPct val="105000"/>
              </a:lnSpc>
              <a:buNone/>
              <a:defRPr sz="1800">
                <a:solidFill>
                  <a:srgbClr val="111827"/>
                </a:solidFill>
              </a:defRPr>
            </a:pPr>
            <a:r>
              <a:rPr sz="1800">
                <a:solidFill>
                  <a:srgbClr val="111827"/>
                </a:solidFill>
              </a:rPr>
              <a:t>Pendant l’événement: main ou corps dans la zone.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17EC9E3A-4CB0-4B14-B5F4-88ED6C815BA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28700" y="7524750"/>
            <a:ext cx="95250" cy="95250"/>
          </a:xfrm>
          <a:prstGeom xmlns:a="http://schemas.openxmlformats.org/drawingml/2006/main" prst="roundRect">
            <a:avLst>
              <a:gd name="adj" fmla="val 50000"/>
            </a:avLst>
          </a:prstGeom>
          <a:solidFill xmlns:a="http://schemas.openxmlformats.org/drawingml/2006/main">
            <a:srgbClr val="E5A11A"/>
          </a:solidFill>
        </p:spPr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B89AAA2F-F7C2-47F0-9BFB-42DDD935C97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57300" y="7524750"/>
            <a:ext cx="7372350" cy="3048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/>
          <a:lstStyle xmlns:a="http://schemas.openxmlformats.org/drawingml/2006/main"/>
          <a:p xmlns:a="http://schemas.openxmlformats.org/drawingml/2006/main">
            <a:pPr>
              <a:lnSpc>
                <a:spcPct val="105000"/>
              </a:lnSpc>
              <a:buNone/>
              <a:defRPr sz="1800">
                <a:solidFill>
                  <a:srgbClr val="111827"/>
                </a:solidFill>
              </a:defRPr>
            </a:pPr>
            <a:r>
              <a:rPr sz="1800">
                <a:solidFill>
                  <a:srgbClr val="111827"/>
                </a:solidFill>
              </a:rPr>
              <a:t>Après l’événement: contexte utile, pas une cible de prédiction.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53688F11-1E28-41A9-9279-FC3E638DA56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344025" y="1972056"/>
            <a:ext cx="8239125" cy="7221474"/>
          </a:xfrm>
          <a:prstGeom xmlns:a="http://schemas.openxmlformats.org/drawingml/2006/main" prst="roundRect">
            <a:avLst>
              <a:gd name="adj" fmla="val 1055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9E0E7"/>
            </a:solidFill>
            <a:prstDash val="solid"/>
          </a:ln>
        </p:spPr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C006CA4D-4DBB-49F3-9838-63F6465E8E1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677400" y="2266950"/>
            <a:ext cx="7600950" cy="3429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/>
          <a:lstStyle xmlns:a="http://schemas.openxmlformats.org/drawingml/2006/main"/>
          <a:p xmlns:a="http://schemas.openxmlformats.org/drawingml/2006/main">
            <a:pPr>
              <a:defRPr sz="2250" b="1">
                <a:solidFill>
                  <a:srgbClr val="0B2F6B"/>
                </a:solidFill>
              </a:defRPr>
            </a:pPr>
            <a:r>
              <a:rPr sz="2250" b="1">
                <a:solidFill>
                  <a:srgbClr val="0B2F6B"/>
                </a:solidFill>
              </a:rPr>
              <a:t>Labels temporels à créer</a:t>
            </a:r>
          </a:p>
        </p:txBody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C7A628AB-4617-4295-96BE-050BA6CA32F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667875" y="2819400"/>
            <a:ext cx="2466975" cy="1257300"/>
          </a:xfrm>
          <a:prstGeom xmlns:a="http://schemas.openxmlformats.org/drawingml/2006/main" prst="roundRect">
            <a:avLst>
              <a:gd name="adj" fmla="val 6061"/>
            </a:avLst>
          </a:prstGeom>
          <a:solidFill xmlns:a="http://schemas.openxmlformats.org/drawingml/2006/main">
            <a:srgbClr val="E8F7EF"/>
          </a:solidFill>
          <a:ln xmlns:a="http://schemas.openxmlformats.org/drawingml/2006/main" w="9525">
            <a:solidFill>
              <a:srgbClr val="BEE8D2"/>
            </a:solidFill>
            <a:prstDash val="solid"/>
          </a:ln>
        </p:spPr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1262CA12-5336-47C9-B4E1-707ECF3BAAC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829800" y="2952750"/>
            <a:ext cx="2171700" cy="55245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/>
          <a:lstStyle xmlns:a="http://schemas.openxmlformats.org/drawingml/2006/main"/>
          <a:p xmlns:a="http://schemas.openxmlformats.org/drawingml/2006/main">
            <a:pPr>
              <a:defRPr sz="1800" b="1">
                <a:solidFill>
                  <a:srgbClr val="178A5B"/>
                </a:solidFill>
              </a:defRPr>
            </a:pPr>
            <a:r>
              <a:rPr sz="1800" b="1">
                <a:solidFill>
                  <a:srgbClr val="178A5B"/>
                </a:solidFill>
              </a:rPr>
              <a:t>t-5s</a:t>
            </a:r>
          </a:p>
          <a:p xmlns:a="http://schemas.openxmlformats.org/drawingml/2006/main">
            <a:pPr>
              <a:defRPr sz="1800" b="1">
                <a:solidFill>
                  <a:srgbClr val="178A5B"/>
                </a:solidFill>
              </a:defRPr>
            </a:pPr>
            <a:r>
              <a:rPr sz="1800" b="1">
                <a:solidFill>
                  <a:srgbClr val="178A5B"/>
                </a:solidFill>
              </a:rPr>
              <a:t>a t-1s</a:t>
            </a:r>
          </a:p>
        </p:txBody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8F0CCF7A-6FAF-46C8-BAA8-201927A504C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230100" y="2819400"/>
            <a:ext cx="2466975" cy="1257300"/>
          </a:xfrm>
          <a:prstGeom xmlns:a="http://schemas.openxmlformats.org/drawingml/2006/main" prst="roundRect">
            <a:avLst>
              <a:gd name="adj" fmla="val 6061"/>
            </a:avLst>
          </a:prstGeom>
          <a:solidFill xmlns:a="http://schemas.openxmlformats.org/drawingml/2006/main">
            <a:srgbClr val="FDEAE9"/>
          </a:solidFill>
          <a:ln xmlns:a="http://schemas.openxmlformats.org/drawingml/2006/main" w="9525">
            <a:solidFill>
              <a:srgbClr val="F2B9B6"/>
            </a:solidFill>
            <a:prstDash val="solid"/>
          </a:ln>
        </p:spPr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24242952-49AB-43D3-B11B-F9CCFD54E29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382500" y="2952750"/>
            <a:ext cx="2171700" cy="55245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/>
          <a:lstStyle xmlns:a="http://schemas.openxmlformats.org/drawingml/2006/main"/>
          <a:p xmlns:a="http://schemas.openxmlformats.org/drawingml/2006/main">
            <a:pPr>
              <a:defRPr sz="1800" b="1">
                <a:solidFill>
                  <a:srgbClr val="D43F3A"/>
                </a:solidFill>
              </a:defRPr>
            </a:pPr>
            <a:r>
              <a:rPr sz="1800" b="1">
                <a:solidFill>
                  <a:srgbClr val="D43F3A"/>
                </a:solidFill>
              </a:rPr>
              <a:t>t0</a:t>
            </a:r>
          </a:p>
          <a:p xmlns:a="http://schemas.openxmlformats.org/drawingml/2006/main">
            <a:pPr>
              <a:defRPr sz="1800" b="1">
                <a:solidFill>
                  <a:srgbClr val="D43F3A"/>
                </a:solidFill>
              </a:defRPr>
            </a:pPr>
            <a:r>
              <a:rPr sz="1800" b="1">
                <a:solidFill>
                  <a:srgbClr val="D43F3A"/>
                </a:solidFill>
              </a:rPr>
              <a:t>entrée</a:t>
            </a:r>
          </a:p>
        </p:txBody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55CC807D-3D15-4614-B419-ABE4DD65B92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4792325" y="2819400"/>
            <a:ext cx="2466975" cy="1257300"/>
          </a:xfrm>
          <a:prstGeom xmlns:a="http://schemas.openxmlformats.org/drawingml/2006/main" prst="roundRect">
            <a:avLst>
              <a:gd name="adj" fmla="val 6061"/>
            </a:avLst>
          </a:prstGeom>
          <a:solidFill xmlns:a="http://schemas.openxmlformats.org/drawingml/2006/main">
            <a:srgbClr val="EEF2F6"/>
          </a:solidFill>
          <a:ln xmlns:a="http://schemas.openxmlformats.org/drawingml/2006/main" w="9525">
            <a:solidFill>
              <a:srgbClr val="D9E0E7"/>
            </a:solidFill>
            <a:prstDash val="solid"/>
          </a:ln>
        </p:spPr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F5FA4AFD-3BA8-4A48-9EE3-C35C83A3B93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4954250" y="2952750"/>
            <a:ext cx="2171700" cy="55245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/>
          <a:lstStyle xmlns:a="http://schemas.openxmlformats.org/drawingml/2006/main"/>
          <a:p xmlns:a="http://schemas.openxmlformats.org/drawingml/2006/main">
            <a:pPr>
              <a:defRPr sz="1800" b="1">
                <a:solidFill>
                  <a:srgbClr val="596273"/>
                </a:solidFill>
              </a:defRPr>
            </a:pPr>
            <a:r>
              <a:rPr sz="1800" b="1">
                <a:solidFill>
                  <a:srgbClr val="596273"/>
                </a:solidFill>
              </a:rPr>
              <a:t>t+1s</a:t>
            </a:r>
          </a:p>
          <a:p xmlns:a="http://schemas.openxmlformats.org/drawingml/2006/main">
            <a:pPr>
              <a:defRPr sz="1800" b="1">
                <a:solidFill>
                  <a:srgbClr val="596273"/>
                </a:solidFill>
              </a:defRPr>
            </a:pPr>
            <a:r>
              <a:rPr sz="1800" b="1">
                <a:solidFill>
                  <a:srgbClr val="596273"/>
                </a:solidFill>
              </a:rPr>
              <a:t>a t+3s</a:t>
            </a:r>
          </a:p>
        </p:txBody>
      </p:sp>
      <p:sp>
        <p:nv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D65D56CA-C426-447C-A9BC-EE465CBED23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677400" y="4286250"/>
            <a:ext cx="95250" cy="95250"/>
          </a:xfrm>
          <a:prstGeom xmlns:a="http://schemas.openxmlformats.org/drawingml/2006/main" prst="roundRect">
            <a:avLst>
              <a:gd name="adj" fmla="val 50000"/>
            </a:avLst>
          </a:prstGeom>
          <a:solidFill xmlns:a="http://schemas.openxmlformats.org/drawingml/2006/main">
            <a:srgbClr val="1663FF"/>
          </a:solidFill>
        </p:spPr>
      </p:sp>
      <p:sp>
        <p:nvSpPr>
          <p:cNvPr id="22" name="">
            <a:extLst xmlns:a="http://schemas.openxmlformats.org/drawingml/2006/main">
              <a:ext uri="{FF2B5EF4-FFF2-40B4-BE49-F238E27FC236}">
                <a16:creationId xmlns:a16="http://schemas.microsoft.com/office/drawing/2014/main" id="{3412A0F3-A7DF-40D3-AF1E-B438270547D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906000" y="4286250"/>
            <a:ext cx="7372350" cy="3048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/>
          <a:lstStyle xmlns:a="http://schemas.openxmlformats.org/drawingml/2006/main"/>
          <a:p xmlns:a="http://schemas.openxmlformats.org/drawingml/2006/main">
            <a:pPr>
              <a:lnSpc>
                <a:spcPct val="105000"/>
              </a:lnSpc>
              <a:buNone/>
              <a:defRPr sz="1800">
                <a:solidFill>
                  <a:srgbClr val="111827"/>
                </a:solidFill>
              </a:defRPr>
            </a:pPr>
            <a:r>
              <a:rPr sz="1800">
                <a:solidFill>
                  <a:srgbClr val="111827"/>
                </a:solidFill>
              </a:rPr>
              <a:t>event_start_frame: première frame où la main entre.</a:t>
            </a:r>
          </a:p>
        </p:txBody>
      </p:sp>
      <p:sp>
        <p:nvSpPr>
          <p:cNvPr id="23" name="">
            <a:extLst xmlns:a="http://schemas.openxmlformats.org/drawingml/2006/main">
              <a:ext uri="{FF2B5EF4-FFF2-40B4-BE49-F238E27FC236}">
                <a16:creationId xmlns:a16="http://schemas.microsoft.com/office/drawing/2014/main" id="{3D83A7D2-350E-4C44-A950-C29E62093CE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677400" y="4705350"/>
            <a:ext cx="95250" cy="95250"/>
          </a:xfrm>
          <a:prstGeom xmlns:a="http://schemas.openxmlformats.org/drawingml/2006/main" prst="roundRect">
            <a:avLst>
              <a:gd name="adj" fmla="val 50000"/>
            </a:avLst>
          </a:prstGeom>
          <a:solidFill xmlns:a="http://schemas.openxmlformats.org/drawingml/2006/main">
            <a:srgbClr val="1663FF"/>
          </a:solidFill>
        </p:spPr>
      </p:sp>
      <p:sp>
        <p:nvSpPr>
          <p:cNvPr id="24" name="">
            <a:extLst xmlns:a="http://schemas.openxmlformats.org/drawingml/2006/main">
              <a:ext uri="{FF2B5EF4-FFF2-40B4-BE49-F238E27FC236}">
                <a16:creationId xmlns:a16="http://schemas.microsoft.com/office/drawing/2014/main" id="{AF498572-92D6-46A9-B11D-62F43CFF25A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906000" y="4705350"/>
            <a:ext cx="7372350" cy="3048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/>
          <a:lstStyle xmlns:a="http://schemas.openxmlformats.org/drawingml/2006/main"/>
          <a:p xmlns:a="http://schemas.openxmlformats.org/drawingml/2006/main">
            <a:pPr>
              <a:lnSpc>
                <a:spcPct val="105000"/>
              </a:lnSpc>
              <a:buNone/>
              <a:defRPr sz="1800">
                <a:solidFill>
                  <a:srgbClr val="111827"/>
                </a:solidFill>
              </a:defRPr>
            </a:pPr>
            <a:r>
              <a:rPr sz="1800">
                <a:solidFill>
                  <a:srgbClr val="111827"/>
                </a:solidFill>
              </a:rPr>
              <a:t>event_end_frame: sortie de la zone.</a:t>
            </a:r>
          </a:p>
        </p:txBody>
      </p:sp>
      <p:sp>
        <p:nvSpPr>
          <p:cNvPr id="25" name="">
            <a:extLst xmlns:a="http://schemas.openxmlformats.org/drawingml/2006/main">
              <a:ext uri="{FF2B5EF4-FFF2-40B4-BE49-F238E27FC236}">
                <a16:creationId xmlns:a16="http://schemas.microsoft.com/office/drawing/2014/main" id="{6AFCD2D9-EB66-4805-A2DB-97E734E643B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677400" y="5124450"/>
            <a:ext cx="95250" cy="95250"/>
          </a:xfrm>
          <a:prstGeom xmlns:a="http://schemas.openxmlformats.org/drawingml/2006/main" prst="roundRect">
            <a:avLst>
              <a:gd name="adj" fmla="val 50000"/>
            </a:avLst>
          </a:prstGeom>
          <a:solidFill xmlns:a="http://schemas.openxmlformats.org/drawingml/2006/main">
            <a:srgbClr val="1663FF"/>
          </a:solidFill>
        </p:spPr>
      </p:sp>
      <p:sp>
        <p:nvSpPr>
          <p:cNvPr id="26" name="">
            <a:extLst xmlns:a="http://schemas.openxmlformats.org/drawingml/2006/main">
              <a:ext uri="{FF2B5EF4-FFF2-40B4-BE49-F238E27FC236}">
                <a16:creationId xmlns:a16="http://schemas.microsoft.com/office/drawing/2014/main" id="{A0A84D52-6EBE-44BE-B6EF-2AD963EBCE7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906000" y="5124450"/>
            <a:ext cx="7372350" cy="3048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/>
          <a:lstStyle xmlns:a="http://schemas.openxmlformats.org/drawingml/2006/main"/>
          <a:p xmlns:a="http://schemas.openxmlformats.org/drawingml/2006/main">
            <a:pPr>
              <a:lnSpc>
                <a:spcPct val="105000"/>
              </a:lnSpc>
              <a:buNone/>
              <a:defRPr sz="1800">
                <a:solidFill>
                  <a:srgbClr val="111827"/>
                </a:solidFill>
              </a:defRPr>
            </a:pPr>
            <a:r>
              <a:rPr sz="1800">
                <a:solidFill>
                  <a:srgbClr val="111827"/>
                </a:solidFill>
              </a:rPr>
              <a:t>danger_zone_id + géométrie 3D connue.</a:t>
            </a:r>
          </a:p>
        </p:txBody>
      </p:sp>
      <p:sp>
        <p:nvSpPr>
          <p:cNvPr id="27" name="">
            <a:extLst xmlns:a="http://schemas.openxmlformats.org/drawingml/2006/main">
              <a:ext uri="{FF2B5EF4-FFF2-40B4-BE49-F238E27FC236}">
                <a16:creationId xmlns:a16="http://schemas.microsoft.com/office/drawing/2014/main" id="{289B91AE-D727-4083-9A07-D707662C7CB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677400" y="5543550"/>
            <a:ext cx="95250" cy="95250"/>
          </a:xfrm>
          <a:prstGeom xmlns:a="http://schemas.openxmlformats.org/drawingml/2006/main" prst="roundRect">
            <a:avLst>
              <a:gd name="adj" fmla="val 50000"/>
            </a:avLst>
          </a:prstGeom>
          <a:solidFill xmlns:a="http://schemas.openxmlformats.org/drawingml/2006/main">
            <a:srgbClr val="1663FF"/>
          </a:solidFill>
        </p:spPr>
      </p:sp>
      <p:sp>
        <p:nvSpPr>
          <p:cNvPr id="28" name="">
            <a:extLst xmlns:a="http://schemas.openxmlformats.org/drawingml/2006/main">
              <a:ext uri="{FF2B5EF4-FFF2-40B4-BE49-F238E27FC236}">
                <a16:creationId xmlns:a16="http://schemas.microsoft.com/office/drawing/2014/main" id="{60ABED16-92AA-454A-89E2-95B3C733628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906000" y="5543550"/>
            <a:ext cx="7372350" cy="3048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/>
          <a:lstStyle xmlns:a="http://schemas.openxmlformats.org/drawingml/2006/main"/>
          <a:p xmlns:a="http://schemas.openxmlformats.org/drawingml/2006/main">
            <a:pPr>
              <a:lnSpc>
                <a:spcPct val="105000"/>
              </a:lnSpc>
              <a:buNone/>
              <a:defRPr sz="1800">
                <a:solidFill>
                  <a:srgbClr val="111827"/>
                </a:solidFill>
              </a:defRPr>
            </a:pPr>
            <a:r>
              <a:rPr sz="1800">
                <a:solidFill>
                  <a:srgbClr val="111827"/>
                </a:solidFill>
              </a:rPr>
              <a:t>distance minimale à la zone à chaque frame.</a:t>
            </a:r>
          </a:p>
        </p:txBody>
      </p:sp>
      <p:sp>
        <p:nvSpPr>
          <p:cNvPr id="29" name="">
            <a:extLst xmlns:a="http://schemas.openxmlformats.org/drawingml/2006/main">
              <a:ext uri="{FF2B5EF4-FFF2-40B4-BE49-F238E27FC236}">
                <a16:creationId xmlns:a16="http://schemas.microsoft.com/office/drawing/2014/main" id="{E68C5B26-D0EA-43E0-8374-F625615F064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04850" y="9582150"/>
            <a:ext cx="16383000" cy="1524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/>
          <a:lstStyle xmlns:a="http://schemas.openxmlformats.org/drawingml/2006/main"/>
          <a:p xmlns:a="http://schemas.openxmlformats.org/drawingml/2006/main">
            <a:pPr>
              <a:defRPr sz="1050">
                <a:solidFill>
                  <a:srgbClr val="7A8494"/>
                </a:solidFill>
              </a:defRPr>
            </a:pPr>
            <a:r>
              <a:rPr sz="1050">
                <a:solidFill>
                  <a:srgbClr val="7A8494"/>
                </a:solidFill>
              </a:rPr>
              <a:t>POC sécurité machine · collecte de données</a:t>
            </a:r>
          </a:p>
        </p:txBody>
      </p:sp>
      <p:sp>
        <p:nvSpPr>
          <p:cNvPr id="30" name="">
            <a:extLst xmlns:a="http://schemas.openxmlformats.org/drawingml/2006/main">
              <a:ext uri="{FF2B5EF4-FFF2-40B4-BE49-F238E27FC236}">
                <a16:creationId xmlns:a16="http://schemas.microsoft.com/office/drawing/2014/main" id="{D750B23C-39D9-4612-AEE3-88D14E0359F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7087850" y="9582150"/>
            <a:ext cx="495300" cy="1524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/>
          <a:lstStyle xmlns:a="http://schemas.openxmlformats.org/drawingml/2006/main"/>
          <a:p xmlns:a="http://schemas.openxmlformats.org/drawingml/2006/main">
            <a:pPr>
              <a:defRPr sz="1050">
                <a:solidFill>
                  <a:srgbClr val="7A8494"/>
                </a:solidFill>
              </a:defRPr>
            </a:pPr>
            <a:r>
              <a:rPr sz="1050">
                <a:solidFill>
                  <a:srgbClr val="7A8494"/>
                </a:solidFill>
              </a:rPr>
              <a:t>mai 2026</a:t>
            </a:r>
          </a:p>
        </p:txBody>
      </p:sp>
    </p:spTree>
    <p:extLst>
      <p:ext uri="{BB962C8B-B14F-4D97-AF65-F5344CB8AC3E}">
        <p14:creationId xmlns:p14="http://schemas.microsoft.com/office/powerpoint/2010/main" val="1608861373"/>
      </p:ext>
    </p:extLst>
  </p:cSld>
</p:sld>
</file>

<file path=ppt/slides/slide4.xml><?xml version="1.0" encoding="utf-8"?>
<p:sld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" name="background">
            <a:extLst xmlns:a="http://schemas.openxmlformats.org/drawingml/2006/main">
              <a:ext uri="{FF2B5EF4-FFF2-40B4-BE49-F238E27FC236}">
                <a16:creationId xmlns:a16="http://schemas.microsoft.com/office/drawing/2014/main" id="{899BCEB4-032E-4C19-822C-6D4284C4423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8288000" cy="10287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7F8FA"/>
          </a:solidFill>
        </p:spPr>
      </p:sp>
      <p:sp>
        <p:nvSpPr>
          <p:cNvPr id="2" name="slide-title">
            <a:extLst xmlns:a="http://schemas.openxmlformats.org/drawingml/2006/main">
              <a:ext uri="{FF2B5EF4-FFF2-40B4-BE49-F238E27FC236}">
                <a16:creationId xmlns:a16="http://schemas.microsoft.com/office/drawing/2014/main" id="{364E47AF-96FD-4601-A9F9-A3918D5CB57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04850" y="552450"/>
            <a:ext cx="16878300" cy="6096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/>
          <a:lstStyle xmlns:a="http://schemas.openxmlformats.org/drawingml/2006/main"/>
          <a:p xmlns:a="http://schemas.openxmlformats.org/drawingml/2006/main">
            <a:pPr>
              <a:lnSpc>
                <a:spcPct val="90000"/>
              </a:lnSpc>
              <a:buNone/>
              <a:defRPr sz="4350" b="1">
                <a:solidFill>
                  <a:srgbClr val="111827"/>
                </a:solidFill>
              </a:defRPr>
            </a:pPr>
            <a:r>
              <a:rPr sz="4350" b="1">
                <a:solidFill>
                  <a:srgbClr val="111827"/>
                </a:solidFill>
              </a:rPr>
              <a:t>Labellisation minimale pour rendre le dataset entraînable</a:t>
            </a:r>
          </a:p>
        </p:txBody>
      </p:sp>
      <p:sp>
        <p:nvSpPr>
          <p:cNvPr id="3" name="slide-subtitle">
            <a:extLst xmlns:a="http://schemas.openxmlformats.org/drawingml/2006/main">
              <a:ext uri="{FF2B5EF4-FFF2-40B4-BE49-F238E27FC236}">
                <a16:creationId xmlns:a16="http://schemas.microsoft.com/office/drawing/2014/main" id="{7F9F3620-45FE-4818-8C9C-76CFFED59C8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04850" y="1276350"/>
            <a:ext cx="8324850" cy="32385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/>
          <a:lstStyle xmlns:a="http://schemas.openxmlformats.org/drawingml/2006/main"/>
          <a:p xmlns:a="http://schemas.openxmlformats.org/drawingml/2006/main">
            <a:pPr>
              <a:lnSpc>
                <a:spcPct val="108000"/>
              </a:lnSpc>
              <a:buNone/>
              <a:defRPr sz="1875">
                <a:solidFill>
                  <a:srgbClr val="596273"/>
                </a:solidFill>
              </a:defRPr>
            </a:pPr>
            <a:r>
              <a:rPr sz="1875">
                <a:solidFill>
                  <a:srgbClr val="596273"/>
                </a:solidFill>
              </a:rPr>
              <a:t>On sépare les labels observés pendant la collecte des labels prédictifs générés ensuite.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F08503CE-FF79-4D60-A2DB-404A717734C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04850" y="1914906"/>
            <a:ext cx="5461000" cy="5804154"/>
          </a:xfrm>
          <a:prstGeom xmlns:a="http://schemas.openxmlformats.org/drawingml/2006/main" prst="roundRect">
            <a:avLst>
              <a:gd name="adj" fmla="val 1395"/>
            </a:avLst>
          </a:prstGeom>
          <a:solidFill xmlns:a="http://schemas.openxmlformats.org/drawingml/2006/main">
            <a:srgbClr val="F6F8FC"/>
          </a:solidFill>
          <a:ln xmlns:a="http://schemas.openxmlformats.org/drawingml/2006/main" w="9525">
            <a:solidFill>
              <a:srgbClr val="D9E0E7"/>
            </a:solidFill>
            <a:prstDash val="solid"/>
          </a:ln>
        </p:spPr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B5FBAC96-64F1-49A4-BE05-BF072792261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28700" y="2209800"/>
            <a:ext cx="4819650" cy="3810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/>
          <a:lstStyle xmlns:a="http://schemas.openxmlformats.org/drawingml/2006/main"/>
          <a:p xmlns:a="http://schemas.openxmlformats.org/drawingml/2006/main">
            <a:pPr>
              <a:defRPr sz="2400" b="1">
                <a:solidFill>
                  <a:srgbClr val="172033"/>
                </a:solidFill>
              </a:defRPr>
            </a:pPr>
            <a:r>
              <a:rPr sz="2400" b="1">
                <a:solidFill>
                  <a:srgbClr val="172033"/>
                </a:solidFill>
              </a:rPr>
              <a:t>Session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6C470851-C824-4757-B3BC-84CD6A991DE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28700" y="2781300"/>
            <a:ext cx="95250" cy="95250"/>
          </a:xfrm>
          <a:prstGeom xmlns:a="http://schemas.openxmlformats.org/drawingml/2006/main" prst="roundRect">
            <a:avLst>
              <a:gd name="adj" fmla="val 50000"/>
            </a:avLst>
          </a:prstGeom>
          <a:solidFill xmlns:a="http://schemas.openxmlformats.org/drawingml/2006/main">
            <a:srgbClr val="172033"/>
          </a:solidFill>
        </p:spPr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35D42535-94F0-4300-8C73-C6DA697A333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57300" y="2781300"/>
            <a:ext cx="4591050" cy="3048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/>
          <a:lstStyle xmlns:a="http://schemas.openxmlformats.org/drawingml/2006/main"/>
          <a:p xmlns:a="http://schemas.openxmlformats.org/drawingml/2006/main">
            <a:pPr>
              <a:lnSpc>
                <a:spcPct val="105000"/>
              </a:lnSpc>
              <a:buNone/>
              <a:defRPr sz="1800">
                <a:solidFill>
                  <a:srgbClr val="111827"/>
                </a:solidFill>
              </a:defRPr>
            </a:pPr>
            <a:r>
              <a:rPr sz="1800">
                <a:solidFill>
                  <a:srgbClr val="111827"/>
                </a:solidFill>
              </a:rPr>
              <a:t>session_id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0495E970-968A-4EE6-B53A-3F5720444DE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28700" y="3181350"/>
            <a:ext cx="95250" cy="95250"/>
          </a:xfrm>
          <a:prstGeom xmlns:a="http://schemas.openxmlformats.org/drawingml/2006/main" prst="roundRect">
            <a:avLst>
              <a:gd name="adj" fmla="val 50000"/>
            </a:avLst>
          </a:prstGeom>
          <a:solidFill xmlns:a="http://schemas.openxmlformats.org/drawingml/2006/main">
            <a:srgbClr val="172033"/>
          </a:solidFill>
        </p:spPr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C48B433B-989A-48D3-A01D-E9B7BECE910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57300" y="3181350"/>
            <a:ext cx="4591050" cy="3048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/>
          <a:lstStyle xmlns:a="http://schemas.openxmlformats.org/drawingml/2006/main"/>
          <a:p xmlns:a="http://schemas.openxmlformats.org/drawingml/2006/main">
            <a:pPr>
              <a:lnSpc>
                <a:spcPct val="105000"/>
              </a:lnSpc>
              <a:buNone/>
              <a:defRPr sz="1800">
                <a:solidFill>
                  <a:srgbClr val="111827"/>
                </a:solidFill>
              </a:defRPr>
            </a:pPr>
            <a:r>
              <a:rPr sz="1800">
                <a:solidFill>
                  <a:srgbClr val="111827"/>
                </a:solidFill>
              </a:rPr>
              <a:t>person_id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BB704EF3-CFE8-461B-BD82-A1DA3E2D776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28700" y="3581400"/>
            <a:ext cx="95250" cy="95250"/>
          </a:xfrm>
          <a:prstGeom xmlns:a="http://schemas.openxmlformats.org/drawingml/2006/main" prst="roundRect">
            <a:avLst>
              <a:gd name="adj" fmla="val 50000"/>
            </a:avLst>
          </a:prstGeom>
          <a:solidFill xmlns:a="http://schemas.openxmlformats.org/drawingml/2006/main">
            <a:srgbClr val="172033"/>
          </a:solidFill>
        </p:spPr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824D8D8D-A8FF-4B3A-AD87-C30986A5926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57300" y="3581400"/>
            <a:ext cx="4591050" cy="3048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/>
          <a:lstStyle xmlns:a="http://schemas.openxmlformats.org/drawingml/2006/main"/>
          <a:p xmlns:a="http://schemas.openxmlformats.org/drawingml/2006/main">
            <a:pPr>
              <a:lnSpc>
                <a:spcPct val="105000"/>
              </a:lnSpc>
              <a:buNone/>
              <a:defRPr sz="1800">
                <a:solidFill>
                  <a:srgbClr val="111827"/>
                </a:solidFill>
              </a:defRPr>
            </a:pPr>
            <a:r>
              <a:rPr sz="1800">
                <a:solidFill>
                  <a:srgbClr val="111827"/>
                </a:solidFill>
              </a:rPr>
              <a:t>camera_id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3F247847-5380-4263-BB3C-84E263E93EC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28700" y="3981450"/>
            <a:ext cx="95250" cy="95250"/>
          </a:xfrm>
          <a:prstGeom xmlns:a="http://schemas.openxmlformats.org/drawingml/2006/main" prst="roundRect">
            <a:avLst>
              <a:gd name="adj" fmla="val 50000"/>
            </a:avLst>
          </a:prstGeom>
          <a:solidFill xmlns:a="http://schemas.openxmlformats.org/drawingml/2006/main">
            <a:srgbClr val="172033"/>
          </a:solidFill>
        </p:spPr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A7DC94F7-AF4E-42A7-B3B3-A174A9973BE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57300" y="3981450"/>
            <a:ext cx="4591050" cy="3048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/>
          <a:lstStyle xmlns:a="http://schemas.openxmlformats.org/drawingml/2006/main"/>
          <a:p xmlns:a="http://schemas.openxmlformats.org/drawingml/2006/main">
            <a:pPr>
              <a:lnSpc>
                <a:spcPct val="105000"/>
              </a:lnSpc>
              <a:buNone/>
              <a:defRPr sz="1800">
                <a:solidFill>
                  <a:srgbClr val="111827"/>
                </a:solidFill>
              </a:defRPr>
            </a:pPr>
            <a:r>
              <a:rPr sz="1800">
                <a:solidFill>
                  <a:srgbClr val="111827"/>
                </a:solidFill>
              </a:rPr>
              <a:t>FPS, résolution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A4324F9A-2DBD-415F-9F3D-624CD3AF155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28700" y="4381500"/>
            <a:ext cx="95250" cy="95250"/>
          </a:xfrm>
          <a:prstGeom xmlns:a="http://schemas.openxmlformats.org/drawingml/2006/main" prst="roundRect">
            <a:avLst>
              <a:gd name="adj" fmla="val 50000"/>
            </a:avLst>
          </a:prstGeom>
          <a:solidFill xmlns:a="http://schemas.openxmlformats.org/drawingml/2006/main">
            <a:srgbClr val="172033"/>
          </a:solidFill>
        </p:spPr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5CB184D9-B62A-4927-8BE7-E9D775B28D6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57300" y="4381500"/>
            <a:ext cx="4591050" cy="3048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/>
          <a:lstStyle xmlns:a="http://schemas.openxmlformats.org/drawingml/2006/main"/>
          <a:p xmlns:a="http://schemas.openxmlformats.org/drawingml/2006/main">
            <a:pPr>
              <a:lnSpc>
                <a:spcPct val="105000"/>
              </a:lnSpc>
              <a:buNone/>
              <a:defRPr sz="1800">
                <a:solidFill>
                  <a:srgbClr val="111827"/>
                </a:solidFill>
              </a:defRPr>
            </a:pPr>
            <a:r>
              <a:rPr sz="1800">
                <a:solidFill>
                  <a:srgbClr val="111827"/>
                </a:solidFill>
              </a:rPr>
              <a:t>scénario: safe / near_miss / unsafe_event</a:t>
            </a:r>
          </a:p>
        </p:txBody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370DA974-7619-4F78-ACB4-8085770DADA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13500" y="1914906"/>
            <a:ext cx="5461000" cy="5804154"/>
          </a:xfrm>
          <a:prstGeom xmlns:a="http://schemas.openxmlformats.org/drawingml/2006/main" prst="roundRect">
            <a:avLst>
              <a:gd name="adj" fmla="val 1395"/>
            </a:avLst>
          </a:prstGeom>
          <a:solidFill xmlns:a="http://schemas.openxmlformats.org/drawingml/2006/main">
            <a:srgbClr val="FFF7F6"/>
          </a:solidFill>
          <a:ln xmlns:a="http://schemas.openxmlformats.org/drawingml/2006/main" w="9525">
            <a:solidFill>
              <a:srgbClr val="F1C2BF"/>
            </a:solidFill>
            <a:prstDash val="solid"/>
          </a:ln>
        </p:spPr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6FFCABAD-F76A-4F90-B3A0-0190B590C2C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743700" y="2209800"/>
            <a:ext cx="4819650" cy="3810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/>
          <a:lstStyle xmlns:a="http://schemas.openxmlformats.org/drawingml/2006/main"/>
          <a:p xmlns:a="http://schemas.openxmlformats.org/drawingml/2006/main">
            <a:pPr>
              <a:defRPr sz="2400" b="1">
                <a:solidFill>
                  <a:srgbClr val="D43F3A"/>
                </a:solidFill>
              </a:defRPr>
            </a:pPr>
            <a:r>
              <a:rPr sz="2400" b="1">
                <a:solidFill>
                  <a:srgbClr val="D43F3A"/>
                </a:solidFill>
              </a:rPr>
              <a:t>Événement</a:t>
            </a:r>
          </a:p>
        </p:txBody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3BFAFE65-0953-4D7E-A35A-5A31E92C075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743700" y="2781300"/>
            <a:ext cx="95250" cy="95250"/>
          </a:xfrm>
          <a:prstGeom xmlns:a="http://schemas.openxmlformats.org/drawingml/2006/main" prst="roundRect">
            <a:avLst>
              <a:gd name="adj" fmla="val 50000"/>
            </a:avLst>
          </a:prstGeom>
          <a:solidFill xmlns:a="http://schemas.openxmlformats.org/drawingml/2006/main">
            <a:srgbClr val="D43F3A"/>
          </a:solidFill>
        </p:spPr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3CE9E9EB-166F-471A-A759-44845EC7681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972300" y="2781300"/>
            <a:ext cx="4591050" cy="3048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/>
          <a:lstStyle xmlns:a="http://schemas.openxmlformats.org/drawingml/2006/main"/>
          <a:p xmlns:a="http://schemas.openxmlformats.org/drawingml/2006/main">
            <a:pPr>
              <a:lnSpc>
                <a:spcPct val="105000"/>
              </a:lnSpc>
              <a:buNone/>
              <a:defRPr sz="1800">
                <a:solidFill>
                  <a:srgbClr val="111827"/>
                </a:solidFill>
              </a:defRPr>
            </a:pPr>
            <a:r>
              <a:rPr sz="1800">
                <a:solidFill>
                  <a:srgbClr val="111827"/>
                </a:solidFill>
              </a:rPr>
              <a:t>event_start_frame</a:t>
            </a:r>
          </a:p>
        </p:txBody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9BB82189-FF32-4A17-957A-D365634788C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743700" y="3181350"/>
            <a:ext cx="95250" cy="95250"/>
          </a:xfrm>
          <a:prstGeom xmlns:a="http://schemas.openxmlformats.org/drawingml/2006/main" prst="roundRect">
            <a:avLst>
              <a:gd name="adj" fmla="val 50000"/>
            </a:avLst>
          </a:prstGeom>
          <a:solidFill xmlns:a="http://schemas.openxmlformats.org/drawingml/2006/main">
            <a:srgbClr val="D43F3A"/>
          </a:solidFill>
        </p:spPr>
      </p:sp>
      <p:sp>
        <p:nv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C3B3C244-4B34-4696-8298-ED5FAC24249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972300" y="3181350"/>
            <a:ext cx="4591050" cy="3048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/>
          <a:lstStyle xmlns:a="http://schemas.openxmlformats.org/drawingml/2006/main"/>
          <a:p xmlns:a="http://schemas.openxmlformats.org/drawingml/2006/main">
            <a:pPr>
              <a:lnSpc>
                <a:spcPct val="105000"/>
              </a:lnSpc>
              <a:buNone/>
              <a:defRPr sz="1800">
                <a:solidFill>
                  <a:srgbClr val="111827"/>
                </a:solidFill>
              </a:defRPr>
            </a:pPr>
            <a:r>
              <a:rPr sz="1800">
                <a:solidFill>
                  <a:srgbClr val="111827"/>
                </a:solidFill>
              </a:rPr>
              <a:t>event_end_frame</a:t>
            </a:r>
          </a:p>
        </p:txBody>
      </p:sp>
      <p:sp>
        <p:nvSpPr>
          <p:cNvPr id="22" name="">
            <a:extLst xmlns:a="http://schemas.openxmlformats.org/drawingml/2006/main">
              <a:ext uri="{FF2B5EF4-FFF2-40B4-BE49-F238E27FC236}">
                <a16:creationId xmlns:a16="http://schemas.microsoft.com/office/drawing/2014/main" id="{F12AF30E-076F-4E81-B7B9-5B696071B54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743700" y="3581400"/>
            <a:ext cx="95250" cy="95250"/>
          </a:xfrm>
          <a:prstGeom xmlns:a="http://schemas.openxmlformats.org/drawingml/2006/main" prst="roundRect">
            <a:avLst>
              <a:gd name="adj" fmla="val 50000"/>
            </a:avLst>
          </a:prstGeom>
          <a:solidFill xmlns:a="http://schemas.openxmlformats.org/drawingml/2006/main">
            <a:srgbClr val="D43F3A"/>
          </a:solidFill>
        </p:spPr>
      </p:sp>
      <p:sp>
        <p:nvSpPr>
          <p:cNvPr id="23" name="">
            <a:extLst xmlns:a="http://schemas.openxmlformats.org/drawingml/2006/main">
              <a:ext uri="{FF2B5EF4-FFF2-40B4-BE49-F238E27FC236}">
                <a16:creationId xmlns:a16="http://schemas.microsoft.com/office/drawing/2014/main" id="{4442B721-6E37-4B9D-921E-E66C855546A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972300" y="3581400"/>
            <a:ext cx="4591050" cy="3048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/>
          <a:lstStyle xmlns:a="http://schemas.openxmlformats.org/drawingml/2006/main"/>
          <a:p xmlns:a="http://schemas.openxmlformats.org/drawingml/2006/main">
            <a:pPr>
              <a:lnSpc>
                <a:spcPct val="105000"/>
              </a:lnSpc>
              <a:buNone/>
              <a:defRPr sz="1800">
                <a:solidFill>
                  <a:srgbClr val="111827"/>
                </a:solidFill>
              </a:defRPr>
            </a:pPr>
            <a:r>
              <a:rPr sz="1800">
                <a:solidFill>
                  <a:srgbClr val="111827"/>
                </a:solidFill>
              </a:rPr>
              <a:t>partie du corps concernée</a:t>
            </a:r>
          </a:p>
        </p:txBody>
      </p:sp>
      <p:sp>
        <p:nvSpPr>
          <p:cNvPr id="24" name="">
            <a:extLst xmlns:a="http://schemas.openxmlformats.org/drawingml/2006/main">
              <a:ext uri="{FF2B5EF4-FFF2-40B4-BE49-F238E27FC236}">
                <a16:creationId xmlns:a16="http://schemas.microsoft.com/office/drawing/2014/main" id="{0EF94E3A-CE3D-4FAB-BE5B-2AD87747972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743700" y="3981450"/>
            <a:ext cx="95250" cy="95250"/>
          </a:xfrm>
          <a:prstGeom xmlns:a="http://schemas.openxmlformats.org/drawingml/2006/main" prst="roundRect">
            <a:avLst>
              <a:gd name="adj" fmla="val 50000"/>
            </a:avLst>
          </a:prstGeom>
          <a:solidFill xmlns:a="http://schemas.openxmlformats.org/drawingml/2006/main">
            <a:srgbClr val="D43F3A"/>
          </a:solidFill>
        </p:spPr>
      </p:sp>
      <p:sp>
        <p:nvSpPr>
          <p:cNvPr id="25" name="">
            <a:extLst xmlns:a="http://schemas.openxmlformats.org/drawingml/2006/main">
              <a:ext uri="{FF2B5EF4-FFF2-40B4-BE49-F238E27FC236}">
                <a16:creationId xmlns:a16="http://schemas.microsoft.com/office/drawing/2014/main" id="{67C6C568-80EE-4AE5-988A-72C61645CC8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972300" y="3981450"/>
            <a:ext cx="4591050" cy="3048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/>
          <a:lstStyle xmlns:a="http://schemas.openxmlformats.org/drawingml/2006/main"/>
          <a:p xmlns:a="http://schemas.openxmlformats.org/drawingml/2006/main">
            <a:pPr>
              <a:lnSpc>
                <a:spcPct val="105000"/>
              </a:lnSpc>
              <a:buNone/>
              <a:defRPr sz="1800">
                <a:solidFill>
                  <a:srgbClr val="111827"/>
                </a:solidFill>
              </a:defRPr>
            </a:pPr>
            <a:r>
              <a:rPr sz="1800">
                <a:solidFill>
                  <a:srgbClr val="111827"/>
                </a:solidFill>
              </a:rPr>
              <a:t>inside_zone par frame</a:t>
            </a:r>
          </a:p>
        </p:txBody>
      </p:sp>
      <p:sp>
        <p:nvSpPr>
          <p:cNvPr id="26" name="">
            <a:extLst xmlns:a="http://schemas.openxmlformats.org/drawingml/2006/main">
              <a:ext uri="{FF2B5EF4-FFF2-40B4-BE49-F238E27FC236}">
                <a16:creationId xmlns:a16="http://schemas.microsoft.com/office/drawing/2014/main" id="{86902990-A06D-4DBD-8CD0-E50FDE31A84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743700" y="4381500"/>
            <a:ext cx="95250" cy="95250"/>
          </a:xfrm>
          <a:prstGeom xmlns:a="http://schemas.openxmlformats.org/drawingml/2006/main" prst="roundRect">
            <a:avLst>
              <a:gd name="adj" fmla="val 50000"/>
            </a:avLst>
          </a:prstGeom>
          <a:solidFill xmlns:a="http://schemas.openxmlformats.org/drawingml/2006/main">
            <a:srgbClr val="D43F3A"/>
          </a:solidFill>
        </p:spPr>
      </p:sp>
      <p:sp>
        <p:nvSpPr>
          <p:cNvPr id="27" name="">
            <a:extLst xmlns:a="http://schemas.openxmlformats.org/drawingml/2006/main">
              <a:ext uri="{FF2B5EF4-FFF2-40B4-BE49-F238E27FC236}">
                <a16:creationId xmlns:a16="http://schemas.microsoft.com/office/drawing/2014/main" id="{E58C20BD-0976-43E5-91B9-024D02A31FC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972300" y="4381500"/>
            <a:ext cx="4591050" cy="3048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/>
          <a:lstStyle xmlns:a="http://schemas.openxmlformats.org/drawingml/2006/main"/>
          <a:p xmlns:a="http://schemas.openxmlformats.org/drawingml/2006/main">
            <a:pPr>
              <a:lnSpc>
                <a:spcPct val="105000"/>
              </a:lnSpc>
              <a:buNone/>
              <a:defRPr sz="1800">
                <a:solidFill>
                  <a:srgbClr val="111827"/>
                </a:solidFill>
              </a:defRPr>
            </a:pPr>
            <a:r>
              <a:rPr sz="1800">
                <a:solidFill>
                  <a:srgbClr val="111827"/>
                </a:solidFill>
              </a:rPr>
              <a:t>distance minimale à la zone</a:t>
            </a:r>
          </a:p>
        </p:txBody>
      </p:sp>
      <p:sp>
        <p:nvSpPr>
          <p:cNvPr id="28" name="">
            <a:extLst xmlns:a="http://schemas.openxmlformats.org/drawingml/2006/main">
              <a:ext uri="{FF2B5EF4-FFF2-40B4-BE49-F238E27FC236}">
                <a16:creationId xmlns:a16="http://schemas.microsoft.com/office/drawing/2014/main" id="{EDF108D6-D90B-4FCD-A32E-507311BDF4C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122150" y="1914906"/>
            <a:ext cx="5461000" cy="5804154"/>
          </a:xfrm>
          <a:prstGeom xmlns:a="http://schemas.openxmlformats.org/drawingml/2006/main" prst="roundRect">
            <a:avLst>
              <a:gd name="adj" fmla="val 1395"/>
            </a:avLst>
          </a:prstGeom>
          <a:solidFill xmlns:a="http://schemas.openxmlformats.org/drawingml/2006/main">
            <a:srgbClr val="F2F7FF"/>
          </a:solidFill>
          <a:ln xmlns:a="http://schemas.openxmlformats.org/drawingml/2006/main" w="9525">
            <a:solidFill>
              <a:srgbClr val="C9DCFF"/>
            </a:solidFill>
            <a:prstDash val="solid"/>
          </a:ln>
        </p:spPr>
      </p:sp>
      <p:sp>
        <p:nvSpPr>
          <p:cNvPr id="29" name="">
            <a:extLst xmlns:a="http://schemas.openxmlformats.org/drawingml/2006/main">
              <a:ext uri="{FF2B5EF4-FFF2-40B4-BE49-F238E27FC236}">
                <a16:creationId xmlns:a16="http://schemas.microsoft.com/office/drawing/2014/main" id="{A1160239-AA10-4598-B8B4-FA4971AFEDB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439650" y="2209800"/>
            <a:ext cx="4819650" cy="3810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/>
          <a:lstStyle xmlns:a="http://schemas.openxmlformats.org/drawingml/2006/main"/>
          <a:p xmlns:a="http://schemas.openxmlformats.org/drawingml/2006/main">
            <a:pPr>
              <a:defRPr sz="2400" b="1">
                <a:solidFill>
                  <a:srgbClr val="1663FF"/>
                </a:solidFill>
              </a:defRPr>
            </a:pPr>
            <a:r>
              <a:rPr sz="2400" b="1">
                <a:solidFill>
                  <a:srgbClr val="1663FF"/>
                </a:solidFill>
              </a:rPr>
              <a:t>États humains</a:t>
            </a:r>
          </a:p>
        </p:txBody>
      </p:sp>
      <p:sp>
        <p:nvSpPr>
          <p:cNvPr id="30" name="">
            <a:extLst xmlns:a="http://schemas.openxmlformats.org/drawingml/2006/main">
              <a:ext uri="{FF2B5EF4-FFF2-40B4-BE49-F238E27FC236}">
                <a16:creationId xmlns:a16="http://schemas.microsoft.com/office/drawing/2014/main" id="{B4396213-BF63-41CE-BBC2-5B5076AF770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439650" y="2781300"/>
            <a:ext cx="95250" cy="95250"/>
          </a:xfrm>
          <a:prstGeom xmlns:a="http://schemas.openxmlformats.org/drawingml/2006/main" prst="roundRect">
            <a:avLst>
              <a:gd name="adj" fmla="val 50000"/>
            </a:avLst>
          </a:prstGeom>
          <a:solidFill xmlns:a="http://schemas.openxmlformats.org/drawingml/2006/main">
            <a:srgbClr val="1663FF"/>
          </a:solidFill>
        </p:spPr>
      </p:sp>
      <p:sp>
        <p:nvSpPr>
          <p:cNvPr id="31" name="">
            <a:extLst xmlns:a="http://schemas.openxmlformats.org/drawingml/2006/main">
              <a:ext uri="{FF2B5EF4-FFF2-40B4-BE49-F238E27FC236}">
                <a16:creationId xmlns:a16="http://schemas.microsoft.com/office/drawing/2014/main" id="{2E02C451-8DA8-4416-A2CA-ACCBC0919F3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668250" y="2781300"/>
            <a:ext cx="4591050" cy="3048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/>
          <a:lstStyle xmlns:a="http://schemas.openxmlformats.org/drawingml/2006/main"/>
          <a:p xmlns:a="http://schemas.openxmlformats.org/drawingml/2006/main">
            <a:pPr>
              <a:lnSpc>
                <a:spcPct val="105000"/>
              </a:lnSpc>
              <a:buNone/>
              <a:defRPr sz="1800">
                <a:solidFill>
                  <a:srgbClr val="111827"/>
                </a:solidFill>
              </a:defRPr>
            </a:pPr>
            <a:r>
              <a:rPr sz="1800">
                <a:solidFill>
                  <a:srgbClr val="111827"/>
                </a:solidFill>
              </a:rPr>
              <a:t>attention: attentive / distracted / unclear</a:t>
            </a:r>
          </a:p>
        </p:txBody>
      </p:sp>
      <p:sp>
        <p:nvSpPr>
          <p:cNvPr id="32" name="">
            <a:extLst xmlns:a="http://schemas.openxmlformats.org/drawingml/2006/main">
              <a:ext uri="{FF2B5EF4-FFF2-40B4-BE49-F238E27FC236}">
                <a16:creationId xmlns:a16="http://schemas.microsoft.com/office/drawing/2014/main" id="{42D44691-46D6-46BC-BC9F-FD2EF05A4DC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439650" y="3181350"/>
            <a:ext cx="95250" cy="95250"/>
          </a:xfrm>
          <a:prstGeom xmlns:a="http://schemas.openxmlformats.org/drawingml/2006/main" prst="roundRect">
            <a:avLst>
              <a:gd name="adj" fmla="val 50000"/>
            </a:avLst>
          </a:prstGeom>
          <a:solidFill xmlns:a="http://schemas.openxmlformats.org/drawingml/2006/main">
            <a:srgbClr val="1663FF"/>
          </a:solidFill>
        </p:spPr>
      </p:sp>
      <p:sp>
        <p:nvSpPr>
          <p:cNvPr id="33" name="">
            <a:extLst xmlns:a="http://schemas.openxmlformats.org/drawingml/2006/main">
              <a:ext uri="{FF2B5EF4-FFF2-40B4-BE49-F238E27FC236}">
                <a16:creationId xmlns:a16="http://schemas.microsoft.com/office/drawing/2014/main" id="{AC2DBA0C-71BC-419E-BD43-2BBDDC82C4C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668250" y="3181350"/>
            <a:ext cx="4591050" cy="3048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/>
          <a:lstStyle xmlns:a="http://schemas.openxmlformats.org/drawingml/2006/main"/>
          <a:p xmlns:a="http://schemas.openxmlformats.org/drawingml/2006/main">
            <a:pPr>
              <a:lnSpc>
                <a:spcPct val="105000"/>
              </a:lnSpc>
              <a:buNone/>
              <a:defRPr sz="1800">
                <a:solidFill>
                  <a:srgbClr val="111827"/>
                </a:solidFill>
              </a:defRPr>
            </a:pPr>
            <a:r>
              <a:rPr sz="1800">
                <a:solidFill>
                  <a:srgbClr val="111827"/>
                </a:solidFill>
              </a:rPr>
              <a:t>collar: correct / incorrect / not_visible</a:t>
            </a:r>
          </a:p>
        </p:txBody>
      </p:sp>
      <p:sp>
        <p:nvSpPr>
          <p:cNvPr id="34" name="">
            <a:extLst xmlns:a="http://schemas.openxmlformats.org/drawingml/2006/main">
              <a:ext uri="{FF2B5EF4-FFF2-40B4-BE49-F238E27FC236}">
                <a16:creationId xmlns:a16="http://schemas.microsoft.com/office/drawing/2014/main" id="{37A92E0F-42DC-4618-BE01-25528321BB2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439650" y="3581400"/>
            <a:ext cx="95250" cy="95250"/>
          </a:xfrm>
          <a:prstGeom xmlns:a="http://schemas.openxmlformats.org/drawingml/2006/main" prst="roundRect">
            <a:avLst>
              <a:gd name="adj" fmla="val 50000"/>
            </a:avLst>
          </a:prstGeom>
          <a:solidFill xmlns:a="http://schemas.openxmlformats.org/drawingml/2006/main">
            <a:srgbClr val="1663FF"/>
          </a:solidFill>
        </p:spPr>
      </p:sp>
      <p:sp>
        <p:nvSpPr>
          <p:cNvPr id="35" name="">
            <a:extLst xmlns:a="http://schemas.openxmlformats.org/drawingml/2006/main">
              <a:ext uri="{FF2B5EF4-FFF2-40B4-BE49-F238E27FC236}">
                <a16:creationId xmlns:a16="http://schemas.microsoft.com/office/drawing/2014/main" id="{B5C9A8D0-235A-4C9F-8AED-B2FF0202255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668250" y="3581400"/>
            <a:ext cx="4591050" cy="3048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/>
          <a:lstStyle xmlns:a="http://schemas.openxmlformats.org/drawingml/2006/main"/>
          <a:p xmlns:a="http://schemas.openxmlformats.org/drawingml/2006/main">
            <a:pPr>
              <a:lnSpc>
                <a:spcPct val="105000"/>
              </a:lnSpc>
              <a:buNone/>
              <a:defRPr sz="1800">
                <a:solidFill>
                  <a:srgbClr val="111827"/>
                </a:solidFill>
              </a:defRPr>
            </a:pPr>
            <a:r>
              <a:rPr sz="1800">
                <a:solidFill>
                  <a:srgbClr val="111827"/>
                </a:solidFill>
              </a:rPr>
              <a:t>occlusion: oui / non</a:t>
            </a:r>
          </a:p>
        </p:txBody>
      </p:sp>
      <p:sp>
        <p:nvSpPr>
          <p:cNvPr id="36" name="">
            <a:extLst xmlns:a="http://schemas.openxmlformats.org/drawingml/2006/main">
              <a:ext uri="{FF2B5EF4-FFF2-40B4-BE49-F238E27FC236}">
                <a16:creationId xmlns:a16="http://schemas.microsoft.com/office/drawing/2014/main" id="{97588FB2-3D17-435B-A41D-2062452B6D5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439650" y="3981450"/>
            <a:ext cx="95250" cy="95250"/>
          </a:xfrm>
          <a:prstGeom xmlns:a="http://schemas.openxmlformats.org/drawingml/2006/main" prst="roundRect">
            <a:avLst>
              <a:gd name="adj" fmla="val 50000"/>
            </a:avLst>
          </a:prstGeom>
          <a:solidFill xmlns:a="http://schemas.openxmlformats.org/drawingml/2006/main">
            <a:srgbClr val="1663FF"/>
          </a:solidFill>
        </p:spPr>
      </p:sp>
      <p:sp>
        <p:nvSpPr>
          <p:cNvPr id="37" name="">
            <a:extLst xmlns:a="http://schemas.openxmlformats.org/drawingml/2006/main">
              <a:ext uri="{FF2B5EF4-FFF2-40B4-BE49-F238E27FC236}">
                <a16:creationId xmlns:a16="http://schemas.microsoft.com/office/drawing/2014/main" id="{92BDE936-EA17-4380-8FF4-E098EAF2FCD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668250" y="3981450"/>
            <a:ext cx="4591050" cy="3048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/>
          <a:lstStyle xmlns:a="http://schemas.openxmlformats.org/drawingml/2006/main"/>
          <a:p xmlns:a="http://schemas.openxmlformats.org/drawingml/2006/main">
            <a:pPr>
              <a:lnSpc>
                <a:spcPct val="105000"/>
              </a:lnSpc>
              <a:buNone/>
              <a:defRPr sz="1800">
                <a:solidFill>
                  <a:srgbClr val="111827"/>
                </a:solidFill>
              </a:defRPr>
            </a:pPr>
            <a:r>
              <a:rPr sz="1800">
                <a:solidFill>
                  <a:srgbClr val="111827"/>
                </a:solidFill>
              </a:rPr>
              <a:t>qualité: usable / à revoir</a:t>
            </a:r>
          </a:p>
        </p:txBody>
      </p:sp>
      <p:sp>
        <p:nvSpPr>
          <p:cNvPr id="38" name="">
            <a:extLst xmlns:a="http://schemas.openxmlformats.org/drawingml/2006/main">
              <a:ext uri="{FF2B5EF4-FFF2-40B4-BE49-F238E27FC236}">
                <a16:creationId xmlns:a16="http://schemas.microsoft.com/office/drawing/2014/main" id="{CAE64829-82B7-4821-AD58-55A2E7B59C8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04850" y="8042910"/>
            <a:ext cx="16878300" cy="1207770"/>
          </a:xfrm>
          <a:prstGeom xmlns:a="http://schemas.openxmlformats.org/drawingml/2006/main" prst="roundRect">
            <a:avLst>
              <a:gd name="adj" fmla="val 6309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9E0E7"/>
            </a:solidFill>
            <a:prstDash val="solid"/>
          </a:ln>
        </p:spPr>
      </p:sp>
      <p:sp>
        <p:nvSpPr>
          <p:cNvPr id="39" name="">
            <a:extLst xmlns:a="http://schemas.openxmlformats.org/drawingml/2006/main">
              <a:ext uri="{FF2B5EF4-FFF2-40B4-BE49-F238E27FC236}">
                <a16:creationId xmlns:a16="http://schemas.microsoft.com/office/drawing/2014/main" id="{0AF2DECB-07BE-4EA1-887E-D7E669081C9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71550" y="8229600"/>
            <a:ext cx="16344900" cy="3048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/>
          <a:lstStyle xmlns:a="http://schemas.openxmlformats.org/drawingml/2006/main"/>
          <a:p xmlns:a="http://schemas.openxmlformats.org/drawingml/2006/main">
            <a:pPr>
              <a:defRPr sz="1950" b="1">
                <a:solidFill>
                  <a:srgbClr val="111827"/>
                </a:solidFill>
              </a:defRPr>
            </a:pPr>
            <a:r>
              <a:rPr sz="1950" b="1">
                <a:solidFill>
                  <a:srgbClr val="111827"/>
                </a:solidFill>
              </a:rPr>
              <a:t>Format recommandé</a:t>
            </a:r>
          </a:p>
        </p:txBody>
      </p:sp>
      <p:sp>
        <p:nvSpPr>
          <p:cNvPr id="40" name="">
            <a:extLst xmlns:a="http://schemas.openxmlformats.org/drawingml/2006/main">
              <a:ext uri="{FF2B5EF4-FFF2-40B4-BE49-F238E27FC236}">
                <a16:creationId xmlns:a16="http://schemas.microsoft.com/office/drawing/2014/main" id="{21775791-A120-426A-8B30-666FAA4DBE0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71550" y="8743950"/>
            <a:ext cx="16344900" cy="32385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/>
          <a:lstStyle xmlns:a="http://schemas.openxmlformats.org/drawingml/2006/main"/>
          <a:p xmlns:a="http://schemas.openxmlformats.org/drawingml/2006/main">
            <a:pPr>
              <a:defRPr sz="2100">
                <a:solidFill>
                  <a:srgbClr val="0B2F6B"/>
                </a:solidFill>
              </a:defRPr>
            </a:pPr>
            <a:r>
              <a:rPr sz="2100">
                <a:solidFill>
                  <a:srgbClr val="0B2F6B"/>
                </a:solidFill>
              </a:rPr>
              <a:t>video.mp4  +  labels.jsonl  +  metadata.json  +  danger_zone.json</a:t>
            </a:r>
          </a:p>
        </p:txBody>
      </p:sp>
      <p:sp>
        <p:nvSpPr>
          <p:cNvPr id="41" name="">
            <a:extLst xmlns:a="http://schemas.openxmlformats.org/drawingml/2006/main">
              <a:ext uri="{FF2B5EF4-FFF2-40B4-BE49-F238E27FC236}">
                <a16:creationId xmlns:a16="http://schemas.microsoft.com/office/drawing/2014/main" id="{FA52F92B-CD2E-4F4B-B0CB-C44242EB305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04850" y="9582150"/>
            <a:ext cx="16383000" cy="1524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/>
          <a:lstStyle xmlns:a="http://schemas.openxmlformats.org/drawingml/2006/main"/>
          <a:p xmlns:a="http://schemas.openxmlformats.org/drawingml/2006/main">
            <a:pPr>
              <a:defRPr sz="1050">
                <a:solidFill>
                  <a:srgbClr val="7A8494"/>
                </a:solidFill>
              </a:defRPr>
            </a:pPr>
            <a:r>
              <a:rPr sz="1050">
                <a:solidFill>
                  <a:srgbClr val="7A8494"/>
                </a:solidFill>
              </a:rPr>
              <a:t>POC sécurité machine · collecte de données</a:t>
            </a:r>
          </a:p>
        </p:txBody>
      </p:sp>
      <p:sp>
        <p:nvSpPr>
          <p:cNvPr id="42" name="">
            <a:extLst xmlns:a="http://schemas.openxmlformats.org/drawingml/2006/main">
              <a:ext uri="{FF2B5EF4-FFF2-40B4-BE49-F238E27FC236}">
                <a16:creationId xmlns:a16="http://schemas.microsoft.com/office/drawing/2014/main" id="{19F7203A-12CA-48EC-90E2-8B8B0018CEE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7087850" y="9582150"/>
            <a:ext cx="495300" cy="1524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/>
          <a:lstStyle xmlns:a="http://schemas.openxmlformats.org/drawingml/2006/main"/>
          <a:p xmlns:a="http://schemas.openxmlformats.org/drawingml/2006/main">
            <a:pPr>
              <a:defRPr sz="1050">
                <a:solidFill>
                  <a:srgbClr val="7A8494"/>
                </a:solidFill>
              </a:defRPr>
            </a:pPr>
            <a:r>
              <a:rPr sz="1050">
                <a:solidFill>
                  <a:srgbClr val="7A8494"/>
                </a:solidFill>
              </a:rPr>
              <a:t>mai 2026</a:t>
            </a:r>
          </a:p>
        </p:txBody>
      </p:sp>
    </p:spTree>
    <p:extLst>
      <p:ext uri="{BB962C8B-B14F-4D97-AF65-F5344CB8AC3E}">
        <p14:creationId xmlns:p14="http://schemas.microsoft.com/office/powerpoint/2010/main" val="2032724222"/>
      </p:ext>
    </p:extLst>
  </p:cSld>
</p:sld>
</file>

<file path=ppt/slides/slide5.xml><?xml version="1.0" encoding="utf-8"?>
<p:sld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" name="background">
            <a:extLst xmlns:a="http://schemas.openxmlformats.org/drawingml/2006/main">
              <a:ext uri="{FF2B5EF4-FFF2-40B4-BE49-F238E27FC236}">
                <a16:creationId xmlns:a16="http://schemas.microsoft.com/office/drawing/2014/main" id="{E71E983F-675E-48FD-82D0-E5D7816782F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8288000" cy="10287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7F8FA"/>
          </a:solidFill>
        </p:spPr>
      </p:sp>
      <p:sp>
        <p:nvSpPr>
          <p:cNvPr id="2" name="slide-title">
            <a:extLst xmlns:a="http://schemas.openxmlformats.org/drawingml/2006/main">
              <a:ext uri="{FF2B5EF4-FFF2-40B4-BE49-F238E27FC236}">
                <a16:creationId xmlns:a16="http://schemas.microsoft.com/office/drawing/2014/main" id="{792E31F9-2D9C-4356-8293-04B91A682EB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04850" y="552450"/>
            <a:ext cx="16878300" cy="6096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/>
          <a:lstStyle xmlns:a="http://schemas.openxmlformats.org/drawingml/2006/main"/>
          <a:p xmlns:a="http://schemas.openxmlformats.org/drawingml/2006/main">
            <a:pPr>
              <a:lnSpc>
                <a:spcPct val="90000"/>
              </a:lnSpc>
              <a:buNone/>
              <a:defRPr sz="4350" b="1">
                <a:solidFill>
                  <a:srgbClr val="111827"/>
                </a:solidFill>
              </a:defRPr>
            </a:pPr>
            <a:r>
              <a:rPr sz="4350" b="1">
                <a:solidFill>
                  <a:srgbClr val="111827"/>
                </a:solidFill>
              </a:rPr>
              <a:t>Architecture POC: trois modèles, une couche de politique</a:t>
            </a:r>
          </a:p>
        </p:txBody>
      </p:sp>
      <p:sp>
        <p:nvSpPr>
          <p:cNvPr id="3" name="slide-subtitle">
            <a:extLst xmlns:a="http://schemas.openxmlformats.org/drawingml/2006/main">
              <a:ext uri="{FF2B5EF4-FFF2-40B4-BE49-F238E27FC236}">
                <a16:creationId xmlns:a16="http://schemas.microsoft.com/office/drawing/2014/main" id="{313F04CA-3113-4DD5-87C5-CE53E9BF393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04850" y="1276350"/>
            <a:ext cx="8534400" cy="32385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/>
          <a:lstStyle xmlns:a="http://schemas.openxmlformats.org/drawingml/2006/main"/>
          <a:p xmlns:a="http://schemas.openxmlformats.org/drawingml/2006/main">
            <a:pPr>
              <a:lnSpc>
                <a:spcPct val="108000"/>
              </a:lnSpc>
              <a:buNone/>
              <a:defRPr sz="1875">
                <a:solidFill>
                  <a:srgbClr val="596273"/>
                </a:solidFill>
              </a:defRPr>
            </a:pPr>
            <a:r>
              <a:rPr sz="1875">
                <a:solidFill>
                  <a:srgbClr val="596273"/>
                </a:solidFill>
              </a:rPr>
              <a:t>Le master prédit le risque. Les modèles attention et col modifient la décision de sécurité.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4424F25D-5860-4E09-B145-06C116C2C07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04850" y="1914906"/>
            <a:ext cx="5175885" cy="7335774"/>
          </a:xfrm>
          <a:prstGeom xmlns:a="http://schemas.openxmlformats.org/drawingml/2006/main" prst="roundRect">
            <a:avLst>
              <a:gd name="adj" fmla="val 1472"/>
            </a:avLst>
          </a:prstGeom>
          <a:solidFill xmlns:a="http://schemas.openxmlformats.org/drawingml/2006/main">
            <a:srgbClr val="F2FBFC"/>
          </a:solidFill>
          <a:ln xmlns:a="http://schemas.openxmlformats.org/drawingml/2006/main" w="9525">
            <a:solidFill>
              <a:srgbClr val="BFE9EE"/>
            </a:solidFill>
            <a:prstDash val="solid"/>
          </a:ln>
        </p:spPr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FC9B0417-2E16-48CD-8909-12BD072B34C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28700" y="2209800"/>
            <a:ext cx="4533900" cy="36195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/>
          <a:lstStyle xmlns:a="http://schemas.openxmlformats.org/drawingml/2006/main"/>
          <a:p xmlns:a="http://schemas.openxmlformats.org/drawingml/2006/main">
            <a:pPr>
              <a:defRPr sz="2325" b="1">
                <a:solidFill>
                  <a:srgbClr val="111827"/>
                </a:solidFill>
              </a:defRPr>
            </a:pPr>
            <a:r>
              <a:rPr sz="2325" b="1">
                <a:solidFill>
                  <a:srgbClr val="111827"/>
                </a:solidFill>
              </a:rPr>
              <a:t>Entrées synchronisées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1CAEED4E-7C85-41C7-913D-4BF0CA59E2E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28700" y="2762250"/>
            <a:ext cx="95250" cy="95250"/>
          </a:xfrm>
          <a:prstGeom xmlns:a="http://schemas.openxmlformats.org/drawingml/2006/main" prst="roundRect">
            <a:avLst>
              <a:gd name="adj" fmla="val 50000"/>
            </a:avLst>
          </a:prstGeom>
          <a:solidFill xmlns:a="http://schemas.openxmlformats.org/drawingml/2006/main">
            <a:srgbClr val="11A7B5"/>
          </a:solidFill>
        </p:spPr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2141A9D3-EB0C-4808-B8D3-809F5A05EE8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57300" y="2762250"/>
            <a:ext cx="4305300" cy="3048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/>
          <a:lstStyle xmlns:a="http://schemas.openxmlformats.org/drawingml/2006/main"/>
          <a:p xmlns:a="http://schemas.openxmlformats.org/drawingml/2006/main">
            <a:pPr>
              <a:lnSpc>
                <a:spcPct val="105000"/>
              </a:lnSpc>
              <a:buNone/>
              <a:defRPr sz="1800">
                <a:solidFill>
                  <a:srgbClr val="111827"/>
                </a:solidFill>
              </a:defRPr>
            </a:pPr>
            <a:r>
              <a:rPr sz="1800">
                <a:solidFill>
                  <a:srgbClr val="111827"/>
                </a:solidFill>
              </a:rPr>
              <a:t>vidéo brute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5C25B7D5-7C14-4F3B-B39D-20734990E25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28700" y="3162300"/>
            <a:ext cx="95250" cy="95250"/>
          </a:xfrm>
          <a:prstGeom xmlns:a="http://schemas.openxmlformats.org/drawingml/2006/main" prst="roundRect">
            <a:avLst>
              <a:gd name="adj" fmla="val 50000"/>
            </a:avLst>
          </a:prstGeom>
          <a:solidFill xmlns:a="http://schemas.openxmlformats.org/drawingml/2006/main">
            <a:srgbClr val="11A7B5"/>
          </a:solidFill>
        </p:spPr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A16B205F-25E7-493E-9520-F9038C71B68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57300" y="3162300"/>
            <a:ext cx="4305300" cy="3048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/>
          <a:lstStyle xmlns:a="http://schemas.openxmlformats.org/drawingml/2006/main"/>
          <a:p xmlns:a="http://schemas.openxmlformats.org/drawingml/2006/main">
            <a:pPr>
              <a:lnSpc>
                <a:spcPct val="105000"/>
              </a:lnSpc>
              <a:buNone/>
              <a:defRPr sz="1800">
                <a:solidFill>
                  <a:srgbClr val="111827"/>
                </a:solidFill>
              </a:defRPr>
            </a:pPr>
            <a:r>
              <a:rPr sz="1800">
                <a:solidFill>
                  <a:srgbClr val="111827"/>
                </a:solidFill>
              </a:rPr>
              <a:t>pose 2D/3D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D9082AB4-3E69-4B40-B8B4-6902838CBFB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28700" y="3562350"/>
            <a:ext cx="95250" cy="95250"/>
          </a:xfrm>
          <a:prstGeom xmlns:a="http://schemas.openxmlformats.org/drawingml/2006/main" prst="roundRect">
            <a:avLst>
              <a:gd name="adj" fmla="val 50000"/>
            </a:avLst>
          </a:prstGeom>
          <a:solidFill xmlns:a="http://schemas.openxmlformats.org/drawingml/2006/main">
            <a:srgbClr val="11A7B5"/>
          </a:solidFill>
        </p:spPr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612E0E08-AB40-4C26-9398-ED378C244F0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57300" y="3562350"/>
            <a:ext cx="4305300" cy="3048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/>
          <a:lstStyle xmlns:a="http://schemas.openxmlformats.org/drawingml/2006/main"/>
          <a:p xmlns:a="http://schemas.openxmlformats.org/drawingml/2006/main">
            <a:pPr>
              <a:lnSpc>
                <a:spcPct val="105000"/>
              </a:lnSpc>
              <a:buNone/>
              <a:defRPr sz="1800">
                <a:solidFill>
                  <a:srgbClr val="111827"/>
                </a:solidFill>
              </a:defRPr>
            </a:pPr>
            <a:r>
              <a:rPr sz="1800">
                <a:solidFill>
                  <a:srgbClr val="111827"/>
                </a:solidFill>
              </a:rPr>
              <a:t>zone dangereuse 3D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8334270C-A4CB-4FE4-B924-36ED5EB2240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28700" y="3962400"/>
            <a:ext cx="95250" cy="95250"/>
          </a:xfrm>
          <a:prstGeom xmlns:a="http://schemas.openxmlformats.org/drawingml/2006/main" prst="roundRect">
            <a:avLst>
              <a:gd name="adj" fmla="val 50000"/>
            </a:avLst>
          </a:prstGeom>
          <a:solidFill xmlns:a="http://schemas.openxmlformats.org/drawingml/2006/main">
            <a:srgbClr val="11A7B5"/>
          </a:solidFill>
        </p:spPr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AD8885B1-05EA-4E95-A10C-2865841E76E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57300" y="3962400"/>
            <a:ext cx="4305300" cy="3048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/>
          <a:lstStyle xmlns:a="http://schemas.openxmlformats.org/drawingml/2006/main"/>
          <a:p xmlns:a="http://schemas.openxmlformats.org/drawingml/2006/main">
            <a:pPr>
              <a:lnSpc>
                <a:spcPct val="105000"/>
              </a:lnSpc>
              <a:buNone/>
              <a:defRPr sz="1800">
                <a:solidFill>
                  <a:srgbClr val="111827"/>
                </a:solidFill>
              </a:defRPr>
            </a:pPr>
            <a:r>
              <a:rPr sz="1800">
                <a:solidFill>
                  <a:srgbClr val="111827"/>
                </a:solidFill>
              </a:rPr>
              <a:t>distance main-zone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D8700995-54E3-4E6B-98C3-EA9CCD26BD5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28700" y="4381500"/>
            <a:ext cx="95250" cy="95250"/>
          </a:xfrm>
          <a:prstGeom xmlns:a="http://schemas.openxmlformats.org/drawingml/2006/main" prst="roundRect">
            <a:avLst>
              <a:gd name="adj" fmla="val 50000"/>
            </a:avLst>
          </a:prstGeom>
          <a:solidFill xmlns:a="http://schemas.openxmlformats.org/drawingml/2006/main">
            <a:srgbClr val="11A7B5"/>
          </a:solidFill>
        </p:spPr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0A8E43C0-1EE2-49BA-83CF-3770B075931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57300" y="4381500"/>
            <a:ext cx="4305300" cy="3048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/>
          <a:lstStyle xmlns:a="http://schemas.openxmlformats.org/drawingml/2006/main"/>
          <a:p xmlns:a="http://schemas.openxmlformats.org/drawingml/2006/main">
            <a:pPr>
              <a:lnSpc>
                <a:spcPct val="105000"/>
              </a:lnSpc>
              <a:buNone/>
              <a:defRPr sz="1800">
                <a:solidFill>
                  <a:srgbClr val="111827"/>
                </a:solidFill>
              </a:defRPr>
            </a:pPr>
            <a:r>
              <a:rPr sz="1800">
                <a:solidFill>
                  <a:srgbClr val="111827"/>
                </a:solidFill>
              </a:rPr>
              <a:t>métadonnées caméra</a:t>
            </a:r>
          </a:p>
        </p:txBody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8EC3D84F-FFA0-4D5E-9ED6-1EC9BA6BBF7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147435" y="1914906"/>
            <a:ext cx="5993130" cy="2305558"/>
          </a:xfrm>
          <a:prstGeom xmlns:a="http://schemas.openxmlformats.org/drawingml/2006/main" prst="roundRect">
            <a:avLst>
              <a:gd name="adj" fmla="val 3305"/>
            </a:avLst>
          </a:prstGeom>
          <a:solidFill xmlns:a="http://schemas.openxmlformats.org/drawingml/2006/main">
            <a:srgbClr val="F2F7FF"/>
          </a:solidFill>
          <a:ln xmlns:a="http://schemas.openxmlformats.org/drawingml/2006/main" w="9525">
            <a:solidFill>
              <a:srgbClr val="C9DCFF"/>
            </a:solidFill>
            <a:prstDash val="solid"/>
          </a:ln>
        </p:spPr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CF9A6F39-057C-41C4-828C-FF4BE5FE2AF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77000" y="2209800"/>
            <a:ext cx="5353050" cy="3429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/>
          <a:lstStyle xmlns:a="http://schemas.openxmlformats.org/drawingml/2006/main"/>
          <a:p xmlns:a="http://schemas.openxmlformats.org/drawingml/2006/main">
            <a:pPr>
              <a:defRPr sz="2250" b="1">
                <a:solidFill>
                  <a:srgbClr val="1663FF"/>
                </a:solidFill>
              </a:defRPr>
            </a:pPr>
            <a:r>
              <a:rPr sz="2250" b="1">
                <a:solidFill>
                  <a:srgbClr val="1663FF"/>
                </a:solidFill>
              </a:rPr>
              <a:t>Modèle col bleu</a:t>
            </a:r>
          </a:p>
        </p:txBody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BD321A08-73B4-4F57-B2A5-14284312805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77000" y="2762250"/>
            <a:ext cx="5353050" cy="2667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/>
          <a:lstStyle xmlns:a="http://schemas.openxmlformats.org/drawingml/2006/main"/>
          <a:p xmlns:a="http://schemas.openxmlformats.org/drawingml/2006/main">
            <a:pPr>
              <a:defRPr sz="1650">
                <a:solidFill>
                  <a:srgbClr val="596273"/>
                </a:solidFill>
              </a:defRPr>
            </a:pPr>
            <a:r>
              <a:rPr sz="1650">
                <a:solidFill>
                  <a:srgbClr val="596273"/>
                </a:solidFill>
              </a:rPr>
              <a:t>crop cou / torse → conformité</a:t>
            </a:r>
          </a:p>
        </p:txBody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52E55B2E-EC06-424F-9EE4-E242DAC0DB5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147435" y="4430014"/>
            <a:ext cx="5993130" cy="2305558"/>
          </a:xfrm>
          <a:prstGeom xmlns:a="http://schemas.openxmlformats.org/drawingml/2006/main" prst="roundRect">
            <a:avLst>
              <a:gd name="adj" fmla="val 3305"/>
            </a:avLst>
          </a:prstGeom>
          <a:solidFill xmlns:a="http://schemas.openxmlformats.org/drawingml/2006/main">
            <a:srgbClr val="FFF8E6"/>
          </a:solidFill>
          <a:ln xmlns:a="http://schemas.openxmlformats.org/drawingml/2006/main" w="9525">
            <a:solidFill>
              <a:srgbClr val="F1D99B"/>
            </a:solidFill>
            <a:prstDash val="solid"/>
          </a:ln>
        </p:spPr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02A58BD8-B1E5-49DC-BF90-D47E936191E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77000" y="4724400"/>
            <a:ext cx="5353050" cy="3429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/>
          <a:lstStyle xmlns:a="http://schemas.openxmlformats.org/drawingml/2006/main"/>
          <a:p xmlns:a="http://schemas.openxmlformats.org/drawingml/2006/main">
            <a:pPr>
              <a:defRPr sz="2250" b="1">
                <a:solidFill>
                  <a:srgbClr val="E5A11A"/>
                </a:solidFill>
              </a:defRPr>
            </a:pPr>
            <a:r>
              <a:rPr sz="2250" b="1">
                <a:solidFill>
                  <a:srgbClr val="E5A11A"/>
                </a:solidFill>
              </a:rPr>
              <a:t>Modèle attention</a:t>
            </a:r>
          </a:p>
        </p:txBody>
      </p:sp>
      <p:sp>
        <p:nv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8652018D-1D71-4731-A37F-A46CA9137C1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77000" y="5276850"/>
            <a:ext cx="5353050" cy="2667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/>
          <a:lstStyle xmlns:a="http://schemas.openxmlformats.org/drawingml/2006/main"/>
          <a:p xmlns:a="http://schemas.openxmlformats.org/drawingml/2006/main">
            <a:pPr>
              <a:defRPr sz="1650">
                <a:solidFill>
                  <a:srgbClr val="596273"/>
                </a:solidFill>
              </a:defRPr>
            </a:pPr>
            <a:r>
              <a:rPr sz="1650">
                <a:solidFill>
                  <a:srgbClr val="596273"/>
                </a:solidFill>
              </a:rPr>
              <a:t>posture / tête / séquence → score</a:t>
            </a:r>
          </a:p>
        </p:txBody>
      </p:sp>
      <p:sp>
        <p:nvSpPr>
          <p:cNvPr id="22" name="">
            <a:extLst xmlns:a="http://schemas.openxmlformats.org/drawingml/2006/main">
              <a:ext uri="{FF2B5EF4-FFF2-40B4-BE49-F238E27FC236}">
                <a16:creationId xmlns:a16="http://schemas.microsoft.com/office/drawing/2014/main" id="{C87CBD0E-6639-4876-8540-4A10EB88939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147435" y="6945122"/>
            <a:ext cx="5993130" cy="2305558"/>
          </a:xfrm>
          <a:prstGeom xmlns:a="http://schemas.openxmlformats.org/drawingml/2006/main" prst="roundRect">
            <a:avLst>
              <a:gd name="adj" fmla="val 3305"/>
            </a:avLst>
          </a:prstGeom>
          <a:solidFill xmlns:a="http://schemas.openxmlformats.org/drawingml/2006/main">
            <a:srgbClr val="FFF7F6"/>
          </a:solidFill>
          <a:ln xmlns:a="http://schemas.openxmlformats.org/drawingml/2006/main" w="9525">
            <a:solidFill>
              <a:srgbClr val="F1C2BF"/>
            </a:solidFill>
            <a:prstDash val="solid"/>
          </a:ln>
        </p:spPr>
      </p:sp>
      <p:sp>
        <p:nvSpPr>
          <p:cNvPr id="23" name="">
            <a:extLst xmlns:a="http://schemas.openxmlformats.org/drawingml/2006/main">
              <a:ext uri="{FF2B5EF4-FFF2-40B4-BE49-F238E27FC236}">
                <a16:creationId xmlns:a16="http://schemas.microsoft.com/office/drawing/2014/main" id="{8CAC99B6-3899-4E5B-A43A-C191E3C7C43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77000" y="7239000"/>
            <a:ext cx="5353050" cy="3429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/>
          <a:lstStyle xmlns:a="http://schemas.openxmlformats.org/drawingml/2006/main"/>
          <a:p xmlns:a="http://schemas.openxmlformats.org/drawingml/2006/main">
            <a:pPr>
              <a:defRPr sz="2250" b="1">
                <a:solidFill>
                  <a:srgbClr val="D43F3A"/>
                </a:solidFill>
              </a:defRPr>
            </a:pPr>
            <a:r>
              <a:rPr sz="2250" b="1">
                <a:solidFill>
                  <a:srgbClr val="D43F3A"/>
                </a:solidFill>
              </a:rPr>
              <a:t>Master predictor</a:t>
            </a:r>
          </a:p>
        </p:txBody>
      </p:sp>
      <p:sp>
        <p:nvSpPr>
          <p:cNvPr id="24" name="">
            <a:extLst xmlns:a="http://schemas.openxmlformats.org/drawingml/2006/main">
              <a:ext uri="{FF2B5EF4-FFF2-40B4-BE49-F238E27FC236}">
                <a16:creationId xmlns:a16="http://schemas.microsoft.com/office/drawing/2014/main" id="{92328B8D-19A2-4D7A-B26A-D7C04899C35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77000" y="7791450"/>
            <a:ext cx="5353050" cy="2667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/>
          <a:lstStyle xmlns:a="http://schemas.openxmlformats.org/drawingml/2006/main"/>
          <a:p xmlns:a="http://schemas.openxmlformats.org/drawingml/2006/main">
            <a:pPr>
              <a:defRPr sz="1650">
                <a:solidFill>
                  <a:srgbClr val="596273"/>
                </a:solidFill>
              </a:defRPr>
            </a:pPr>
            <a:r>
              <a:rPr sz="1650">
                <a:solidFill>
                  <a:srgbClr val="596273"/>
                </a:solidFill>
              </a:rPr>
              <a:t>série temporelle → risque futur</a:t>
            </a:r>
          </a:p>
        </p:txBody>
      </p:sp>
      <p:sp>
        <p:nvSpPr>
          <p:cNvPr id="25" name="">
            <a:extLst xmlns:a="http://schemas.openxmlformats.org/drawingml/2006/main">
              <a:ext uri="{FF2B5EF4-FFF2-40B4-BE49-F238E27FC236}">
                <a16:creationId xmlns:a16="http://schemas.microsoft.com/office/drawing/2014/main" id="{99B87D7A-A8FE-45F9-A819-C5DE14C5265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407265" y="1914906"/>
            <a:ext cx="5175885" cy="7335774"/>
          </a:xfrm>
          <a:prstGeom xmlns:a="http://schemas.openxmlformats.org/drawingml/2006/main" prst="roundRect">
            <a:avLst>
              <a:gd name="adj" fmla="val 1472"/>
            </a:avLst>
          </a:prstGeom>
          <a:solidFill xmlns:a="http://schemas.openxmlformats.org/drawingml/2006/main">
            <a:srgbClr val="172033"/>
          </a:solidFill>
          <a:ln xmlns:a="http://schemas.openxmlformats.org/drawingml/2006/main" w="9525">
            <a:solidFill>
              <a:srgbClr val="172033"/>
            </a:solidFill>
            <a:prstDash val="solid"/>
          </a:ln>
        </p:spPr>
      </p:sp>
      <p:sp>
        <p:nvSpPr>
          <p:cNvPr id="26" name="">
            <a:extLst xmlns:a="http://schemas.openxmlformats.org/drawingml/2006/main">
              <a:ext uri="{FF2B5EF4-FFF2-40B4-BE49-F238E27FC236}">
                <a16:creationId xmlns:a16="http://schemas.microsoft.com/office/drawing/2014/main" id="{E6E5CF07-B711-4B6E-8F28-04F74AD44E9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725400" y="2209800"/>
            <a:ext cx="4533900" cy="4191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/>
          <a:lstStyle xmlns:a="http://schemas.openxmlformats.org/drawingml/2006/main"/>
          <a:p xmlns:a="http://schemas.openxmlformats.org/drawingml/2006/main">
            <a:pPr>
              <a:defRPr sz="2700" b="1">
                <a:solidFill>
                  <a:srgbClr val="FFFFFF"/>
                </a:solidFill>
              </a:defRPr>
            </a:pPr>
            <a:r>
              <a:rPr sz="2700" b="1">
                <a:solidFill>
                  <a:srgbClr val="FFFFFF"/>
                </a:solidFill>
              </a:rPr>
              <a:t>Policy layer</a:t>
            </a:r>
          </a:p>
        </p:txBody>
      </p:sp>
      <p:sp>
        <p:nvSpPr>
          <p:cNvPr id="27" name="">
            <a:extLst xmlns:a="http://schemas.openxmlformats.org/drawingml/2006/main">
              <a:ext uri="{FF2B5EF4-FFF2-40B4-BE49-F238E27FC236}">
                <a16:creationId xmlns:a16="http://schemas.microsoft.com/office/drawing/2014/main" id="{5AEDA93B-99F1-48EA-84C7-21387A89EDA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725400" y="2819400"/>
            <a:ext cx="1619250" cy="381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>
              <a:alpha val="50000"/>
            </a:srgbClr>
          </a:solidFill>
          <a:ln xmlns:a="http://schemas.openxmlformats.org/drawingml/2006/main" w="0">
            <a:solidFill>
              <a:srgbClr val="FFFFFF">
                <a:alpha val="50000"/>
              </a:srgbClr>
            </a:solidFill>
            <a:prstDash val="solid"/>
          </a:ln>
        </p:spPr>
      </p:sp>
      <p:sp>
        <p:nvSpPr>
          <p:cNvPr id="28" name="">
            <a:extLst xmlns:a="http://schemas.openxmlformats.org/drawingml/2006/main">
              <a:ext uri="{FF2B5EF4-FFF2-40B4-BE49-F238E27FC236}">
                <a16:creationId xmlns:a16="http://schemas.microsoft.com/office/drawing/2014/main" id="{18A78FB5-CCAB-4254-BD03-EDF6CED0243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725400" y="3067050"/>
            <a:ext cx="95250" cy="95250"/>
          </a:xfrm>
          <a:prstGeom xmlns:a="http://schemas.openxmlformats.org/drawingml/2006/main" prst="roundRect">
            <a:avLst>
              <a:gd name="adj" fmla="val 50000"/>
            </a:avLst>
          </a:prstGeom>
          <a:solidFill xmlns:a="http://schemas.openxmlformats.org/drawingml/2006/main">
            <a:srgbClr val="FFFFFF"/>
          </a:solidFill>
        </p:spPr>
      </p:sp>
      <p:sp>
        <p:nvSpPr>
          <p:cNvPr id="29" name="">
            <a:extLst xmlns:a="http://schemas.openxmlformats.org/drawingml/2006/main">
              <a:ext uri="{FF2B5EF4-FFF2-40B4-BE49-F238E27FC236}">
                <a16:creationId xmlns:a16="http://schemas.microsoft.com/office/drawing/2014/main" id="{AF4C4C11-3640-4F6E-A2BE-7F9BB1BE32C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954000" y="3067050"/>
            <a:ext cx="4305300" cy="3048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/>
          <a:lstStyle xmlns:a="http://schemas.openxmlformats.org/drawingml/2006/main"/>
          <a:p xmlns:a="http://schemas.openxmlformats.org/drawingml/2006/main">
            <a:pPr>
              <a:lnSpc>
                <a:spcPct val="105000"/>
              </a:lnSpc>
              <a:buNone/>
              <a:defRPr sz="1800">
                <a:solidFill>
                  <a:srgbClr val="FFFFFF"/>
                </a:solidFill>
              </a:defRPr>
            </a:pPr>
            <a:r>
              <a:rPr sz="1800">
                <a:solidFill>
                  <a:srgbClr val="FFFFFF"/>
                </a:solidFill>
              </a:rPr>
              <a:t>abaisse le seuil si attention basse</a:t>
            </a:r>
          </a:p>
        </p:txBody>
      </p:sp>
      <p:sp>
        <p:nvSpPr>
          <p:cNvPr id="30" name="">
            <a:extLst xmlns:a="http://schemas.openxmlformats.org/drawingml/2006/main">
              <a:ext uri="{FF2B5EF4-FFF2-40B4-BE49-F238E27FC236}">
                <a16:creationId xmlns:a16="http://schemas.microsoft.com/office/drawing/2014/main" id="{F7B4306B-FBBE-45FE-8F0B-20C79819D1F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725400" y="3486150"/>
            <a:ext cx="95250" cy="95250"/>
          </a:xfrm>
          <a:prstGeom xmlns:a="http://schemas.openxmlformats.org/drawingml/2006/main" prst="roundRect">
            <a:avLst>
              <a:gd name="adj" fmla="val 50000"/>
            </a:avLst>
          </a:prstGeom>
          <a:solidFill xmlns:a="http://schemas.openxmlformats.org/drawingml/2006/main">
            <a:srgbClr val="FFFFFF"/>
          </a:solidFill>
        </p:spPr>
      </p:sp>
      <p:sp>
        <p:nvSpPr>
          <p:cNvPr id="31" name="">
            <a:extLst xmlns:a="http://schemas.openxmlformats.org/drawingml/2006/main">
              <a:ext uri="{FF2B5EF4-FFF2-40B4-BE49-F238E27FC236}">
                <a16:creationId xmlns:a16="http://schemas.microsoft.com/office/drawing/2014/main" id="{230F3DE0-F94E-40E6-829E-8294D9846A4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954000" y="3486150"/>
            <a:ext cx="4305300" cy="3048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/>
          <a:lstStyle xmlns:a="http://schemas.openxmlformats.org/drawingml/2006/main"/>
          <a:p xmlns:a="http://schemas.openxmlformats.org/drawingml/2006/main">
            <a:pPr>
              <a:lnSpc>
                <a:spcPct val="105000"/>
              </a:lnSpc>
              <a:buNone/>
              <a:defRPr sz="1800">
                <a:solidFill>
                  <a:srgbClr val="FFFFFF"/>
                </a:solidFill>
              </a:defRPr>
            </a:pPr>
            <a:r>
              <a:rPr sz="1800">
                <a:solidFill>
                  <a:srgbClr val="FFFFFF"/>
                </a:solidFill>
              </a:rPr>
              <a:t>déclenche si col incorrect près de la machine</a:t>
            </a:r>
          </a:p>
        </p:txBody>
      </p:sp>
      <p:sp>
        <p:nvSpPr>
          <p:cNvPr id="32" name="">
            <a:extLst xmlns:a="http://schemas.openxmlformats.org/drawingml/2006/main">
              <a:ext uri="{FF2B5EF4-FFF2-40B4-BE49-F238E27FC236}">
                <a16:creationId xmlns:a16="http://schemas.microsoft.com/office/drawing/2014/main" id="{0B64D614-D125-4008-97CE-503EEF693CB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725400" y="3886200"/>
            <a:ext cx="95250" cy="95250"/>
          </a:xfrm>
          <a:prstGeom xmlns:a="http://schemas.openxmlformats.org/drawingml/2006/main" prst="roundRect">
            <a:avLst>
              <a:gd name="adj" fmla="val 50000"/>
            </a:avLst>
          </a:prstGeom>
          <a:solidFill xmlns:a="http://schemas.openxmlformats.org/drawingml/2006/main">
            <a:srgbClr val="FFFFFF"/>
          </a:solidFill>
        </p:spPr>
      </p:sp>
      <p:sp>
        <p:nvSpPr>
          <p:cNvPr id="33" name="">
            <a:extLst xmlns:a="http://schemas.openxmlformats.org/drawingml/2006/main">
              <a:ext uri="{FF2B5EF4-FFF2-40B4-BE49-F238E27FC236}">
                <a16:creationId xmlns:a16="http://schemas.microsoft.com/office/drawing/2014/main" id="{9C87F8A3-3DEA-45C7-A4EC-3E332CCC649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954000" y="3886200"/>
            <a:ext cx="4305300" cy="3048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/>
          <a:lstStyle xmlns:a="http://schemas.openxmlformats.org/drawingml/2006/main"/>
          <a:p xmlns:a="http://schemas.openxmlformats.org/drawingml/2006/main">
            <a:pPr>
              <a:lnSpc>
                <a:spcPct val="105000"/>
              </a:lnSpc>
              <a:buNone/>
              <a:defRPr sz="1800">
                <a:solidFill>
                  <a:srgbClr val="FFFFFF"/>
                </a:solidFill>
              </a:defRPr>
            </a:pPr>
            <a:r>
              <a:rPr sz="1800">
                <a:solidFill>
                  <a:srgbClr val="FFFFFF"/>
                </a:solidFill>
              </a:rPr>
              <a:t>émet warning / shutdown selon risque</a:t>
            </a:r>
          </a:p>
        </p:txBody>
      </p:sp>
      <p:sp>
        <p:nvSpPr>
          <p:cNvPr id="34" name="">
            <a:extLst xmlns:a="http://schemas.openxmlformats.org/drawingml/2006/main">
              <a:ext uri="{FF2B5EF4-FFF2-40B4-BE49-F238E27FC236}">
                <a16:creationId xmlns:a16="http://schemas.microsoft.com/office/drawing/2014/main" id="{53D77BEA-AE31-406C-A96B-B1634566928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04850" y="9582150"/>
            <a:ext cx="16383000" cy="1524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/>
          <a:lstStyle xmlns:a="http://schemas.openxmlformats.org/drawingml/2006/main"/>
          <a:p xmlns:a="http://schemas.openxmlformats.org/drawingml/2006/main">
            <a:pPr>
              <a:defRPr sz="1050">
                <a:solidFill>
                  <a:srgbClr val="7A8494"/>
                </a:solidFill>
              </a:defRPr>
            </a:pPr>
            <a:r>
              <a:rPr sz="1050">
                <a:solidFill>
                  <a:srgbClr val="7A8494"/>
                </a:solidFill>
              </a:rPr>
              <a:t>POC sécurité machine · collecte de données</a:t>
            </a:r>
          </a:p>
        </p:txBody>
      </p:sp>
      <p:sp>
        <p:nvSpPr>
          <p:cNvPr id="35" name="">
            <a:extLst xmlns:a="http://schemas.openxmlformats.org/drawingml/2006/main">
              <a:ext uri="{FF2B5EF4-FFF2-40B4-BE49-F238E27FC236}">
                <a16:creationId xmlns:a16="http://schemas.microsoft.com/office/drawing/2014/main" id="{B4FDB7C4-1213-45FE-80E0-01D61801FD1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7087850" y="9582150"/>
            <a:ext cx="495300" cy="1524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/>
          <a:lstStyle xmlns:a="http://schemas.openxmlformats.org/drawingml/2006/main"/>
          <a:p xmlns:a="http://schemas.openxmlformats.org/drawingml/2006/main">
            <a:pPr>
              <a:defRPr sz="1050">
                <a:solidFill>
                  <a:srgbClr val="7A8494"/>
                </a:solidFill>
              </a:defRPr>
            </a:pPr>
            <a:r>
              <a:rPr sz="1050">
                <a:solidFill>
                  <a:srgbClr val="7A8494"/>
                </a:solidFill>
              </a:rPr>
              <a:t>mai 2026</a:t>
            </a:r>
          </a:p>
        </p:txBody>
      </p:sp>
    </p:spTree>
    <p:extLst>
      <p:ext uri="{BB962C8B-B14F-4D97-AF65-F5344CB8AC3E}">
        <p14:creationId xmlns:p14="http://schemas.microsoft.com/office/powerpoint/2010/main" val="575757320"/>
      </p:ext>
    </p:extLst>
  </p:cSld>
</p:sld>
</file>

<file path=ppt/slides/slide6.xml><?xml version="1.0" encoding="utf-8"?>
<p:sld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" name="background">
            <a:extLst xmlns:a="http://schemas.openxmlformats.org/drawingml/2006/main">
              <a:ext uri="{FF2B5EF4-FFF2-40B4-BE49-F238E27FC236}">
                <a16:creationId xmlns:a16="http://schemas.microsoft.com/office/drawing/2014/main" id="{7F1A8D94-078E-4275-880B-00E822A3957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8288000" cy="10287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7F8FA"/>
          </a:solidFill>
        </p:spPr>
      </p:sp>
      <p:sp>
        <p:nvSpPr>
          <p:cNvPr id="2" name="slide-title">
            <a:extLst xmlns:a="http://schemas.openxmlformats.org/drawingml/2006/main">
              <a:ext uri="{FF2B5EF4-FFF2-40B4-BE49-F238E27FC236}">
                <a16:creationId xmlns:a16="http://schemas.microsoft.com/office/drawing/2014/main" id="{F4838134-B259-40F0-8E86-700DACE2779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04850" y="552450"/>
            <a:ext cx="16878300" cy="6096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/>
          <a:lstStyle xmlns:a="http://schemas.openxmlformats.org/drawingml/2006/main"/>
          <a:p xmlns:a="http://schemas.openxmlformats.org/drawingml/2006/main">
            <a:pPr>
              <a:lnSpc>
                <a:spcPct val="90000"/>
              </a:lnSpc>
              <a:buNone/>
              <a:defRPr sz="4350" b="1">
                <a:solidFill>
                  <a:srgbClr val="111827"/>
                </a:solidFill>
              </a:defRPr>
            </a:pPr>
            <a:r>
              <a:rPr sz="4350" b="1">
                <a:solidFill>
                  <a:srgbClr val="111827"/>
                </a:solidFill>
              </a:rPr>
              <a:t>Modèle maître: prédire l’approche dangereuse</a:t>
            </a:r>
          </a:p>
        </p:txBody>
      </p:sp>
      <p:sp>
        <p:nvSpPr>
          <p:cNvPr id="3" name="slide-subtitle">
            <a:extLst xmlns:a="http://schemas.openxmlformats.org/drawingml/2006/main">
              <a:ext uri="{FF2B5EF4-FFF2-40B4-BE49-F238E27FC236}">
                <a16:creationId xmlns:a16="http://schemas.microsoft.com/office/drawing/2014/main" id="{195A1EED-CADF-4CF5-B6BF-07CB3E73A09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04850" y="1276350"/>
            <a:ext cx="9810750" cy="62865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/>
          <a:lstStyle xmlns:a="http://schemas.openxmlformats.org/drawingml/2006/main"/>
          <a:p xmlns:a="http://schemas.openxmlformats.org/drawingml/2006/main">
            <a:pPr>
              <a:lnSpc>
                <a:spcPct val="108000"/>
              </a:lnSpc>
              <a:buNone/>
              <a:defRPr sz="1875">
                <a:solidFill>
                  <a:srgbClr val="596273"/>
                </a:solidFill>
              </a:defRPr>
            </a:pPr>
            <a:r>
              <a:rPr sz="1875">
                <a:solidFill>
                  <a:srgbClr val="596273"/>
                </a:solidFill>
              </a:rPr>
              <a:t>La cible n’est pas “accident maintenant”, mais “risque que la main ou le corps touche la zone bientôt”.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BAC18C38-EBDC-433D-9CDA-449EF311F7C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04850" y="2204466"/>
            <a:ext cx="7699744" cy="7065264"/>
          </a:xfrm>
          <a:prstGeom xmlns:a="http://schemas.openxmlformats.org/drawingml/2006/main" prst="roundRect">
            <a:avLst>
              <a:gd name="adj" fmla="val 1079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9E0E7"/>
            </a:solidFill>
            <a:prstDash val="solid"/>
          </a:ln>
        </p:spPr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30EE64A7-C902-44E4-8989-58D66803773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28700" y="2495550"/>
            <a:ext cx="7048500" cy="3810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/>
          <a:lstStyle xmlns:a="http://schemas.openxmlformats.org/drawingml/2006/main"/>
          <a:p xmlns:a="http://schemas.openxmlformats.org/drawingml/2006/main">
            <a:pPr>
              <a:defRPr sz="2400" b="1">
                <a:solidFill>
                  <a:srgbClr val="D43F3A"/>
                </a:solidFill>
              </a:defRPr>
            </a:pPr>
            <a:r>
              <a:rPr sz="2400" b="1">
                <a:solidFill>
                  <a:srgbClr val="D43F3A"/>
                </a:solidFill>
              </a:rPr>
              <a:t>Features principales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ADB6EA12-73A8-4717-8C33-7471FBCD7C1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28700" y="3067050"/>
            <a:ext cx="95250" cy="95250"/>
          </a:xfrm>
          <a:prstGeom xmlns:a="http://schemas.openxmlformats.org/drawingml/2006/main" prst="roundRect">
            <a:avLst>
              <a:gd name="adj" fmla="val 50000"/>
            </a:avLst>
          </a:prstGeom>
          <a:solidFill xmlns:a="http://schemas.openxmlformats.org/drawingml/2006/main">
            <a:srgbClr val="D43F3A"/>
          </a:solidFill>
        </p:spPr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F73AB271-5BD5-4577-A9B4-9568E690872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57300" y="3067050"/>
            <a:ext cx="6819900" cy="3048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/>
          <a:lstStyle xmlns:a="http://schemas.openxmlformats.org/drawingml/2006/main"/>
          <a:p xmlns:a="http://schemas.openxmlformats.org/drawingml/2006/main">
            <a:pPr>
              <a:lnSpc>
                <a:spcPct val="105000"/>
              </a:lnSpc>
              <a:buNone/>
              <a:defRPr sz="1800">
                <a:solidFill>
                  <a:srgbClr val="111827"/>
                </a:solidFill>
              </a:defRPr>
            </a:pPr>
            <a:r>
              <a:rPr sz="1800">
                <a:solidFill>
                  <a:srgbClr val="111827"/>
                </a:solidFill>
              </a:rPr>
              <a:t>positions poignets / coudes / épaules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70DECF95-F97D-4184-9BED-745463B447B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28700" y="3467100"/>
            <a:ext cx="95250" cy="95250"/>
          </a:xfrm>
          <a:prstGeom xmlns:a="http://schemas.openxmlformats.org/drawingml/2006/main" prst="roundRect">
            <a:avLst>
              <a:gd name="adj" fmla="val 50000"/>
            </a:avLst>
          </a:prstGeom>
          <a:solidFill xmlns:a="http://schemas.openxmlformats.org/drawingml/2006/main">
            <a:srgbClr val="D43F3A"/>
          </a:solidFill>
        </p:spPr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AB5A8ECA-3982-49DD-B89F-626AF093A39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57300" y="3467100"/>
            <a:ext cx="6819900" cy="3048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/>
          <a:lstStyle xmlns:a="http://schemas.openxmlformats.org/drawingml/2006/main"/>
          <a:p xmlns:a="http://schemas.openxmlformats.org/drawingml/2006/main">
            <a:pPr>
              <a:lnSpc>
                <a:spcPct val="105000"/>
              </a:lnSpc>
              <a:buNone/>
              <a:defRPr sz="1800">
                <a:solidFill>
                  <a:srgbClr val="111827"/>
                </a:solidFill>
              </a:defRPr>
            </a:pPr>
            <a:r>
              <a:rPr sz="1800">
                <a:solidFill>
                  <a:srgbClr val="111827"/>
                </a:solidFill>
              </a:rPr>
              <a:t>distance 3D à la zone dangereuse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E7B7433F-6D70-44D7-A598-D7C595B7487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28700" y="3867150"/>
            <a:ext cx="95250" cy="95250"/>
          </a:xfrm>
          <a:prstGeom xmlns:a="http://schemas.openxmlformats.org/drawingml/2006/main" prst="roundRect">
            <a:avLst>
              <a:gd name="adj" fmla="val 50000"/>
            </a:avLst>
          </a:prstGeom>
          <a:solidFill xmlns:a="http://schemas.openxmlformats.org/drawingml/2006/main">
            <a:srgbClr val="D43F3A"/>
          </a:solidFill>
        </p:spPr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0AA837A8-413E-48C3-A87A-EBC6B6F8013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57300" y="3867150"/>
            <a:ext cx="6819900" cy="3048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/>
          <a:lstStyle xmlns:a="http://schemas.openxmlformats.org/drawingml/2006/main"/>
          <a:p xmlns:a="http://schemas.openxmlformats.org/drawingml/2006/main">
            <a:pPr>
              <a:lnSpc>
                <a:spcPct val="105000"/>
              </a:lnSpc>
              <a:buNone/>
              <a:defRPr sz="1800">
                <a:solidFill>
                  <a:srgbClr val="111827"/>
                </a:solidFill>
              </a:defRPr>
            </a:pPr>
            <a:r>
              <a:rPr sz="1800">
                <a:solidFill>
                  <a:srgbClr val="111827"/>
                </a:solidFill>
              </a:rPr>
              <a:t>vitesse vers la zone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58BE1DCF-161E-403C-A19D-43E12CB8BEE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28700" y="4267200"/>
            <a:ext cx="95250" cy="95250"/>
          </a:xfrm>
          <a:prstGeom xmlns:a="http://schemas.openxmlformats.org/drawingml/2006/main" prst="roundRect">
            <a:avLst>
              <a:gd name="adj" fmla="val 50000"/>
            </a:avLst>
          </a:prstGeom>
          <a:solidFill xmlns:a="http://schemas.openxmlformats.org/drawingml/2006/main">
            <a:srgbClr val="D43F3A"/>
          </a:solidFill>
        </p:spPr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1288BC53-8E98-4E0E-9177-FE366EFA0B6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57300" y="4267200"/>
            <a:ext cx="6819900" cy="3048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/>
          <a:lstStyle xmlns:a="http://schemas.openxmlformats.org/drawingml/2006/main"/>
          <a:p xmlns:a="http://schemas.openxmlformats.org/drawingml/2006/main">
            <a:pPr>
              <a:lnSpc>
                <a:spcPct val="105000"/>
              </a:lnSpc>
              <a:buNone/>
              <a:defRPr sz="1800">
                <a:solidFill>
                  <a:srgbClr val="111827"/>
                </a:solidFill>
              </a:defRPr>
            </a:pPr>
            <a:r>
              <a:rPr sz="1800">
                <a:solidFill>
                  <a:srgbClr val="111827"/>
                </a:solidFill>
              </a:rPr>
              <a:t>time-to-contact estimé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40DF159C-3868-4053-A69A-EAA41FF9DBF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28700" y="4667250"/>
            <a:ext cx="95250" cy="95250"/>
          </a:xfrm>
          <a:prstGeom xmlns:a="http://schemas.openxmlformats.org/drawingml/2006/main" prst="roundRect">
            <a:avLst>
              <a:gd name="adj" fmla="val 50000"/>
            </a:avLst>
          </a:prstGeom>
          <a:solidFill xmlns:a="http://schemas.openxmlformats.org/drawingml/2006/main">
            <a:srgbClr val="D43F3A"/>
          </a:solidFill>
        </p:spPr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A0BA7EE3-B619-4931-98B0-530E8B090DA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57300" y="4667250"/>
            <a:ext cx="6819900" cy="3048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/>
          <a:lstStyle xmlns:a="http://schemas.openxmlformats.org/drawingml/2006/main"/>
          <a:p xmlns:a="http://schemas.openxmlformats.org/drawingml/2006/main">
            <a:pPr>
              <a:lnSpc>
                <a:spcPct val="105000"/>
              </a:lnSpc>
              <a:buNone/>
              <a:defRPr sz="1800">
                <a:solidFill>
                  <a:srgbClr val="111827"/>
                </a:solidFill>
              </a:defRPr>
            </a:pPr>
            <a:r>
              <a:rPr sz="1800">
                <a:solidFill>
                  <a:srgbClr val="111827"/>
                </a:solidFill>
              </a:rPr>
              <a:t>orientation du corps</a:t>
            </a:r>
          </a:p>
        </p:txBody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4C7B0ECB-C86C-4BED-B1B0-C416360BB8E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28700" y="5086350"/>
            <a:ext cx="95250" cy="95250"/>
          </a:xfrm>
          <a:prstGeom xmlns:a="http://schemas.openxmlformats.org/drawingml/2006/main" prst="roundRect">
            <a:avLst>
              <a:gd name="adj" fmla="val 50000"/>
            </a:avLst>
          </a:prstGeom>
          <a:solidFill xmlns:a="http://schemas.openxmlformats.org/drawingml/2006/main">
            <a:srgbClr val="D43F3A"/>
          </a:solidFill>
        </p:spPr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8269C9E9-8A54-4720-95F3-261B3F81D38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57300" y="5086350"/>
            <a:ext cx="6819900" cy="3048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/>
          <a:lstStyle xmlns:a="http://schemas.openxmlformats.org/drawingml/2006/main"/>
          <a:p xmlns:a="http://schemas.openxmlformats.org/drawingml/2006/main">
            <a:pPr>
              <a:lnSpc>
                <a:spcPct val="105000"/>
              </a:lnSpc>
              <a:buNone/>
              <a:defRPr sz="1800">
                <a:solidFill>
                  <a:srgbClr val="111827"/>
                </a:solidFill>
              </a:defRPr>
            </a:pPr>
            <a:r>
              <a:rPr sz="1800">
                <a:solidFill>
                  <a:srgbClr val="111827"/>
                </a:solidFill>
              </a:rPr>
              <a:t>score attention en entrée optionnelle</a:t>
            </a:r>
          </a:p>
        </p:txBody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CBBCC7BF-FD4F-435F-BCFD-115AB7A6501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728444" y="2204466"/>
            <a:ext cx="8854706" cy="7065264"/>
          </a:xfrm>
          <a:prstGeom xmlns:a="http://schemas.openxmlformats.org/drawingml/2006/main" prst="roundRect">
            <a:avLst>
              <a:gd name="adj" fmla="val 1079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9E0E7"/>
            </a:solidFill>
            <a:prstDash val="solid"/>
          </a:ln>
        </p:spPr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97627C63-FC45-47CA-82DC-8B06AF3A00E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048750" y="2495550"/>
            <a:ext cx="8210550" cy="3810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/>
          <a:lstStyle xmlns:a="http://schemas.openxmlformats.org/drawingml/2006/main"/>
          <a:p xmlns:a="http://schemas.openxmlformats.org/drawingml/2006/main">
            <a:pPr>
              <a:defRPr sz="2400" b="1">
                <a:solidFill>
                  <a:srgbClr val="0B2F6B"/>
                </a:solidFill>
              </a:defRPr>
            </a:pPr>
            <a:r>
              <a:rPr sz="2400" b="1">
                <a:solidFill>
                  <a:srgbClr val="0B2F6B"/>
                </a:solidFill>
              </a:rPr>
              <a:t>Architecture POC proposée</a:t>
            </a:r>
          </a:p>
        </p:txBody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429E60D6-5D6D-4E98-8912-2DCF1BB3116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052294" y="3524250"/>
            <a:ext cx="1195769" cy="342900"/>
          </a:xfrm>
          <a:prstGeom xmlns:a="http://schemas.openxmlformats.org/drawingml/2006/main" prst="roundRect">
            <a:avLst>
              <a:gd name="adj" fmla="val 50000"/>
            </a:avLst>
          </a:prstGeom>
          <a:solidFill xmlns:a="http://schemas.openxmlformats.org/drawingml/2006/main">
            <a:srgbClr val="11A7B5"/>
          </a:solidFill>
        </p:spPr>
      </p:sp>
      <p:sp>
        <p:nv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A7FEF7BD-566C-4E46-89C8-3C4A8F73E5C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220200" y="3600450"/>
            <a:ext cx="857250" cy="20955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/>
          <a:lstStyle xmlns:a="http://schemas.openxmlformats.org/drawingml/2006/main"/>
          <a:p xmlns:a="http://schemas.openxmlformats.org/drawingml/2006/main">
            <a:pPr>
              <a:defRPr sz="1350" b="1">
                <a:solidFill>
                  <a:srgbClr val="FFFFFF"/>
                </a:solidFill>
              </a:defRPr>
            </a:pPr>
            <a:r>
              <a:rPr sz="1350" b="1">
                <a:solidFill>
                  <a:srgbClr val="FFFFFF"/>
                </a:solidFill>
              </a:rPr>
              <a:t>fenêtre 2-5s</a:t>
            </a:r>
          </a:p>
        </p:txBody>
      </p:sp>
      <p:sp>
        <p:nvSpPr>
          <p:cNvPr id="22" name="">
            <a:extLst xmlns:a="http://schemas.openxmlformats.org/drawingml/2006/main">
              <a:ext uri="{FF2B5EF4-FFF2-40B4-BE49-F238E27FC236}">
                <a16:creationId xmlns:a16="http://schemas.microsoft.com/office/drawing/2014/main" id="{3C77EF80-26A0-427A-84C9-E9D8842D2EA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362363" y="3524250"/>
            <a:ext cx="1096423" cy="342900"/>
          </a:xfrm>
          <a:prstGeom xmlns:a="http://schemas.openxmlformats.org/drawingml/2006/main" prst="roundRect">
            <a:avLst>
              <a:gd name="adj" fmla="val 50000"/>
            </a:avLst>
          </a:prstGeom>
          <a:solidFill xmlns:a="http://schemas.openxmlformats.org/drawingml/2006/main">
            <a:srgbClr val="1663FF"/>
          </a:solidFill>
        </p:spPr>
      </p:sp>
      <p:sp>
        <p:nvSpPr>
          <p:cNvPr id="23" name="">
            <a:extLst xmlns:a="http://schemas.openxmlformats.org/drawingml/2006/main">
              <a:ext uri="{FF2B5EF4-FFF2-40B4-BE49-F238E27FC236}">
                <a16:creationId xmlns:a16="http://schemas.microsoft.com/office/drawing/2014/main" id="{EF083356-2969-4078-98AE-84EEA09D4EC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534650" y="3600450"/>
            <a:ext cx="762000" cy="20955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/>
          <a:lstStyle xmlns:a="http://schemas.openxmlformats.org/drawingml/2006/main"/>
          <a:p xmlns:a="http://schemas.openxmlformats.org/drawingml/2006/main">
            <a:pPr>
              <a:defRPr sz="1350" b="1">
                <a:solidFill>
                  <a:srgbClr val="FFFFFF"/>
                </a:solidFill>
              </a:defRPr>
            </a:pPr>
            <a:r>
              <a:rPr sz="1350" b="1">
                <a:solidFill>
                  <a:srgbClr val="FFFFFF"/>
                </a:solidFill>
              </a:rPr>
              <a:t>TCN / GRU</a:t>
            </a:r>
          </a:p>
        </p:txBody>
      </p:sp>
      <p:sp>
        <p:nvSpPr>
          <p:cNvPr id="24" name="">
            <a:extLst xmlns:a="http://schemas.openxmlformats.org/drawingml/2006/main">
              <a:ext uri="{FF2B5EF4-FFF2-40B4-BE49-F238E27FC236}">
                <a16:creationId xmlns:a16="http://schemas.microsoft.com/office/drawing/2014/main" id="{5CE8B960-F49F-49E2-B4B9-5147C090C13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573085" y="3409950"/>
            <a:ext cx="1049655" cy="571500"/>
          </a:xfrm>
          <a:prstGeom xmlns:a="http://schemas.openxmlformats.org/drawingml/2006/main" prst="roundRect">
            <a:avLst>
              <a:gd name="adj" fmla="val 50000"/>
            </a:avLst>
          </a:prstGeom>
          <a:solidFill xmlns:a="http://schemas.openxmlformats.org/drawingml/2006/main">
            <a:srgbClr val="D43F3A"/>
          </a:solidFill>
        </p:spPr>
      </p:sp>
      <p:sp>
        <p:nvSpPr>
          <p:cNvPr id="25" name="">
            <a:extLst xmlns:a="http://schemas.openxmlformats.org/drawingml/2006/main">
              <a:ext uri="{FF2B5EF4-FFF2-40B4-BE49-F238E27FC236}">
                <a16:creationId xmlns:a16="http://schemas.microsoft.com/office/drawing/2014/main" id="{ECD6348E-23B4-40D5-A787-0AA3B68636B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753850" y="3486150"/>
            <a:ext cx="704850" cy="4191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/>
          <a:lstStyle xmlns:a="http://schemas.openxmlformats.org/drawingml/2006/main"/>
          <a:p xmlns:a="http://schemas.openxmlformats.org/drawingml/2006/main">
            <a:pPr>
              <a:defRPr sz="1350" b="1">
                <a:solidFill>
                  <a:srgbClr val="FFFFFF"/>
                </a:solidFill>
              </a:defRPr>
            </a:pPr>
            <a:r>
              <a:rPr sz="1350" b="1">
                <a:solidFill>
                  <a:srgbClr val="FFFFFF"/>
                </a:solidFill>
              </a:rPr>
              <a:t>risque 0-1</a:t>
            </a:r>
          </a:p>
        </p:txBody>
      </p:sp>
      <p:sp>
        <p:nvSpPr>
          <p:cNvPr id="26" name="">
            <a:extLst xmlns:a="http://schemas.openxmlformats.org/drawingml/2006/main">
              <a:ext uri="{FF2B5EF4-FFF2-40B4-BE49-F238E27FC236}">
                <a16:creationId xmlns:a16="http://schemas.microsoft.com/office/drawing/2014/main" id="{B8561B17-0873-4FB0-A3E6-A4E9D6B766D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048750" y="4533900"/>
            <a:ext cx="95250" cy="95250"/>
          </a:xfrm>
          <a:prstGeom xmlns:a="http://schemas.openxmlformats.org/drawingml/2006/main" prst="roundRect">
            <a:avLst>
              <a:gd name="adj" fmla="val 50000"/>
            </a:avLst>
          </a:prstGeom>
          <a:solidFill xmlns:a="http://schemas.openxmlformats.org/drawingml/2006/main">
            <a:srgbClr val="1663FF"/>
          </a:solidFill>
        </p:spPr>
      </p:sp>
      <p:sp>
        <p:nvSpPr>
          <p:cNvPr id="27" name="">
            <a:extLst xmlns:a="http://schemas.openxmlformats.org/drawingml/2006/main">
              <a:ext uri="{FF2B5EF4-FFF2-40B4-BE49-F238E27FC236}">
                <a16:creationId xmlns:a16="http://schemas.microsoft.com/office/drawing/2014/main" id="{FBD3E7C9-0C71-4F27-8644-5BBE893A1AD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277350" y="4533900"/>
            <a:ext cx="7981950" cy="3048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/>
          <a:lstStyle xmlns:a="http://schemas.openxmlformats.org/drawingml/2006/main"/>
          <a:p xmlns:a="http://schemas.openxmlformats.org/drawingml/2006/main">
            <a:pPr>
              <a:lnSpc>
                <a:spcPct val="105000"/>
              </a:lnSpc>
              <a:buNone/>
              <a:defRPr sz="1800">
                <a:solidFill>
                  <a:srgbClr val="111827"/>
                </a:solidFill>
              </a:defRPr>
            </a:pPr>
            <a:r>
              <a:rPr sz="1800">
                <a:solidFill>
                  <a:srgbClr val="111827"/>
                </a:solidFill>
              </a:rPr>
              <a:t>Commencer simple: TCN ou GRU sur keypoints + distances.</a:t>
            </a:r>
          </a:p>
        </p:txBody>
      </p:sp>
      <p:sp>
        <p:nvSpPr>
          <p:cNvPr id="28" name="">
            <a:extLst xmlns:a="http://schemas.openxmlformats.org/drawingml/2006/main">
              <a:ext uri="{FF2B5EF4-FFF2-40B4-BE49-F238E27FC236}">
                <a16:creationId xmlns:a16="http://schemas.microsoft.com/office/drawing/2014/main" id="{04EA9FA7-8D7D-4E64-8C7F-2E9AB864B04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048750" y="4933950"/>
            <a:ext cx="95250" cy="95250"/>
          </a:xfrm>
          <a:prstGeom xmlns:a="http://schemas.openxmlformats.org/drawingml/2006/main" prst="roundRect">
            <a:avLst>
              <a:gd name="adj" fmla="val 50000"/>
            </a:avLst>
          </a:prstGeom>
          <a:solidFill xmlns:a="http://schemas.openxmlformats.org/drawingml/2006/main">
            <a:srgbClr val="1663FF"/>
          </a:solidFill>
        </p:spPr>
      </p:sp>
      <p:sp>
        <p:nvSpPr>
          <p:cNvPr id="29" name="">
            <a:extLst xmlns:a="http://schemas.openxmlformats.org/drawingml/2006/main">
              <a:ext uri="{FF2B5EF4-FFF2-40B4-BE49-F238E27FC236}">
                <a16:creationId xmlns:a16="http://schemas.microsoft.com/office/drawing/2014/main" id="{A3248CCE-8131-4215-B69E-713D7700539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277350" y="4933950"/>
            <a:ext cx="7981950" cy="3048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/>
          <a:lstStyle xmlns:a="http://schemas.openxmlformats.org/drawingml/2006/main"/>
          <a:p xmlns:a="http://schemas.openxmlformats.org/drawingml/2006/main">
            <a:pPr>
              <a:lnSpc>
                <a:spcPct val="105000"/>
              </a:lnSpc>
              <a:buNone/>
              <a:defRPr sz="1800">
                <a:solidFill>
                  <a:srgbClr val="111827"/>
                </a:solidFill>
              </a:defRPr>
            </a:pPr>
            <a:r>
              <a:rPr sz="1800">
                <a:solidFill>
                  <a:srgbClr val="111827"/>
                </a:solidFill>
              </a:rPr>
              <a:t>Ajouter Transformer temporel si le POC montre un vrai gain.</a:t>
            </a:r>
          </a:p>
        </p:txBody>
      </p:sp>
      <p:sp>
        <p:nvSpPr>
          <p:cNvPr id="30" name="">
            <a:extLst xmlns:a="http://schemas.openxmlformats.org/drawingml/2006/main">
              <a:ext uri="{FF2B5EF4-FFF2-40B4-BE49-F238E27FC236}">
                <a16:creationId xmlns:a16="http://schemas.microsoft.com/office/drawing/2014/main" id="{C2CA7315-3A10-4281-905B-B00B41D1B3E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048750" y="5334000"/>
            <a:ext cx="95250" cy="95250"/>
          </a:xfrm>
          <a:prstGeom xmlns:a="http://schemas.openxmlformats.org/drawingml/2006/main" prst="roundRect">
            <a:avLst>
              <a:gd name="adj" fmla="val 50000"/>
            </a:avLst>
          </a:prstGeom>
          <a:solidFill xmlns:a="http://schemas.openxmlformats.org/drawingml/2006/main">
            <a:srgbClr val="1663FF"/>
          </a:solidFill>
        </p:spPr>
      </p:sp>
      <p:sp>
        <p:nvSpPr>
          <p:cNvPr id="31" name="">
            <a:extLst xmlns:a="http://schemas.openxmlformats.org/drawingml/2006/main">
              <a:ext uri="{FF2B5EF4-FFF2-40B4-BE49-F238E27FC236}">
                <a16:creationId xmlns:a16="http://schemas.microsoft.com/office/drawing/2014/main" id="{A186C665-8DAB-4168-AECA-FFAC5C2328A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277350" y="5334000"/>
            <a:ext cx="7981950" cy="3048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/>
          <a:lstStyle xmlns:a="http://schemas.openxmlformats.org/drawingml/2006/main"/>
          <a:p xmlns:a="http://schemas.openxmlformats.org/drawingml/2006/main">
            <a:pPr>
              <a:lnSpc>
                <a:spcPct val="105000"/>
              </a:lnSpc>
              <a:buNone/>
              <a:defRPr sz="1800">
                <a:solidFill>
                  <a:srgbClr val="111827"/>
                </a:solidFill>
              </a:defRPr>
            </a:pPr>
            <a:r>
              <a:rPr sz="1800">
                <a:solidFill>
                  <a:srgbClr val="111827"/>
                </a:solidFill>
              </a:rPr>
              <a:t>Tester une version GNN squelette plus tard, pas au premier sprint.</a:t>
            </a:r>
          </a:p>
        </p:txBody>
      </p:sp>
      <p:sp>
        <p:nvSpPr>
          <p:cNvPr id="32" name="">
            <a:extLst xmlns:a="http://schemas.openxmlformats.org/drawingml/2006/main">
              <a:ext uri="{FF2B5EF4-FFF2-40B4-BE49-F238E27FC236}">
                <a16:creationId xmlns:a16="http://schemas.microsoft.com/office/drawing/2014/main" id="{4AD6836B-3613-4449-A103-473D99E8E77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048750" y="5734050"/>
            <a:ext cx="95250" cy="95250"/>
          </a:xfrm>
          <a:prstGeom xmlns:a="http://schemas.openxmlformats.org/drawingml/2006/main" prst="roundRect">
            <a:avLst>
              <a:gd name="adj" fmla="val 50000"/>
            </a:avLst>
          </a:prstGeom>
          <a:solidFill xmlns:a="http://schemas.openxmlformats.org/drawingml/2006/main">
            <a:srgbClr val="1663FF"/>
          </a:solidFill>
        </p:spPr>
      </p:sp>
      <p:sp>
        <p:nvSpPr>
          <p:cNvPr id="33" name="">
            <a:extLst xmlns:a="http://schemas.openxmlformats.org/drawingml/2006/main">
              <a:ext uri="{FF2B5EF4-FFF2-40B4-BE49-F238E27FC236}">
                <a16:creationId xmlns:a16="http://schemas.microsoft.com/office/drawing/2014/main" id="{872FD922-0D12-4BFB-A6C6-A260791743F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277350" y="5734050"/>
            <a:ext cx="7981950" cy="3048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/>
          <a:lstStyle xmlns:a="http://schemas.openxmlformats.org/drawingml/2006/main"/>
          <a:p xmlns:a="http://schemas.openxmlformats.org/drawingml/2006/main">
            <a:pPr>
              <a:lnSpc>
                <a:spcPct val="105000"/>
              </a:lnSpc>
              <a:buNone/>
              <a:defRPr sz="1800">
                <a:solidFill>
                  <a:srgbClr val="111827"/>
                </a:solidFill>
              </a:defRPr>
            </a:pPr>
            <a:r>
              <a:rPr sz="1800">
                <a:solidFill>
                  <a:srgbClr val="111827"/>
                </a:solidFill>
              </a:rPr>
              <a:t>Sorties: risk_0.5s, risk_1s, risk_2s + distance courante.</a:t>
            </a:r>
          </a:p>
        </p:txBody>
      </p:sp>
      <p:sp>
        <p:nvSpPr>
          <p:cNvPr id="34" name="">
            <a:extLst xmlns:a="http://schemas.openxmlformats.org/drawingml/2006/main">
              <a:ext uri="{FF2B5EF4-FFF2-40B4-BE49-F238E27FC236}">
                <a16:creationId xmlns:a16="http://schemas.microsoft.com/office/drawing/2014/main" id="{136852D6-3070-4D78-8F8E-600819376E1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04850" y="9582150"/>
            <a:ext cx="16383000" cy="1524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/>
          <a:lstStyle xmlns:a="http://schemas.openxmlformats.org/drawingml/2006/main"/>
          <a:p xmlns:a="http://schemas.openxmlformats.org/drawingml/2006/main">
            <a:pPr>
              <a:defRPr sz="1050">
                <a:solidFill>
                  <a:srgbClr val="7A8494"/>
                </a:solidFill>
              </a:defRPr>
            </a:pPr>
            <a:r>
              <a:rPr sz="1050">
                <a:solidFill>
                  <a:srgbClr val="7A8494"/>
                </a:solidFill>
              </a:rPr>
              <a:t>POC sécurité machine · collecte de données</a:t>
            </a:r>
          </a:p>
        </p:txBody>
      </p:sp>
      <p:sp>
        <p:nvSpPr>
          <p:cNvPr id="35" name="">
            <a:extLst xmlns:a="http://schemas.openxmlformats.org/drawingml/2006/main">
              <a:ext uri="{FF2B5EF4-FFF2-40B4-BE49-F238E27FC236}">
                <a16:creationId xmlns:a16="http://schemas.microsoft.com/office/drawing/2014/main" id="{9C7D24BE-1DB5-433B-A9C3-3247C7815D7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7087850" y="9582150"/>
            <a:ext cx="495300" cy="1524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/>
          <a:lstStyle xmlns:a="http://schemas.openxmlformats.org/drawingml/2006/main"/>
          <a:p xmlns:a="http://schemas.openxmlformats.org/drawingml/2006/main">
            <a:pPr>
              <a:defRPr sz="1050">
                <a:solidFill>
                  <a:srgbClr val="7A8494"/>
                </a:solidFill>
              </a:defRPr>
            </a:pPr>
            <a:r>
              <a:rPr sz="1050">
                <a:solidFill>
                  <a:srgbClr val="7A8494"/>
                </a:solidFill>
              </a:rPr>
              <a:t>mai 2026</a:t>
            </a:r>
          </a:p>
        </p:txBody>
      </p:sp>
    </p:spTree>
    <p:extLst>
      <p:ext uri="{BB962C8B-B14F-4D97-AF65-F5344CB8AC3E}">
        <p14:creationId xmlns:p14="http://schemas.microsoft.com/office/powerpoint/2010/main" val="430738821"/>
      </p:ext>
    </p:extLst>
  </p:cSld>
</p:sld>
</file>

<file path=ppt/slides/slide7.xml><?xml version="1.0" encoding="utf-8"?>
<p:sld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" name="background">
            <a:extLst xmlns:a="http://schemas.openxmlformats.org/drawingml/2006/main">
              <a:ext uri="{FF2B5EF4-FFF2-40B4-BE49-F238E27FC236}">
                <a16:creationId xmlns:a16="http://schemas.microsoft.com/office/drawing/2014/main" id="{C40A1B3F-7C94-4BD6-99DE-ED87ACCEBF8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8288000" cy="10287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7F8FA"/>
          </a:solidFill>
        </p:spPr>
      </p:sp>
      <p:sp>
        <p:nvSpPr>
          <p:cNvPr id="2" name="slide-title">
            <a:extLst xmlns:a="http://schemas.openxmlformats.org/drawingml/2006/main">
              <a:ext uri="{FF2B5EF4-FFF2-40B4-BE49-F238E27FC236}">
                <a16:creationId xmlns:a16="http://schemas.microsoft.com/office/drawing/2014/main" id="{30FD2BF7-A626-4419-AAB7-C42A620E629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04850" y="552450"/>
            <a:ext cx="16878300" cy="6096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/>
          <a:lstStyle xmlns:a="http://schemas.openxmlformats.org/drawingml/2006/main"/>
          <a:p xmlns:a="http://schemas.openxmlformats.org/drawingml/2006/main">
            <a:pPr>
              <a:lnSpc>
                <a:spcPct val="90000"/>
              </a:lnSpc>
              <a:buNone/>
              <a:defRPr sz="4350" b="1">
                <a:solidFill>
                  <a:srgbClr val="111827"/>
                </a:solidFill>
              </a:defRPr>
            </a:pPr>
            <a:r>
              <a:rPr sz="4350" b="1">
                <a:solidFill>
                  <a:srgbClr val="111827"/>
                </a:solidFill>
              </a:rPr>
              <a:t>Modèle attention: rendre la décision plus sensible</a:t>
            </a:r>
          </a:p>
        </p:txBody>
      </p:sp>
      <p:sp>
        <p:nvSpPr>
          <p:cNvPr id="3" name="slide-subtitle">
            <a:extLst xmlns:a="http://schemas.openxmlformats.org/drawingml/2006/main">
              <a:ext uri="{FF2B5EF4-FFF2-40B4-BE49-F238E27FC236}">
                <a16:creationId xmlns:a16="http://schemas.microsoft.com/office/drawing/2014/main" id="{DC6C2251-3E44-4323-8D9D-DAF3BA2AB2B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04850" y="1276350"/>
            <a:ext cx="8553450" cy="62865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/>
          <a:lstStyle xmlns:a="http://schemas.openxmlformats.org/drawingml/2006/main"/>
          <a:p xmlns:a="http://schemas.openxmlformats.org/drawingml/2006/main">
            <a:pPr>
              <a:lnSpc>
                <a:spcPct val="108000"/>
              </a:lnSpc>
              <a:buNone/>
              <a:defRPr sz="1875">
                <a:solidFill>
                  <a:srgbClr val="596273"/>
                </a:solidFill>
              </a:defRPr>
            </a:pPr>
            <a:r>
              <a:rPr sz="1875">
                <a:solidFill>
                  <a:srgbClr val="596273"/>
                </a:solidFill>
              </a:rPr>
              <a:t>Ce modèle ne remplace pas le master. Il ajuste la tolérance au risque selon l’état humain.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F2EC9539-DD89-44F9-89C4-16993D71CD7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04850" y="2223516"/>
            <a:ext cx="8258175" cy="7027164"/>
          </a:xfrm>
          <a:prstGeom xmlns:a="http://schemas.openxmlformats.org/drawingml/2006/main" prst="roundRect">
            <a:avLst>
              <a:gd name="adj" fmla="val 1084"/>
            </a:avLst>
          </a:prstGeom>
          <a:solidFill xmlns:a="http://schemas.openxmlformats.org/drawingml/2006/main">
            <a:srgbClr val="FFF8E6"/>
          </a:solidFill>
          <a:ln xmlns:a="http://schemas.openxmlformats.org/drawingml/2006/main" w="9525">
            <a:solidFill>
              <a:srgbClr val="F1D99B"/>
            </a:solidFill>
            <a:prstDash val="solid"/>
          </a:ln>
        </p:spPr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8DE20191-34C4-49E2-911B-5581DCA3899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28700" y="2514600"/>
            <a:ext cx="7620000" cy="3810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/>
          <a:lstStyle xmlns:a="http://schemas.openxmlformats.org/drawingml/2006/main"/>
          <a:p xmlns:a="http://schemas.openxmlformats.org/drawingml/2006/main">
            <a:pPr>
              <a:defRPr sz="2475" b="1">
                <a:solidFill>
                  <a:srgbClr val="E5A11A"/>
                </a:solidFill>
              </a:defRPr>
            </a:pPr>
            <a:r>
              <a:rPr sz="2475" b="1">
                <a:solidFill>
                  <a:srgbClr val="E5A11A"/>
                </a:solidFill>
              </a:rPr>
              <a:t>Label POC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AABC092E-970A-456F-AF3D-785C360ECC0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28700" y="3105150"/>
            <a:ext cx="95250" cy="95250"/>
          </a:xfrm>
          <a:prstGeom xmlns:a="http://schemas.openxmlformats.org/drawingml/2006/main" prst="roundRect">
            <a:avLst>
              <a:gd name="adj" fmla="val 50000"/>
            </a:avLst>
          </a:prstGeom>
          <a:solidFill xmlns:a="http://schemas.openxmlformats.org/drawingml/2006/main">
            <a:srgbClr val="E5A11A"/>
          </a:solidFill>
        </p:spPr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288553B1-3FD0-460A-A97E-3041F4CF4B6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57300" y="3105150"/>
            <a:ext cx="7391400" cy="3048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/>
          <a:lstStyle xmlns:a="http://schemas.openxmlformats.org/drawingml/2006/main"/>
          <a:p xmlns:a="http://schemas.openxmlformats.org/drawingml/2006/main">
            <a:pPr>
              <a:lnSpc>
                <a:spcPct val="105000"/>
              </a:lnSpc>
              <a:buNone/>
              <a:defRPr sz="1800">
                <a:solidFill>
                  <a:srgbClr val="111827"/>
                </a:solidFill>
              </a:defRPr>
            </a:pPr>
            <a:r>
              <a:rPr sz="1800">
                <a:solidFill>
                  <a:srgbClr val="111827"/>
                </a:solidFill>
              </a:rPr>
              <a:t>attentive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7D2F0B29-0690-4233-BA15-EE5B104052E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28700" y="3524250"/>
            <a:ext cx="95250" cy="95250"/>
          </a:xfrm>
          <a:prstGeom xmlns:a="http://schemas.openxmlformats.org/drawingml/2006/main" prst="roundRect">
            <a:avLst>
              <a:gd name="adj" fmla="val 50000"/>
            </a:avLst>
          </a:prstGeom>
          <a:solidFill xmlns:a="http://schemas.openxmlformats.org/drawingml/2006/main">
            <a:srgbClr val="E5A11A"/>
          </a:solidFill>
        </p:spPr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BB27D4F4-C27C-43DB-81F7-AEB8EE899FC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57300" y="3524250"/>
            <a:ext cx="7391400" cy="3048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/>
          <a:lstStyle xmlns:a="http://schemas.openxmlformats.org/drawingml/2006/main"/>
          <a:p xmlns:a="http://schemas.openxmlformats.org/drawingml/2006/main">
            <a:pPr>
              <a:lnSpc>
                <a:spcPct val="105000"/>
              </a:lnSpc>
              <a:buNone/>
              <a:defRPr sz="1800">
                <a:solidFill>
                  <a:srgbClr val="111827"/>
                </a:solidFill>
              </a:defRPr>
            </a:pPr>
            <a:r>
              <a:rPr sz="1800">
                <a:solidFill>
                  <a:srgbClr val="111827"/>
                </a:solidFill>
              </a:rPr>
              <a:t>distracted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51BCE8F3-589E-4E72-8CA6-880977515F3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28700" y="3943350"/>
            <a:ext cx="95250" cy="95250"/>
          </a:xfrm>
          <a:prstGeom xmlns:a="http://schemas.openxmlformats.org/drawingml/2006/main" prst="roundRect">
            <a:avLst>
              <a:gd name="adj" fmla="val 50000"/>
            </a:avLst>
          </a:prstGeom>
          <a:solidFill xmlns:a="http://schemas.openxmlformats.org/drawingml/2006/main">
            <a:srgbClr val="E5A11A"/>
          </a:solidFill>
        </p:spPr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767C6B00-DA1C-4098-8220-439757E40EC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57300" y="3943350"/>
            <a:ext cx="7391400" cy="3048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/>
          <a:lstStyle xmlns:a="http://schemas.openxmlformats.org/drawingml/2006/main"/>
          <a:p xmlns:a="http://schemas.openxmlformats.org/drawingml/2006/main">
            <a:pPr>
              <a:lnSpc>
                <a:spcPct val="105000"/>
              </a:lnSpc>
              <a:buNone/>
              <a:defRPr sz="1800">
                <a:solidFill>
                  <a:srgbClr val="111827"/>
                </a:solidFill>
              </a:defRPr>
            </a:pPr>
            <a:r>
              <a:rPr sz="1800">
                <a:solidFill>
                  <a:srgbClr val="111827"/>
                </a:solidFill>
              </a:rPr>
              <a:t>unclear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FF29B6A0-9D55-42C2-8E27-CEADFAA90C4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28700" y="4362450"/>
            <a:ext cx="95250" cy="95250"/>
          </a:xfrm>
          <a:prstGeom xmlns:a="http://schemas.openxmlformats.org/drawingml/2006/main" prst="roundRect">
            <a:avLst>
              <a:gd name="adj" fmla="val 50000"/>
            </a:avLst>
          </a:prstGeom>
          <a:solidFill xmlns:a="http://schemas.openxmlformats.org/drawingml/2006/main">
            <a:srgbClr val="E5A11A"/>
          </a:solidFill>
        </p:spPr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B1D950AB-BE35-4B8E-AD93-8C7892F8CF5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57300" y="4362450"/>
            <a:ext cx="7391400" cy="3048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/>
          <a:lstStyle xmlns:a="http://schemas.openxmlformats.org/drawingml/2006/main"/>
          <a:p xmlns:a="http://schemas.openxmlformats.org/drawingml/2006/main">
            <a:pPr>
              <a:lnSpc>
                <a:spcPct val="105000"/>
              </a:lnSpc>
              <a:buNone/>
              <a:defRPr sz="1800">
                <a:solidFill>
                  <a:srgbClr val="111827"/>
                </a:solidFill>
              </a:defRPr>
            </a:pPr>
            <a:r>
              <a:rPr sz="1800">
                <a:solidFill>
                  <a:srgbClr val="111827"/>
                </a:solidFill>
              </a:rPr>
              <a:t>durée minimale: fenêtres de 2-5 secondes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09BEE23E-4472-4281-95E0-58D649FAA91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28700" y="4857750"/>
            <a:ext cx="7620000" cy="28575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/>
          <a:lstStyle xmlns:a="http://schemas.openxmlformats.org/drawingml/2006/main"/>
          <a:p xmlns:a="http://schemas.openxmlformats.org/drawingml/2006/main">
            <a:pPr>
              <a:defRPr sz="1800" b="1">
                <a:solidFill>
                  <a:srgbClr val="111827"/>
                </a:solidFill>
              </a:defRPr>
            </a:pPr>
            <a:r>
              <a:rPr sz="1800" b="1">
                <a:solidFill>
                  <a:srgbClr val="111827"/>
                </a:solidFill>
              </a:rPr>
              <a:t>Il faut privilégier des clips où le geste est similaire mais l’attention change.</a:t>
            </a:r>
          </a:p>
        </p:txBody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3B8AEEB4-2127-4987-938F-0EFD04166EA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324975" y="2223516"/>
            <a:ext cx="8258175" cy="7027164"/>
          </a:xfrm>
          <a:prstGeom xmlns:a="http://schemas.openxmlformats.org/drawingml/2006/main" prst="roundRect">
            <a:avLst>
              <a:gd name="adj" fmla="val 1084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9E0E7"/>
            </a:solidFill>
            <a:prstDash val="solid"/>
          </a:ln>
        </p:spPr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AF5E2C6B-9866-4C84-A95D-AEC94584FA5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658350" y="2514600"/>
            <a:ext cx="7620000" cy="3810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/>
          <a:lstStyle xmlns:a="http://schemas.openxmlformats.org/drawingml/2006/main"/>
          <a:p xmlns:a="http://schemas.openxmlformats.org/drawingml/2006/main">
            <a:pPr>
              <a:defRPr sz="2475" b="1">
                <a:solidFill>
                  <a:srgbClr val="172033"/>
                </a:solidFill>
              </a:defRPr>
            </a:pPr>
            <a:r>
              <a:rPr sz="2475" b="1">
                <a:solidFill>
                  <a:srgbClr val="172033"/>
                </a:solidFill>
              </a:rPr>
              <a:t>Couche politique</a:t>
            </a:r>
          </a:p>
        </p:txBody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1FE9092E-7C47-455A-93EA-F33CA67ADC0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658350" y="3105150"/>
            <a:ext cx="5600700" cy="6477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/>
          <a:lstStyle xmlns:a="http://schemas.openxmlformats.org/drawingml/2006/main"/>
          <a:p xmlns:a="http://schemas.openxmlformats.org/drawingml/2006/main">
            <a:pPr>
              <a:defRPr sz="2100">
                <a:solidFill>
                  <a:srgbClr val="111827"/>
                </a:solidFill>
              </a:defRPr>
            </a:pPr>
            <a:r>
              <a:rPr sz="2100">
                <a:solidFill>
                  <a:srgbClr val="111827"/>
                </a:solidFill>
              </a:rPr>
              <a:t>Si l’attention baisse, le seuil de sécurité baisse aussi.</a:t>
            </a:r>
          </a:p>
        </p:txBody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15E2CA69-0A65-4166-B11F-972929F8E93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658350" y="3943350"/>
            <a:ext cx="7620000" cy="28575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/>
          <a:lstStyle xmlns:a="http://schemas.openxmlformats.org/drawingml/2006/main"/>
          <a:p xmlns:a="http://schemas.openxmlformats.org/drawingml/2006/main">
            <a:pPr>
              <a:defRPr sz="1875">
                <a:solidFill>
                  <a:srgbClr val="0B2F6B"/>
                </a:solidFill>
              </a:defRPr>
            </a:pPr>
            <a:r>
              <a:rPr sz="1875">
                <a:solidFill>
                  <a:srgbClr val="0B2F6B"/>
                </a:solidFill>
              </a:rPr>
              <a:t>exemple: shutdown si risk &gt; 0,80 devient risk &gt; 0,60</a:t>
            </a:r>
          </a:p>
        </p:txBody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6E97481B-8A50-4245-AC78-9759EB9D12A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658350" y="4438650"/>
            <a:ext cx="95250" cy="95250"/>
          </a:xfrm>
          <a:prstGeom xmlns:a="http://schemas.openxmlformats.org/drawingml/2006/main" prst="roundRect">
            <a:avLst>
              <a:gd name="adj" fmla="val 50000"/>
            </a:avLst>
          </a:prstGeom>
          <a:solidFill xmlns:a="http://schemas.openxmlformats.org/drawingml/2006/main">
            <a:srgbClr val="172033"/>
          </a:solidFill>
        </p:spPr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680CBD2F-DCD9-4C99-A22C-5CB2E4F62E5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886950" y="4438650"/>
            <a:ext cx="7391400" cy="3048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/>
          <a:lstStyle xmlns:a="http://schemas.openxmlformats.org/drawingml/2006/main"/>
          <a:p xmlns:a="http://schemas.openxmlformats.org/drawingml/2006/main">
            <a:pPr>
              <a:lnSpc>
                <a:spcPct val="105000"/>
              </a:lnSpc>
              <a:buNone/>
              <a:defRPr sz="1800">
                <a:solidFill>
                  <a:srgbClr val="111827"/>
                </a:solidFill>
              </a:defRPr>
            </a:pPr>
            <a:r>
              <a:rPr sz="1800">
                <a:solidFill>
                  <a:srgbClr val="111827"/>
                </a:solidFill>
              </a:rPr>
              <a:t>Entrées: crop tête/torse + pose + orientation.</a:t>
            </a:r>
          </a:p>
        </p:txBody>
      </p:sp>
      <p:sp>
        <p:nv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36CCA773-E9B6-42B2-815D-8DA95B1A48F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658350" y="4838700"/>
            <a:ext cx="95250" cy="95250"/>
          </a:xfrm>
          <a:prstGeom xmlns:a="http://schemas.openxmlformats.org/drawingml/2006/main" prst="roundRect">
            <a:avLst>
              <a:gd name="adj" fmla="val 50000"/>
            </a:avLst>
          </a:prstGeom>
          <a:solidFill xmlns:a="http://schemas.openxmlformats.org/drawingml/2006/main">
            <a:srgbClr val="172033"/>
          </a:solidFill>
        </p:spPr>
      </p:sp>
      <p:sp>
        <p:nvSpPr>
          <p:cNvPr id="22" name="">
            <a:extLst xmlns:a="http://schemas.openxmlformats.org/drawingml/2006/main">
              <a:ext uri="{FF2B5EF4-FFF2-40B4-BE49-F238E27FC236}">
                <a16:creationId xmlns:a16="http://schemas.microsoft.com/office/drawing/2014/main" id="{A14195FA-9122-4643-A4FB-F210DB215E6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886950" y="4838700"/>
            <a:ext cx="7391400" cy="3048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/>
          <a:lstStyle xmlns:a="http://schemas.openxmlformats.org/drawingml/2006/main"/>
          <a:p xmlns:a="http://schemas.openxmlformats.org/drawingml/2006/main">
            <a:pPr>
              <a:lnSpc>
                <a:spcPct val="105000"/>
              </a:lnSpc>
              <a:buNone/>
              <a:defRPr sz="1800">
                <a:solidFill>
                  <a:srgbClr val="111827"/>
                </a:solidFill>
              </a:defRPr>
            </a:pPr>
            <a:r>
              <a:rPr sz="1800">
                <a:solidFill>
                  <a:srgbClr val="111827"/>
                </a:solidFill>
              </a:rPr>
              <a:t>Architecture: CNN léger + GRU/TCN, ou features pose + MLP.</a:t>
            </a:r>
          </a:p>
        </p:txBody>
      </p:sp>
      <p:sp>
        <p:nvSpPr>
          <p:cNvPr id="23" name="">
            <a:extLst xmlns:a="http://schemas.openxmlformats.org/drawingml/2006/main">
              <a:ext uri="{FF2B5EF4-FFF2-40B4-BE49-F238E27FC236}">
                <a16:creationId xmlns:a16="http://schemas.microsoft.com/office/drawing/2014/main" id="{CF843C2D-4A82-4275-87C7-20CD0CF34E4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04850" y="9582150"/>
            <a:ext cx="16383000" cy="1524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/>
          <a:lstStyle xmlns:a="http://schemas.openxmlformats.org/drawingml/2006/main"/>
          <a:p xmlns:a="http://schemas.openxmlformats.org/drawingml/2006/main">
            <a:pPr>
              <a:defRPr sz="1050">
                <a:solidFill>
                  <a:srgbClr val="7A8494"/>
                </a:solidFill>
              </a:defRPr>
            </a:pPr>
            <a:r>
              <a:rPr sz="1050">
                <a:solidFill>
                  <a:srgbClr val="7A8494"/>
                </a:solidFill>
              </a:rPr>
              <a:t>POC sécurité machine · collecte de données</a:t>
            </a:r>
          </a:p>
        </p:txBody>
      </p:sp>
      <p:sp>
        <p:nvSpPr>
          <p:cNvPr id="24" name="">
            <a:extLst xmlns:a="http://schemas.openxmlformats.org/drawingml/2006/main">
              <a:ext uri="{FF2B5EF4-FFF2-40B4-BE49-F238E27FC236}">
                <a16:creationId xmlns:a16="http://schemas.microsoft.com/office/drawing/2014/main" id="{423546D6-8F2A-42E1-8CDC-7DB11D6F57A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7087850" y="9582150"/>
            <a:ext cx="495300" cy="1524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/>
          <a:lstStyle xmlns:a="http://schemas.openxmlformats.org/drawingml/2006/main"/>
          <a:p xmlns:a="http://schemas.openxmlformats.org/drawingml/2006/main">
            <a:pPr>
              <a:defRPr sz="1050">
                <a:solidFill>
                  <a:srgbClr val="7A8494"/>
                </a:solidFill>
              </a:defRPr>
            </a:pPr>
            <a:r>
              <a:rPr sz="1050">
                <a:solidFill>
                  <a:srgbClr val="7A8494"/>
                </a:solidFill>
              </a:rPr>
              <a:t>mai 2026</a:t>
            </a:r>
          </a:p>
        </p:txBody>
      </p:sp>
    </p:spTree>
    <p:extLst>
      <p:ext uri="{BB962C8B-B14F-4D97-AF65-F5344CB8AC3E}">
        <p14:creationId xmlns:p14="http://schemas.microsoft.com/office/powerpoint/2010/main" val="567162164"/>
      </p:ext>
    </p:extLst>
  </p:cSld>
</p:sld>
</file>

<file path=ppt/slides/slide8.xml><?xml version="1.0" encoding="utf-8"?>
<p:sld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" name="background">
            <a:extLst xmlns:a="http://schemas.openxmlformats.org/drawingml/2006/main">
              <a:ext uri="{FF2B5EF4-FFF2-40B4-BE49-F238E27FC236}">
                <a16:creationId xmlns:a16="http://schemas.microsoft.com/office/drawing/2014/main" id="{334C8B23-5F4F-41EB-AFD9-BB0F7602A1D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8288000" cy="10287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7F8FA"/>
          </a:solidFill>
        </p:spPr>
      </p:sp>
      <p:sp>
        <p:nvSpPr>
          <p:cNvPr id="2" name="slide-title">
            <a:extLst xmlns:a="http://schemas.openxmlformats.org/drawingml/2006/main">
              <a:ext uri="{FF2B5EF4-FFF2-40B4-BE49-F238E27FC236}">
                <a16:creationId xmlns:a16="http://schemas.microsoft.com/office/drawing/2014/main" id="{256D98D8-CF67-496F-883C-AAD300C5641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04850" y="552450"/>
            <a:ext cx="16878300" cy="6096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/>
          <a:lstStyle xmlns:a="http://schemas.openxmlformats.org/drawingml/2006/main"/>
          <a:p xmlns:a="http://schemas.openxmlformats.org/drawingml/2006/main">
            <a:pPr>
              <a:lnSpc>
                <a:spcPct val="90000"/>
              </a:lnSpc>
              <a:buNone/>
              <a:defRPr sz="4350" b="1">
                <a:solidFill>
                  <a:srgbClr val="111827"/>
                </a:solidFill>
              </a:defRPr>
            </a:pPr>
            <a:r>
              <a:rPr sz="4350" b="1">
                <a:solidFill>
                  <a:srgbClr val="111827"/>
                </a:solidFill>
              </a:rPr>
              <a:t>Modèle col bleu: contrôle de conformité séparé</a:t>
            </a:r>
          </a:p>
        </p:txBody>
      </p:sp>
      <p:sp>
        <p:nvSpPr>
          <p:cNvPr id="3" name="slide-subtitle">
            <a:extLst xmlns:a="http://schemas.openxmlformats.org/drawingml/2006/main">
              <a:ext uri="{FF2B5EF4-FFF2-40B4-BE49-F238E27FC236}">
                <a16:creationId xmlns:a16="http://schemas.microsoft.com/office/drawing/2014/main" id="{33DA5FFC-B13F-49BC-BDA7-D483ED2BC35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04850" y="1276350"/>
            <a:ext cx="9753600" cy="62865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/>
          <a:lstStyle xmlns:a="http://schemas.openxmlformats.org/drawingml/2006/main"/>
          <a:p xmlns:a="http://schemas.openxmlformats.org/drawingml/2006/main">
            <a:pPr>
              <a:lnSpc>
                <a:spcPct val="108000"/>
              </a:lnSpc>
              <a:buNone/>
              <a:defRPr sz="1875">
                <a:solidFill>
                  <a:srgbClr val="596273"/>
                </a:solidFill>
              </a:defRPr>
            </a:pPr>
            <a:r>
              <a:rPr sz="1875">
                <a:solidFill>
                  <a:srgbClr val="596273"/>
                </a:solidFill>
              </a:rPr>
              <a:t>Le col est un signal de sécurité indépendant, surtout quand le technicien se rapproche de la machine.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62A6DF27-3748-4A3C-A289-8ABD4F5FF1A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04850" y="2223516"/>
            <a:ext cx="7597521" cy="7027164"/>
          </a:xfrm>
          <a:prstGeom xmlns:a="http://schemas.openxmlformats.org/drawingml/2006/main" prst="roundRect">
            <a:avLst>
              <a:gd name="adj" fmla="val 1084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9E0E7"/>
            </a:solidFill>
            <a:prstDash val="solid"/>
          </a:ln>
        </p:spPr>
      </p:sp>
      <p:pic>
        <p:nvPicPr>
          <p:cNvPr id="5" name="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e73b5203218f4f6f"/>
          <a:srcRect xmlns:a="http://schemas.openxmlformats.org/drawingml/2006/main" l="7579" t="0" r="7579" b="0"/>
          <a:stretch xmlns:a="http://schemas.openxmlformats.org/drawingml/2006/main">
            <a:fillRect l="0" t="0" r="0" b="0"/>
          </a:stretch>
        </p:blipFill>
        <p:spPr>
          <a:xfrm xmlns:a="http://schemas.openxmlformats.org/drawingml/2006/main">
            <a:off x="1028700" y="2509266"/>
            <a:ext cx="6949821" cy="4095750"/>
          </a:xfrm>
          <a:prstGeom xmlns:a="http://schemas.openxmlformats.org/drawingml/2006/main" prst="rect">
            <a:avLst/>
          </a:prstGeom>
        </p:spPr>
      </p:pic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734FBD5A-DE47-4D5E-9966-1CBD99496CC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28700" y="6819900"/>
            <a:ext cx="6953250" cy="28575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/>
          <a:lstStyle xmlns:a="http://schemas.openxmlformats.org/drawingml/2006/main"/>
          <a:p xmlns:a="http://schemas.openxmlformats.org/drawingml/2006/main">
            <a:pPr>
              <a:defRPr sz="1875" b="1">
                <a:solidFill>
                  <a:srgbClr val="111827"/>
                </a:solidFill>
              </a:defRPr>
            </a:pPr>
            <a:r>
              <a:rPr sz="1875" b="1">
                <a:solidFill>
                  <a:srgbClr val="111827"/>
                </a:solidFill>
              </a:rPr>
              <a:t>Input recommandé: crop cou / torse, pas la frame complète.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55FC1A6D-8600-4CED-8CE9-D00B09FD51E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664321" y="2223516"/>
            <a:ext cx="8918829" cy="7027164"/>
          </a:xfrm>
          <a:prstGeom xmlns:a="http://schemas.openxmlformats.org/drawingml/2006/main" prst="roundRect">
            <a:avLst>
              <a:gd name="adj" fmla="val 1084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9E0E7"/>
            </a:solidFill>
            <a:prstDash val="solid"/>
          </a:ln>
        </p:spPr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246802BF-6DFC-4F09-810D-2549F3FDB31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991600" y="2514600"/>
            <a:ext cx="8267700" cy="3810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/>
          <a:lstStyle xmlns:a="http://schemas.openxmlformats.org/drawingml/2006/main"/>
          <a:p xmlns:a="http://schemas.openxmlformats.org/drawingml/2006/main">
            <a:pPr>
              <a:defRPr sz="2475" b="1">
                <a:solidFill>
                  <a:srgbClr val="1663FF"/>
                </a:solidFill>
              </a:defRPr>
            </a:pPr>
            <a:r>
              <a:rPr sz="2475" b="1">
                <a:solidFill>
                  <a:srgbClr val="1663FF"/>
                </a:solidFill>
              </a:rPr>
              <a:t>Architecture &amp; labels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37FE9EE5-6F70-4A1E-A812-B4DC201743C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991600" y="3105150"/>
            <a:ext cx="95250" cy="95250"/>
          </a:xfrm>
          <a:prstGeom xmlns:a="http://schemas.openxmlformats.org/drawingml/2006/main" prst="roundRect">
            <a:avLst>
              <a:gd name="adj" fmla="val 50000"/>
            </a:avLst>
          </a:prstGeom>
          <a:solidFill xmlns:a="http://schemas.openxmlformats.org/drawingml/2006/main">
            <a:srgbClr val="1663FF"/>
          </a:solidFill>
        </p:spPr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3001CB11-4D58-4E3A-8C66-4D032AB77FE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220200" y="3105150"/>
            <a:ext cx="8039100" cy="3048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/>
          <a:lstStyle xmlns:a="http://schemas.openxmlformats.org/drawingml/2006/main"/>
          <a:p xmlns:a="http://schemas.openxmlformats.org/drawingml/2006/main">
            <a:pPr>
              <a:lnSpc>
                <a:spcPct val="105000"/>
              </a:lnSpc>
              <a:buNone/>
              <a:defRPr sz="1800">
                <a:solidFill>
                  <a:srgbClr val="111827"/>
                </a:solidFill>
              </a:defRPr>
            </a:pPr>
            <a:r>
              <a:rPr sz="1800">
                <a:solidFill>
                  <a:srgbClr val="111827"/>
                </a:solidFill>
              </a:rPr>
              <a:t>Détection personne → crop haut du corps.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D2697EB3-CCBD-422E-833E-48351A889E6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991600" y="3505200"/>
            <a:ext cx="95250" cy="95250"/>
          </a:xfrm>
          <a:prstGeom xmlns:a="http://schemas.openxmlformats.org/drawingml/2006/main" prst="roundRect">
            <a:avLst>
              <a:gd name="adj" fmla="val 50000"/>
            </a:avLst>
          </a:prstGeom>
          <a:solidFill xmlns:a="http://schemas.openxmlformats.org/drawingml/2006/main">
            <a:srgbClr val="1663FF"/>
          </a:solidFill>
        </p:spPr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87A47B8D-B36A-4038-A174-EE3E0101C73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220200" y="3505200"/>
            <a:ext cx="8039100" cy="3048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/>
          <a:lstStyle xmlns:a="http://schemas.openxmlformats.org/drawingml/2006/main"/>
          <a:p xmlns:a="http://schemas.openxmlformats.org/drawingml/2006/main">
            <a:pPr>
              <a:lnSpc>
                <a:spcPct val="105000"/>
              </a:lnSpc>
              <a:buNone/>
              <a:defRPr sz="1800">
                <a:solidFill>
                  <a:srgbClr val="111827"/>
                </a:solidFill>
              </a:defRPr>
            </a:pPr>
            <a:r>
              <a:rPr sz="1800">
                <a:solidFill>
                  <a:srgbClr val="111827"/>
                </a:solidFill>
              </a:rPr>
              <a:t>Classifieur léger: MobileNetV3 / EfficientNet-B0.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D62DE1F2-678E-4A30-AFE1-4F9171DD466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991600" y="3924300"/>
            <a:ext cx="95250" cy="95250"/>
          </a:xfrm>
          <a:prstGeom xmlns:a="http://schemas.openxmlformats.org/drawingml/2006/main" prst="roundRect">
            <a:avLst>
              <a:gd name="adj" fmla="val 50000"/>
            </a:avLst>
          </a:prstGeom>
          <a:solidFill xmlns:a="http://schemas.openxmlformats.org/drawingml/2006/main">
            <a:srgbClr val="1663FF"/>
          </a:solidFill>
        </p:spPr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4FA82DC1-FBCF-40B3-A75A-1E0D929E55F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220200" y="3924300"/>
            <a:ext cx="8039100" cy="3048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/>
          <a:lstStyle xmlns:a="http://schemas.openxmlformats.org/drawingml/2006/main"/>
          <a:p xmlns:a="http://schemas.openxmlformats.org/drawingml/2006/main">
            <a:pPr>
              <a:lnSpc>
                <a:spcPct val="105000"/>
              </a:lnSpc>
              <a:buNone/>
              <a:defRPr sz="1800">
                <a:solidFill>
                  <a:srgbClr val="111827"/>
                </a:solidFill>
              </a:defRPr>
            </a:pPr>
            <a:r>
              <a:rPr sz="1800">
                <a:solidFill>
                  <a:srgbClr val="111827"/>
                </a:solidFill>
              </a:rPr>
              <a:t>Labels: collar_correct, collar_incorrect, not_visible, unclear.</a:t>
            </a:r>
          </a:p>
        </p:txBody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B4F60E2C-DB93-423D-9E27-9FFBF1380CD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991600" y="4324350"/>
            <a:ext cx="95250" cy="95250"/>
          </a:xfrm>
          <a:prstGeom xmlns:a="http://schemas.openxmlformats.org/drawingml/2006/main" prst="roundRect">
            <a:avLst>
              <a:gd name="adj" fmla="val 50000"/>
            </a:avLst>
          </a:prstGeom>
          <a:solidFill xmlns:a="http://schemas.openxmlformats.org/drawingml/2006/main">
            <a:srgbClr val="1663FF"/>
          </a:solidFill>
        </p:spPr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51CABB7A-5467-4C2C-9973-62D8EC826EE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220200" y="4324350"/>
            <a:ext cx="8039100" cy="3048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/>
          <a:lstStyle xmlns:a="http://schemas.openxmlformats.org/drawingml/2006/main"/>
          <a:p xmlns:a="http://schemas.openxmlformats.org/drawingml/2006/main">
            <a:pPr>
              <a:lnSpc>
                <a:spcPct val="105000"/>
              </a:lnSpc>
              <a:buNone/>
              <a:defRPr sz="1800">
                <a:solidFill>
                  <a:srgbClr val="111827"/>
                </a:solidFill>
              </a:defRPr>
            </a:pPr>
            <a:r>
              <a:rPr sz="1800">
                <a:solidFill>
                  <a:srgbClr val="111827"/>
                </a:solidFill>
              </a:rPr>
              <a:t>Règle: si proche machine + collar_incorrect → danger / arrêt.</a:t>
            </a:r>
          </a:p>
        </p:txBody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A246D419-407D-4BCB-B983-0ADEEA0596E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991600" y="4838700"/>
            <a:ext cx="8267700" cy="28575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/>
          <a:lstStyle xmlns:a="http://schemas.openxmlformats.org/drawingml/2006/main"/>
          <a:p xmlns:a="http://schemas.openxmlformats.org/drawingml/2006/main">
            <a:pPr>
              <a:defRPr sz="1800" b="1">
                <a:solidFill>
                  <a:srgbClr val="D43F3A"/>
                </a:solidFill>
              </a:defRPr>
            </a:pPr>
            <a:r>
              <a:rPr sz="1800" b="1">
                <a:solidFill>
                  <a:srgbClr val="D43F3A"/>
                </a:solidFill>
              </a:rPr>
              <a:t>À éviter: changer fortement la teinte bleue pendant l’augmentation.</a:t>
            </a:r>
          </a:p>
        </p:txBody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9D19D58D-FA4C-42F4-80FF-6628B021456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04850" y="9582150"/>
            <a:ext cx="16383000" cy="1524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/>
          <a:lstStyle xmlns:a="http://schemas.openxmlformats.org/drawingml/2006/main"/>
          <a:p xmlns:a="http://schemas.openxmlformats.org/drawingml/2006/main">
            <a:pPr>
              <a:defRPr sz="1050">
                <a:solidFill>
                  <a:srgbClr val="7A8494"/>
                </a:solidFill>
              </a:defRPr>
            </a:pPr>
            <a:r>
              <a:rPr sz="1050">
                <a:solidFill>
                  <a:srgbClr val="7A8494"/>
                </a:solidFill>
              </a:rPr>
              <a:t>POC sécurité machine · collecte de données</a:t>
            </a:r>
          </a:p>
        </p:txBody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32EEE79B-46AF-4AC4-B1CE-09B1FC7D592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7087850" y="9582150"/>
            <a:ext cx="495300" cy="1524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/>
          <a:lstStyle xmlns:a="http://schemas.openxmlformats.org/drawingml/2006/main"/>
          <a:p xmlns:a="http://schemas.openxmlformats.org/drawingml/2006/main">
            <a:pPr>
              <a:defRPr sz="1050">
                <a:solidFill>
                  <a:srgbClr val="7A8494"/>
                </a:solidFill>
              </a:defRPr>
            </a:pPr>
            <a:r>
              <a:rPr sz="1050">
                <a:solidFill>
                  <a:srgbClr val="7A8494"/>
                </a:solidFill>
              </a:rPr>
              <a:t>mai 2026</a:t>
            </a:r>
          </a:p>
        </p:txBody>
      </p:sp>
    </p:spTree>
    <p:extLst>
      <p:ext uri="{BB962C8B-B14F-4D97-AF65-F5344CB8AC3E}">
        <p14:creationId xmlns:p14="http://schemas.microsoft.com/office/powerpoint/2010/main" val="1902865809"/>
      </p:ext>
    </p:extLst>
  </p:cSld>
</p:sld>
</file>

<file path=ppt/slides/slide9.xml><?xml version="1.0" encoding="utf-8"?>
<p:sld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" name="background">
            <a:extLst xmlns:a="http://schemas.openxmlformats.org/drawingml/2006/main">
              <a:ext uri="{FF2B5EF4-FFF2-40B4-BE49-F238E27FC236}">
                <a16:creationId xmlns:a16="http://schemas.microsoft.com/office/drawing/2014/main" id="{7D49E3DE-10C9-41BA-8CAD-BCD94172CB9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8288000" cy="10287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7F8FA"/>
          </a:solidFill>
        </p:spPr>
      </p:sp>
      <p:sp>
        <p:nvSpPr>
          <p:cNvPr id="2" name="slide-title">
            <a:extLst xmlns:a="http://schemas.openxmlformats.org/drawingml/2006/main">
              <a:ext uri="{FF2B5EF4-FFF2-40B4-BE49-F238E27FC236}">
                <a16:creationId xmlns:a16="http://schemas.microsoft.com/office/drawing/2014/main" id="{602E0BEE-B523-47A4-A54D-6D553F4210D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04850" y="552450"/>
            <a:ext cx="16878300" cy="6096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/>
          <a:lstStyle xmlns:a="http://schemas.openxmlformats.org/drawingml/2006/main"/>
          <a:p xmlns:a="http://schemas.openxmlformats.org/drawingml/2006/main">
            <a:pPr>
              <a:lnSpc>
                <a:spcPct val="90000"/>
              </a:lnSpc>
              <a:buNone/>
              <a:defRPr sz="4350" b="1">
                <a:solidFill>
                  <a:srgbClr val="111827"/>
                </a:solidFill>
              </a:defRPr>
            </a:pPr>
            <a:r>
              <a:rPr sz="4350" b="1">
                <a:solidFill>
                  <a:srgbClr val="111827"/>
                </a:solidFill>
              </a:rPr>
              <a:t>Simulation 3D: accélérer les cas rares et calibrer la distance</a:t>
            </a:r>
          </a:p>
        </p:txBody>
      </p:sp>
      <p:sp>
        <p:nvSpPr>
          <p:cNvPr id="3" name="slide-subtitle">
            <a:extLst xmlns:a="http://schemas.openxmlformats.org/drawingml/2006/main">
              <a:ext uri="{FF2B5EF4-FFF2-40B4-BE49-F238E27FC236}">
                <a16:creationId xmlns:a16="http://schemas.microsoft.com/office/drawing/2014/main" id="{65E42ACE-42A2-4F3C-9D87-AA2984BFC13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04850" y="1276350"/>
            <a:ext cx="10706100" cy="32385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/>
          <a:lstStyle xmlns:a="http://schemas.openxmlformats.org/drawingml/2006/main"/>
          <a:p xmlns:a="http://schemas.openxmlformats.org/drawingml/2006/main">
            <a:pPr>
              <a:lnSpc>
                <a:spcPct val="108000"/>
              </a:lnSpc>
              <a:buNone/>
              <a:defRPr sz="1875">
                <a:solidFill>
                  <a:srgbClr val="596273"/>
                </a:solidFill>
              </a:defRPr>
            </a:pPr>
            <a:r>
              <a:rPr sz="1875">
                <a:solidFill>
                  <a:srgbClr val="596273"/>
                </a:solidFill>
              </a:rPr>
              <a:t>Le simulateur sert surtout le master predictor: il donne une vérité terrain parfaite sur la zone et les trajectoires.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185916B6-E683-4D2F-BFCA-9D97471D774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04850" y="1914906"/>
            <a:ext cx="5461000" cy="5853684"/>
          </a:xfrm>
          <a:prstGeom xmlns:a="http://schemas.openxmlformats.org/drawingml/2006/main" prst="roundRect">
            <a:avLst>
              <a:gd name="adj" fmla="val 1395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9E0E7"/>
            </a:solidFill>
            <a:prstDash val="solid"/>
          </a:ln>
        </p:spPr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95AA937E-C59A-410B-A0CD-64AAAAA2832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28700" y="2209800"/>
            <a:ext cx="4819650" cy="3810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/>
          <a:lstStyle xmlns:a="http://schemas.openxmlformats.org/drawingml/2006/main"/>
          <a:p xmlns:a="http://schemas.openxmlformats.org/drawingml/2006/main">
            <a:pPr>
              <a:defRPr sz="2400" b="1">
                <a:solidFill>
                  <a:srgbClr val="172033"/>
                </a:solidFill>
              </a:defRPr>
            </a:pPr>
            <a:r>
              <a:rPr sz="2400" b="1">
                <a:solidFill>
                  <a:srgbClr val="172033"/>
                </a:solidFill>
              </a:rPr>
              <a:t>Digital twin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70EFF0D7-5073-477B-9513-6C27F0AD125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28700" y="2781300"/>
            <a:ext cx="95250" cy="95250"/>
          </a:xfrm>
          <a:prstGeom xmlns:a="http://schemas.openxmlformats.org/drawingml/2006/main" prst="roundRect">
            <a:avLst>
              <a:gd name="adj" fmla="val 50000"/>
            </a:avLst>
          </a:prstGeom>
          <a:solidFill xmlns:a="http://schemas.openxmlformats.org/drawingml/2006/main">
            <a:srgbClr val="172033"/>
          </a:solidFill>
        </p:spPr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3F3A1C4A-4C73-4440-880C-6A9489972B0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57300" y="2781300"/>
            <a:ext cx="4591050" cy="3048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/>
          <a:lstStyle xmlns:a="http://schemas.openxmlformats.org/drawingml/2006/main"/>
          <a:p xmlns:a="http://schemas.openxmlformats.org/drawingml/2006/main">
            <a:pPr>
              <a:lnSpc>
                <a:spcPct val="105000"/>
              </a:lnSpc>
              <a:buNone/>
              <a:defRPr sz="1800">
                <a:solidFill>
                  <a:srgbClr val="111827"/>
                </a:solidFill>
              </a:defRPr>
            </a:pPr>
            <a:r>
              <a:rPr sz="1800">
                <a:solidFill>
                  <a:srgbClr val="111827"/>
                </a:solidFill>
              </a:rPr>
              <a:t>machine simplifiée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2DE7985E-797A-4D6F-92F7-D6DE2A0BAD7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28700" y="3181350"/>
            <a:ext cx="95250" cy="95250"/>
          </a:xfrm>
          <a:prstGeom xmlns:a="http://schemas.openxmlformats.org/drawingml/2006/main" prst="roundRect">
            <a:avLst>
              <a:gd name="adj" fmla="val 50000"/>
            </a:avLst>
          </a:prstGeom>
          <a:solidFill xmlns:a="http://schemas.openxmlformats.org/drawingml/2006/main">
            <a:srgbClr val="172033"/>
          </a:solidFill>
        </p:spPr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37C2E7EF-C36E-4E07-AF2E-7AF9A5E2D22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57300" y="3181350"/>
            <a:ext cx="4591050" cy="3048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/>
          <a:lstStyle xmlns:a="http://schemas.openxmlformats.org/drawingml/2006/main"/>
          <a:p xmlns:a="http://schemas.openxmlformats.org/drawingml/2006/main">
            <a:pPr>
              <a:lnSpc>
                <a:spcPct val="105000"/>
              </a:lnSpc>
              <a:buNone/>
              <a:defRPr sz="1800">
                <a:solidFill>
                  <a:srgbClr val="111827"/>
                </a:solidFill>
              </a:defRPr>
            </a:pPr>
            <a:r>
              <a:rPr sz="1800">
                <a:solidFill>
                  <a:srgbClr val="111827"/>
                </a:solidFill>
              </a:rPr>
              <a:t>volume dangereux 3D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ACFB54DC-F1CE-44E0-BBD1-631D82711C8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28700" y="3600450"/>
            <a:ext cx="95250" cy="95250"/>
          </a:xfrm>
          <a:prstGeom xmlns:a="http://schemas.openxmlformats.org/drawingml/2006/main" prst="roundRect">
            <a:avLst>
              <a:gd name="adj" fmla="val 50000"/>
            </a:avLst>
          </a:prstGeom>
          <a:solidFill xmlns:a="http://schemas.openxmlformats.org/drawingml/2006/main">
            <a:srgbClr val="172033"/>
          </a:solidFill>
        </p:spPr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400B0D0B-697E-42E7-AE84-C15332A1BCF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57300" y="3600450"/>
            <a:ext cx="4591050" cy="3048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/>
          <a:lstStyle xmlns:a="http://schemas.openxmlformats.org/drawingml/2006/main"/>
          <a:p xmlns:a="http://schemas.openxmlformats.org/drawingml/2006/main">
            <a:pPr>
              <a:lnSpc>
                <a:spcPct val="105000"/>
              </a:lnSpc>
              <a:buNone/>
              <a:defRPr sz="1800">
                <a:solidFill>
                  <a:srgbClr val="111827"/>
                </a:solidFill>
              </a:defRPr>
            </a:pPr>
            <a:r>
              <a:rPr sz="1800">
                <a:solidFill>
                  <a:srgbClr val="111827"/>
                </a:solidFill>
              </a:rPr>
              <a:t>caméra au même angle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FBEDA1F0-3E3E-4F25-ACA9-7D143A7B4E5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28700" y="4019550"/>
            <a:ext cx="95250" cy="95250"/>
          </a:xfrm>
          <a:prstGeom xmlns:a="http://schemas.openxmlformats.org/drawingml/2006/main" prst="roundRect">
            <a:avLst>
              <a:gd name="adj" fmla="val 50000"/>
            </a:avLst>
          </a:prstGeom>
          <a:solidFill xmlns:a="http://schemas.openxmlformats.org/drawingml/2006/main">
            <a:srgbClr val="172033"/>
          </a:solidFill>
        </p:spPr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F98D1FD0-279E-49FC-80DD-D7A1056602A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57300" y="4019550"/>
            <a:ext cx="4591050" cy="3048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/>
          <a:lstStyle xmlns:a="http://schemas.openxmlformats.org/drawingml/2006/main"/>
          <a:p xmlns:a="http://schemas.openxmlformats.org/drawingml/2006/main">
            <a:pPr>
              <a:lnSpc>
                <a:spcPct val="105000"/>
              </a:lnSpc>
              <a:buNone/>
              <a:defRPr sz="1800">
                <a:solidFill>
                  <a:srgbClr val="111827"/>
                </a:solidFill>
              </a:defRPr>
            </a:pPr>
            <a:r>
              <a:rPr sz="1800">
                <a:solidFill>
                  <a:srgbClr val="111827"/>
                </a:solidFill>
              </a:rPr>
              <a:t>humain riggé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3978E24E-71BB-464F-9E06-50F10457089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13500" y="1914906"/>
            <a:ext cx="5461000" cy="5853684"/>
          </a:xfrm>
          <a:prstGeom xmlns:a="http://schemas.openxmlformats.org/drawingml/2006/main" prst="roundRect">
            <a:avLst>
              <a:gd name="adj" fmla="val 1395"/>
            </a:avLst>
          </a:prstGeom>
          <a:solidFill xmlns:a="http://schemas.openxmlformats.org/drawingml/2006/main">
            <a:srgbClr val="F1FBF6"/>
          </a:solidFill>
          <a:ln xmlns:a="http://schemas.openxmlformats.org/drawingml/2006/main" w="9525">
            <a:solidFill>
              <a:srgbClr val="C7EAD6"/>
            </a:solidFill>
            <a:prstDash val="solid"/>
          </a:ln>
        </p:spPr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3CBEAB93-8351-4131-9C1D-696C3AC246A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743700" y="2209800"/>
            <a:ext cx="4819650" cy="3810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/>
          <a:lstStyle xmlns:a="http://schemas.openxmlformats.org/drawingml/2006/main"/>
          <a:p xmlns:a="http://schemas.openxmlformats.org/drawingml/2006/main">
            <a:pPr>
              <a:defRPr sz="2400" b="1">
                <a:solidFill>
                  <a:srgbClr val="178A5B"/>
                </a:solidFill>
              </a:defRPr>
            </a:pPr>
            <a:r>
              <a:rPr sz="2400" b="1">
                <a:solidFill>
                  <a:srgbClr val="178A5B"/>
                </a:solidFill>
              </a:rPr>
              <a:t>Labels auto</a:t>
            </a:r>
          </a:p>
        </p:txBody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8BFE9AF2-D401-486F-930D-1112C801F00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743700" y="2781300"/>
            <a:ext cx="95250" cy="95250"/>
          </a:xfrm>
          <a:prstGeom xmlns:a="http://schemas.openxmlformats.org/drawingml/2006/main" prst="roundRect">
            <a:avLst>
              <a:gd name="adj" fmla="val 50000"/>
            </a:avLst>
          </a:prstGeom>
          <a:solidFill xmlns:a="http://schemas.openxmlformats.org/drawingml/2006/main">
            <a:srgbClr val="178A5B"/>
          </a:solidFill>
        </p:spPr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5D036EB3-5B60-4FBE-BAF3-42D8E8E0CFE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972300" y="2781300"/>
            <a:ext cx="4591050" cy="3048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/>
          <a:lstStyle xmlns:a="http://schemas.openxmlformats.org/drawingml/2006/main"/>
          <a:p xmlns:a="http://schemas.openxmlformats.org/drawingml/2006/main">
            <a:pPr>
              <a:lnSpc>
                <a:spcPct val="105000"/>
              </a:lnSpc>
              <a:buNone/>
              <a:defRPr sz="1800">
                <a:solidFill>
                  <a:srgbClr val="111827"/>
                </a:solidFill>
              </a:defRPr>
            </a:pPr>
            <a:r>
              <a:rPr sz="1800">
                <a:solidFill>
                  <a:srgbClr val="111827"/>
                </a:solidFill>
              </a:rPr>
              <a:t>keypoints 3D</a:t>
            </a:r>
          </a:p>
        </p:txBody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49360E50-CA58-45B0-A61B-D6ACF1988C3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743700" y="3181350"/>
            <a:ext cx="95250" cy="95250"/>
          </a:xfrm>
          <a:prstGeom xmlns:a="http://schemas.openxmlformats.org/drawingml/2006/main" prst="roundRect">
            <a:avLst>
              <a:gd name="adj" fmla="val 50000"/>
            </a:avLst>
          </a:prstGeom>
          <a:solidFill xmlns:a="http://schemas.openxmlformats.org/drawingml/2006/main">
            <a:srgbClr val="178A5B"/>
          </a:solidFill>
        </p:spPr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765DC657-3FEB-4FC5-8339-5C0B43BFDBD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972300" y="3181350"/>
            <a:ext cx="4591050" cy="3048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/>
          <a:lstStyle xmlns:a="http://schemas.openxmlformats.org/drawingml/2006/main"/>
          <a:p xmlns:a="http://schemas.openxmlformats.org/drawingml/2006/main">
            <a:pPr>
              <a:lnSpc>
                <a:spcPct val="105000"/>
              </a:lnSpc>
              <a:buNone/>
              <a:defRPr sz="1800">
                <a:solidFill>
                  <a:srgbClr val="111827"/>
                </a:solidFill>
              </a:defRPr>
            </a:pPr>
            <a:r>
              <a:rPr sz="1800">
                <a:solidFill>
                  <a:srgbClr val="111827"/>
                </a:solidFill>
              </a:rPr>
              <a:t>distance main-zone</a:t>
            </a:r>
          </a:p>
        </p:txBody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05BC674D-7B68-4CF7-A056-85F7B3D163A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743700" y="3600450"/>
            <a:ext cx="95250" cy="95250"/>
          </a:xfrm>
          <a:prstGeom xmlns:a="http://schemas.openxmlformats.org/drawingml/2006/main" prst="roundRect">
            <a:avLst>
              <a:gd name="adj" fmla="val 50000"/>
            </a:avLst>
          </a:prstGeom>
          <a:solidFill xmlns:a="http://schemas.openxmlformats.org/drawingml/2006/main">
            <a:srgbClr val="178A5B"/>
          </a:solidFill>
        </p:spPr>
      </p:sp>
      <p:sp>
        <p:nv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8E971C7C-999B-4131-BFF0-0A2BF96079A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972300" y="3600450"/>
            <a:ext cx="4591050" cy="3048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/>
          <a:lstStyle xmlns:a="http://schemas.openxmlformats.org/drawingml/2006/main"/>
          <a:p xmlns:a="http://schemas.openxmlformats.org/drawingml/2006/main">
            <a:pPr>
              <a:lnSpc>
                <a:spcPct val="105000"/>
              </a:lnSpc>
              <a:buNone/>
              <a:defRPr sz="1800">
                <a:solidFill>
                  <a:srgbClr val="111827"/>
                </a:solidFill>
              </a:defRPr>
            </a:pPr>
            <a:r>
              <a:rPr sz="1800">
                <a:solidFill>
                  <a:srgbClr val="111827"/>
                </a:solidFill>
              </a:rPr>
              <a:t>inside_zone</a:t>
            </a:r>
          </a:p>
        </p:txBody>
      </p:sp>
      <p:sp>
        <p:nvSpPr>
          <p:cNvPr id="22" name="">
            <a:extLst xmlns:a="http://schemas.openxmlformats.org/drawingml/2006/main">
              <a:ext uri="{FF2B5EF4-FFF2-40B4-BE49-F238E27FC236}">
                <a16:creationId xmlns:a16="http://schemas.microsoft.com/office/drawing/2014/main" id="{BFB958B0-FFCF-4320-B008-E719F564431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743700" y="4019550"/>
            <a:ext cx="95250" cy="95250"/>
          </a:xfrm>
          <a:prstGeom xmlns:a="http://schemas.openxmlformats.org/drawingml/2006/main" prst="roundRect">
            <a:avLst>
              <a:gd name="adj" fmla="val 50000"/>
            </a:avLst>
          </a:prstGeom>
          <a:solidFill xmlns:a="http://schemas.openxmlformats.org/drawingml/2006/main">
            <a:srgbClr val="178A5B"/>
          </a:solidFill>
        </p:spPr>
      </p:sp>
      <p:sp>
        <p:nvSpPr>
          <p:cNvPr id="23" name="">
            <a:extLst xmlns:a="http://schemas.openxmlformats.org/drawingml/2006/main">
              <a:ext uri="{FF2B5EF4-FFF2-40B4-BE49-F238E27FC236}">
                <a16:creationId xmlns:a16="http://schemas.microsoft.com/office/drawing/2014/main" id="{4F0BD369-D723-496C-8EE0-D8E48B1650A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972300" y="4019550"/>
            <a:ext cx="4591050" cy="3048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/>
          <a:lstStyle xmlns:a="http://schemas.openxmlformats.org/drawingml/2006/main"/>
          <a:p xmlns:a="http://schemas.openxmlformats.org/drawingml/2006/main">
            <a:pPr>
              <a:lnSpc>
                <a:spcPct val="105000"/>
              </a:lnSpc>
              <a:buNone/>
              <a:defRPr sz="1800">
                <a:solidFill>
                  <a:srgbClr val="111827"/>
                </a:solidFill>
              </a:defRPr>
            </a:pPr>
            <a:r>
              <a:rPr sz="1800">
                <a:solidFill>
                  <a:srgbClr val="111827"/>
                </a:solidFill>
              </a:rPr>
              <a:t>time-to-contact</a:t>
            </a:r>
          </a:p>
        </p:txBody>
      </p:sp>
      <p:sp>
        <p:nvSpPr>
          <p:cNvPr id="24" name="">
            <a:extLst xmlns:a="http://schemas.openxmlformats.org/drawingml/2006/main">
              <a:ext uri="{FF2B5EF4-FFF2-40B4-BE49-F238E27FC236}">
                <a16:creationId xmlns:a16="http://schemas.microsoft.com/office/drawing/2014/main" id="{018BCFD3-B120-4373-8418-1200B5702EB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122150" y="1914906"/>
            <a:ext cx="5461000" cy="5853684"/>
          </a:xfrm>
          <a:prstGeom xmlns:a="http://schemas.openxmlformats.org/drawingml/2006/main" prst="roundRect">
            <a:avLst>
              <a:gd name="adj" fmla="val 1395"/>
            </a:avLst>
          </a:prstGeom>
          <a:solidFill xmlns:a="http://schemas.openxmlformats.org/drawingml/2006/main">
            <a:srgbClr val="FFF7F6"/>
          </a:solidFill>
          <a:ln xmlns:a="http://schemas.openxmlformats.org/drawingml/2006/main" w="9525">
            <a:solidFill>
              <a:srgbClr val="F1C2BF"/>
            </a:solidFill>
            <a:prstDash val="solid"/>
          </a:ln>
        </p:spPr>
      </p:sp>
      <p:sp>
        <p:nvSpPr>
          <p:cNvPr id="25" name="">
            <a:extLst xmlns:a="http://schemas.openxmlformats.org/drawingml/2006/main">
              <a:ext uri="{FF2B5EF4-FFF2-40B4-BE49-F238E27FC236}">
                <a16:creationId xmlns:a16="http://schemas.microsoft.com/office/drawing/2014/main" id="{118FF943-54CE-4707-A119-7E817763D81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439650" y="2209800"/>
            <a:ext cx="4819650" cy="3810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/>
          <a:lstStyle xmlns:a="http://schemas.openxmlformats.org/drawingml/2006/main"/>
          <a:p xmlns:a="http://schemas.openxmlformats.org/drawingml/2006/main">
            <a:pPr>
              <a:defRPr sz="2400" b="1">
                <a:solidFill>
                  <a:srgbClr val="D43F3A"/>
                </a:solidFill>
              </a:defRPr>
            </a:pPr>
            <a:r>
              <a:rPr sz="2400" b="1">
                <a:solidFill>
                  <a:srgbClr val="D43F3A"/>
                </a:solidFill>
              </a:rPr>
              <a:t>Variations</a:t>
            </a:r>
          </a:p>
        </p:txBody>
      </p:sp>
      <p:sp>
        <p:nvSpPr>
          <p:cNvPr id="26" name="">
            <a:extLst xmlns:a="http://schemas.openxmlformats.org/drawingml/2006/main">
              <a:ext uri="{FF2B5EF4-FFF2-40B4-BE49-F238E27FC236}">
                <a16:creationId xmlns:a16="http://schemas.microsoft.com/office/drawing/2014/main" id="{7F709462-F428-4752-9081-0EBC6DDC36F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439650" y="2781300"/>
            <a:ext cx="95250" cy="95250"/>
          </a:xfrm>
          <a:prstGeom xmlns:a="http://schemas.openxmlformats.org/drawingml/2006/main" prst="roundRect">
            <a:avLst>
              <a:gd name="adj" fmla="val 50000"/>
            </a:avLst>
          </a:prstGeom>
          <a:solidFill xmlns:a="http://schemas.openxmlformats.org/drawingml/2006/main">
            <a:srgbClr val="D43F3A"/>
          </a:solidFill>
        </p:spPr>
      </p:sp>
      <p:sp>
        <p:nvSpPr>
          <p:cNvPr id="27" name="">
            <a:extLst xmlns:a="http://schemas.openxmlformats.org/drawingml/2006/main">
              <a:ext uri="{FF2B5EF4-FFF2-40B4-BE49-F238E27FC236}">
                <a16:creationId xmlns:a16="http://schemas.microsoft.com/office/drawing/2014/main" id="{3463477E-2D6C-4775-AA51-51C8D2DBA1D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668250" y="2781300"/>
            <a:ext cx="4591050" cy="3048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/>
          <a:lstStyle xmlns:a="http://schemas.openxmlformats.org/drawingml/2006/main"/>
          <a:p xmlns:a="http://schemas.openxmlformats.org/drawingml/2006/main">
            <a:pPr>
              <a:lnSpc>
                <a:spcPct val="105000"/>
              </a:lnSpc>
              <a:buNone/>
              <a:defRPr sz="1800">
                <a:solidFill>
                  <a:srgbClr val="111827"/>
                </a:solidFill>
              </a:defRPr>
            </a:pPr>
            <a:r>
              <a:rPr sz="1800">
                <a:solidFill>
                  <a:srgbClr val="111827"/>
                </a:solidFill>
              </a:rPr>
              <a:t>angle caméra</a:t>
            </a:r>
          </a:p>
        </p:txBody>
      </p:sp>
      <p:sp>
        <p:nvSpPr>
          <p:cNvPr id="28" name="">
            <a:extLst xmlns:a="http://schemas.openxmlformats.org/drawingml/2006/main">
              <a:ext uri="{FF2B5EF4-FFF2-40B4-BE49-F238E27FC236}">
                <a16:creationId xmlns:a16="http://schemas.microsoft.com/office/drawing/2014/main" id="{D8DDA11D-F2A4-48C1-A3AB-4E89ACB1A13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439650" y="3181350"/>
            <a:ext cx="95250" cy="95250"/>
          </a:xfrm>
          <a:prstGeom xmlns:a="http://schemas.openxmlformats.org/drawingml/2006/main" prst="roundRect">
            <a:avLst>
              <a:gd name="adj" fmla="val 50000"/>
            </a:avLst>
          </a:prstGeom>
          <a:solidFill xmlns:a="http://schemas.openxmlformats.org/drawingml/2006/main">
            <a:srgbClr val="D43F3A"/>
          </a:solidFill>
        </p:spPr>
      </p:sp>
      <p:sp>
        <p:nvSpPr>
          <p:cNvPr id="29" name="">
            <a:extLst xmlns:a="http://schemas.openxmlformats.org/drawingml/2006/main">
              <a:ext uri="{FF2B5EF4-FFF2-40B4-BE49-F238E27FC236}">
                <a16:creationId xmlns:a16="http://schemas.microsoft.com/office/drawing/2014/main" id="{F0B066EA-7399-450D-B982-CFED7581011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668250" y="3181350"/>
            <a:ext cx="4591050" cy="3048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/>
          <a:lstStyle xmlns:a="http://schemas.openxmlformats.org/drawingml/2006/main"/>
          <a:p xmlns:a="http://schemas.openxmlformats.org/drawingml/2006/main">
            <a:pPr>
              <a:lnSpc>
                <a:spcPct val="105000"/>
              </a:lnSpc>
              <a:buNone/>
              <a:defRPr sz="1800">
                <a:solidFill>
                  <a:srgbClr val="111827"/>
                </a:solidFill>
              </a:defRPr>
            </a:pPr>
            <a:r>
              <a:rPr sz="1800">
                <a:solidFill>
                  <a:srgbClr val="111827"/>
                </a:solidFill>
              </a:rPr>
              <a:t>vitesse du geste</a:t>
            </a:r>
          </a:p>
        </p:txBody>
      </p:sp>
      <p:sp>
        <p:nvSpPr>
          <p:cNvPr id="30" name="">
            <a:extLst xmlns:a="http://schemas.openxmlformats.org/drawingml/2006/main">
              <a:ext uri="{FF2B5EF4-FFF2-40B4-BE49-F238E27FC236}">
                <a16:creationId xmlns:a16="http://schemas.microsoft.com/office/drawing/2014/main" id="{EE137D90-F6D2-47A9-AD50-01EA6286745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439650" y="3600450"/>
            <a:ext cx="95250" cy="95250"/>
          </a:xfrm>
          <a:prstGeom xmlns:a="http://schemas.openxmlformats.org/drawingml/2006/main" prst="roundRect">
            <a:avLst>
              <a:gd name="adj" fmla="val 50000"/>
            </a:avLst>
          </a:prstGeom>
          <a:solidFill xmlns:a="http://schemas.openxmlformats.org/drawingml/2006/main">
            <a:srgbClr val="D43F3A"/>
          </a:solidFill>
        </p:spPr>
      </p:sp>
      <p:sp>
        <p:nvSpPr>
          <p:cNvPr id="31" name="">
            <a:extLst xmlns:a="http://schemas.openxmlformats.org/drawingml/2006/main">
              <a:ext uri="{FF2B5EF4-FFF2-40B4-BE49-F238E27FC236}">
                <a16:creationId xmlns:a16="http://schemas.microsoft.com/office/drawing/2014/main" id="{DA33E979-4D20-40A9-9208-C3C4612B5D0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668250" y="3600450"/>
            <a:ext cx="4591050" cy="3048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/>
          <a:lstStyle xmlns:a="http://schemas.openxmlformats.org/drawingml/2006/main"/>
          <a:p xmlns:a="http://schemas.openxmlformats.org/drawingml/2006/main">
            <a:pPr>
              <a:lnSpc>
                <a:spcPct val="105000"/>
              </a:lnSpc>
              <a:buNone/>
              <a:defRPr sz="1800">
                <a:solidFill>
                  <a:srgbClr val="111827"/>
                </a:solidFill>
              </a:defRPr>
            </a:pPr>
            <a:r>
              <a:rPr sz="1800">
                <a:solidFill>
                  <a:srgbClr val="111827"/>
                </a:solidFill>
              </a:rPr>
              <a:t>taille utilisateur</a:t>
            </a:r>
          </a:p>
        </p:txBody>
      </p:sp>
      <p:sp>
        <p:nvSpPr>
          <p:cNvPr id="32" name="">
            <a:extLst xmlns:a="http://schemas.openxmlformats.org/drawingml/2006/main">
              <a:ext uri="{FF2B5EF4-FFF2-40B4-BE49-F238E27FC236}">
                <a16:creationId xmlns:a16="http://schemas.microsoft.com/office/drawing/2014/main" id="{B7153713-8D32-4595-B816-70DA705FF33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439650" y="4019550"/>
            <a:ext cx="95250" cy="95250"/>
          </a:xfrm>
          <a:prstGeom xmlns:a="http://schemas.openxmlformats.org/drawingml/2006/main" prst="roundRect">
            <a:avLst>
              <a:gd name="adj" fmla="val 50000"/>
            </a:avLst>
          </a:prstGeom>
          <a:solidFill xmlns:a="http://schemas.openxmlformats.org/drawingml/2006/main">
            <a:srgbClr val="D43F3A"/>
          </a:solidFill>
        </p:spPr>
      </p:sp>
      <p:sp>
        <p:nvSpPr>
          <p:cNvPr id="33" name="">
            <a:extLst xmlns:a="http://schemas.openxmlformats.org/drawingml/2006/main">
              <a:ext uri="{FF2B5EF4-FFF2-40B4-BE49-F238E27FC236}">
                <a16:creationId xmlns:a16="http://schemas.microsoft.com/office/drawing/2014/main" id="{C5221DB2-0AAF-4DD7-9EEB-D3279444DD8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668250" y="4019550"/>
            <a:ext cx="4591050" cy="3048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/>
          <a:lstStyle xmlns:a="http://schemas.openxmlformats.org/drawingml/2006/main"/>
          <a:p xmlns:a="http://schemas.openxmlformats.org/drawingml/2006/main">
            <a:pPr>
              <a:lnSpc>
                <a:spcPct val="105000"/>
              </a:lnSpc>
              <a:buNone/>
              <a:defRPr sz="1800">
                <a:solidFill>
                  <a:srgbClr val="111827"/>
                </a:solidFill>
              </a:defRPr>
            </a:pPr>
            <a:r>
              <a:rPr sz="1800">
                <a:solidFill>
                  <a:srgbClr val="111827"/>
                </a:solidFill>
              </a:rPr>
              <a:t>near-miss vs entrée zone</a:t>
            </a:r>
          </a:p>
        </p:txBody>
      </p:sp>
      <p:sp>
        <p:nvSpPr>
          <p:cNvPr id="34" name="">
            <a:extLst xmlns:a="http://schemas.openxmlformats.org/drawingml/2006/main">
              <a:ext uri="{FF2B5EF4-FFF2-40B4-BE49-F238E27FC236}">
                <a16:creationId xmlns:a16="http://schemas.microsoft.com/office/drawing/2014/main" id="{6F43FD8C-93EA-4792-9C55-AFF9124D022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04850" y="8092440"/>
            <a:ext cx="16878300" cy="1158240"/>
          </a:xfrm>
          <a:prstGeom xmlns:a="http://schemas.openxmlformats.org/drawingml/2006/main" prst="roundRect">
            <a:avLst>
              <a:gd name="adj" fmla="val 6579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9E0E7"/>
            </a:solidFill>
            <a:prstDash val="solid"/>
          </a:ln>
        </p:spPr>
      </p:sp>
      <p:sp>
        <p:nvSpPr>
          <p:cNvPr id="35" name="">
            <a:extLst xmlns:a="http://schemas.openxmlformats.org/drawingml/2006/main">
              <a:ext uri="{FF2B5EF4-FFF2-40B4-BE49-F238E27FC236}">
                <a16:creationId xmlns:a16="http://schemas.microsoft.com/office/drawing/2014/main" id="{D89D797B-701E-44DC-BB28-6C7A167DF5B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71550" y="8267700"/>
            <a:ext cx="16344900" cy="32385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/>
          <a:lstStyle xmlns:a="http://schemas.openxmlformats.org/drawingml/2006/main"/>
          <a:p xmlns:a="http://schemas.openxmlformats.org/drawingml/2006/main">
            <a:pPr>
              <a:defRPr sz="2025" b="1">
                <a:solidFill>
                  <a:srgbClr val="111827"/>
                </a:solidFill>
              </a:defRPr>
            </a:pPr>
            <a:r>
              <a:rPr sz="2025" b="1">
                <a:solidFill>
                  <a:srgbClr val="111827"/>
                </a:solidFill>
              </a:rPr>
              <a:t>Règle de validation</a:t>
            </a:r>
          </a:p>
        </p:txBody>
      </p:sp>
      <p:sp>
        <p:nvSpPr>
          <p:cNvPr id="36" name="">
            <a:extLst xmlns:a="http://schemas.openxmlformats.org/drawingml/2006/main">
              <a:ext uri="{FF2B5EF4-FFF2-40B4-BE49-F238E27FC236}">
                <a16:creationId xmlns:a16="http://schemas.microsoft.com/office/drawing/2014/main" id="{ACFAD993-7991-4F75-A8D9-D262029A29D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71550" y="8782050"/>
            <a:ext cx="16344900" cy="3048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/>
          <a:lstStyle xmlns:a="http://schemas.openxmlformats.org/drawingml/2006/main"/>
          <a:p xmlns:a="http://schemas.openxmlformats.org/drawingml/2006/main">
            <a:pPr>
              <a:defRPr sz="1950">
                <a:solidFill>
                  <a:srgbClr val="596273"/>
                </a:solidFill>
              </a:defRPr>
            </a:pPr>
            <a:r>
              <a:rPr sz="1950">
                <a:solidFill>
                  <a:srgbClr val="596273"/>
                </a:solidFill>
              </a:rPr>
              <a:t>La simulation enrichit le training, mais la validation/test reste sur vidéo réelle.</a:t>
            </a:r>
          </a:p>
        </p:txBody>
      </p:sp>
      <p:sp>
        <p:nvSpPr>
          <p:cNvPr id="37" name="">
            <a:extLst xmlns:a="http://schemas.openxmlformats.org/drawingml/2006/main">
              <a:ext uri="{FF2B5EF4-FFF2-40B4-BE49-F238E27FC236}">
                <a16:creationId xmlns:a16="http://schemas.microsoft.com/office/drawing/2014/main" id="{D5F9FCB8-AEC2-413B-BE0A-FE5E4147620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04850" y="9582150"/>
            <a:ext cx="16383000" cy="1524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/>
          <a:lstStyle xmlns:a="http://schemas.openxmlformats.org/drawingml/2006/main"/>
          <a:p xmlns:a="http://schemas.openxmlformats.org/drawingml/2006/main">
            <a:pPr>
              <a:defRPr sz="1050">
                <a:solidFill>
                  <a:srgbClr val="7A8494"/>
                </a:solidFill>
              </a:defRPr>
            </a:pPr>
            <a:r>
              <a:rPr sz="1050">
                <a:solidFill>
                  <a:srgbClr val="7A8494"/>
                </a:solidFill>
              </a:rPr>
              <a:t>POC sécurité machine · collecte de données</a:t>
            </a:r>
          </a:p>
        </p:txBody>
      </p:sp>
      <p:sp>
        <p:nvSpPr>
          <p:cNvPr id="38" name="">
            <a:extLst xmlns:a="http://schemas.openxmlformats.org/drawingml/2006/main">
              <a:ext uri="{FF2B5EF4-FFF2-40B4-BE49-F238E27FC236}">
                <a16:creationId xmlns:a16="http://schemas.microsoft.com/office/drawing/2014/main" id="{CAD1287A-58B4-436F-B9D2-5750A184879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7087850" y="9582150"/>
            <a:ext cx="495300" cy="1524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/>
          <a:lstStyle xmlns:a="http://schemas.openxmlformats.org/drawingml/2006/main"/>
          <a:p xmlns:a="http://schemas.openxmlformats.org/drawingml/2006/main">
            <a:pPr>
              <a:defRPr sz="1050">
                <a:solidFill>
                  <a:srgbClr val="7A8494"/>
                </a:solidFill>
              </a:defRPr>
            </a:pPr>
            <a:r>
              <a:rPr sz="1050">
                <a:solidFill>
                  <a:srgbClr val="7A8494"/>
                </a:solidFill>
              </a:rPr>
              <a:t>mai 2026</a:t>
            </a:r>
          </a:p>
        </p:txBody>
      </p:sp>
    </p:spTree>
    <p:extLst>
      <p:ext uri="{BB962C8B-B14F-4D97-AF65-F5344CB8AC3E}">
        <p14:creationId xmlns:p14="http://schemas.microsoft.com/office/powerpoint/2010/main" val="1112905509"/>
      </p:ext>
    </p:extLst>
  </p:cSld>
</p:sld>
</file>

<file path=ppt/slides/slide10.xml><?xml version="1.0" encoding="utf-8"?>
<p:sld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" name="background">
            <a:extLst xmlns:a="http://schemas.openxmlformats.org/drawingml/2006/main">
              <a:ext uri="{FF2B5EF4-FFF2-40B4-BE49-F238E27FC236}">
                <a16:creationId xmlns:a16="http://schemas.microsoft.com/office/drawing/2014/main" id="{52AD6093-22A3-4F8E-98C8-FAE71859E64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8288000" cy="10287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7F8FA"/>
          </a:solidFill>
        </p:spPr>
      </p:sp>
      <p:sp>
        <p:nvSpPr>
          <p:cNvPr id="2" name="slide-title">
            <a:extLst xmlns:a="http://schemas.openxmlformats.org/drawingml/2006/main">
              <a:ext uri="{FF2B5EF4-FFF2-40B4-BE49-F238E27FC236}">
                <a16:creationId xmlns:a16="http://schemas.microsoft.com/office/drawing/2014/main" id="{54F3F7ED-7E76-460F-A147-AC6AEE37319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04850" y="552450"/>
            <a:ext cx="16878300" cy="6096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/>
          <a:lstStyle xmlns:a="http://schemas.openxmlformats.org/drawingml/2006/main"/>
          <a:p xmlns:a="http://schemas.openxmlformats.org/drawingml/2006/main">
            <a:pPr>
              <a:lnSpc>
                <a:spcPct val="90000"/>
              </a:lnSpc>
              <a:buNone/>
              <a:defRPr sz="4350" b="1">
                <a:solidFill>
                  <a:srgbClr val="111827"/>
                </a:solidFill>
              </a:defRPr>
            </a:pPr>
            <a:r>
              <a:rPr sz="4350" b="1">
                <a:solidFill>
                  <a:srgbClr val="111827"/>
                </a:solidFill>
              </a:rPr>
              <a:t>Augmentation: oui, mais par modèle</a:t>
            </a:r>
          </a:p>
        </p:txBody>
      </p:sp>
      <p:sp>
        <p:nvSpPr>
          <p:cNvPr id="3" name="slide-subtitle">
            <a:extLst xmlns:a="http://schemas.openxmlformats.org/drawingml/2006/main">
              <a:ext uri="{FF2B5EF4-FFF2-40B4-BE49-F238E27FC236}">
                <a16:creationId xmlns:a16="http://schemas.microsoft.com/office/drawing/2014/main" id="{3393892F-B333-4298-9D95-6F307ACE788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04850" y="1276350"/>
            <a:ext cx="8496300" cy="32385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/>
          <a:lstStyle xmlns:a="http://schemas.openxmlformats.org/drawingml/2006/main"/>
          <a:p xmlns:a="http://schemas.openxmlformats.org/drawingml/2006/main">
            <a:pPr>
              <a:lnSpc>
                <a:spcPct val="108000"/>
              </a:lnSpc>
              <a:buNone/>
              <a:defRPr sz="1875">
                <a:solidFill>
                  <a:srgbClr val="596273"/>
                </a:solidFill>
              </a:defRPr>
            </a:pPr>
            <a:r>
              <a:rPr sz="1875">
                <a:solidFill>
                  <a:srgbClr val="596273"/>
                </a:solidFill>
              </a:rPr>
              <a:t>On augmente uniquement le train set. Validation et test restent réels et non augmentés.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81F17094-29C4-4C96-9C5B-243EAA9E59E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04850" y="1895856"/>
            <a:ext cx="5461000" cy="7373874"/>
          </a:xfrm>
          <a:prstGeom xmlns:a="http://schemas.openxmlformats.org/drawingml/2006/main" prst="roundRect">
            <a:avLst>
              <a:gd name="adj" fmla="val 1395"/>
            </a:avLst>
          </a:prstGeom>
          <a:solidFill xmlns:a="http://schemas.openxmlformats.org/drawingml/2006/main">
            <a:srgbClr val="FFF7F6"/>
          </a:solidFill>
          <a:ln xmlns:a="http://schemas.openxmlformats.org/drawingml/2006/main" w="9525">
            <a:solidFill>
              <a:srgbClr val="F1C2BF"/>
            </a:solidFill>
            <a:prstDash val="solid"/>
          </a:ln>
        </p:spPr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7DE4164B-AACD-4A15-A04C-E8C134B1209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28700" y="2190750"/>
            <a:ext cx="4819650" cy="3810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/>
          <a:lstStyle xmlns:a="http://schemas.openxmlformats.org/drawingml/2006/main"/>
          <a:p xmlns:a="http://schemas.openxmlformats.org/drawingml/2006/main">
            <a:pPr>
              <a:defRPr sz="2475" b="1">
                <a:solidFill>
                  <a:srgbClr val="D43F3A"/>
                </a:solidFill>
              </a:defRPr>
            </a:pPr>
            <a:r>
              <a:rPr sz="2475" b="1">
                <a:solidFill>
                  <a:srgbClr val="D43F3A"/>
                </a:solidFill>
              </a:rPr>
              <a:t>Master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2E482EB3-5250-4C38-8BEE-ADB86BE732D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28700" y="2762250"/>
            <a:ext cx="95250" cy="95250"/>
          </a:xfrm>
          <a:prstGeom xmlns:a="http://schemas.openxmlformats.org/drawingml/2006/main" prst="roundRect">
            <a:avLst>
              <a:gd name="adj" fmla="val 50000"/>
            </a:avLst>
          </a:prstGeom>
          <a:solidFill xmlns:a="http://schemas.openxmlformats.org/drawingml/2006/main">
            <a:srgbClr val="D43F3A"/>
          </a:solidFill>
        </p:spPr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BEC18979-49CD-43A4-ACD1-CADCB1E27CB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57300" y="2762250"/>
            <a:ext cx="4591050" cy="3048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/>
          <a:lstStyle xmlns:a="http://schemas.openxmlformats.org/drawingml/2006/main"/>
          <a:p xmlns:a="http://schemas.openxmlformats.org/drawingml/2006/main">
            <a:pPr>
              <a:lnSpc>
                <a:spcPct val="105000"/>
              </a:lnSpc>
              <a:buNone/>
              <a:defRPr sz="1800">
                <a:solidFill>
                  <a:srgbClr val="111827"/>
                </a:solidFill>
              </a:defRPr>
            </a:pPr>
            <a:r>
              <a:rPr sz="1800">
                <a:solidFill>
                  <a:srgbClr val="111827"/>
                </a:solidFill>
              </a:rPr>
              <a:t>fenêtres glissantes 2-5s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D3097932-FB5E-4D50-8346-06F657D2E11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28700" y="3162300"/>
            <a:ext cx="95250" cy="95250"/>
          </a:xfrm>
          <a:prstGeom xmlns:a="http://schemas.openxmlformats.org/drawingml/2006/main" prst="roundRect">
            <a:avLst>
              <a:gd name="adj" fmla="val 50000"/>
            </a:avLst>
          </a:prstGeom>
          <a:solidFill xmlns:a="http://schemas.openxmlformats.org/drawingml/2006/main">
            <a:srgbClr val="D43F3A"/>
          </a:solidFill>
        </p:spPr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7C5F753F-2A0A-4D0F-B052-6E018FF8747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57300" y="3162300"/>
            <a:ext cx="4591050" cy="3048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/>
          <a:lstStyle xmlns:a="http://schemas.openxmlformats.org/drawingml/2006/main"/>
          <a:p xmlns:a="http://schemas.openxmlformats.org/drawingml/2006/main">
            <a:pPr>
              <a:lnSpc>
                <a:spcPct val="105000"/>
              </a:lnSpc>
              <a:buNone/>
              <a:defRPr sz="1800">
                <a:solidFill>
                  <a:srgbClr val="111827"/>
                </a:solidFill>
              </a:defRPr>
            </a:pPr>
            <a:r>
              <a:rPr sz="1800">
                <a:solidFill>
                  <a:srgbClr val="111827"/>
                </a:solidFill>
              </a:rPr>
              <a:t>bruit léger sur keypoints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6AC9E039-4A78-4CF6-B219-5E84428D7B1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28700" y="3581400"/>
            <a:ext cx="95250" cy="95250"/>
          </a:xfrm>
          <a:prstGeom xmlns:a="http://schemas.openxmlformats.org/drawingml/2006/main" prst="roundRect">
            <a:avLst>
              <a:gd name="adj" fmla="val 50000"/>
            </a:avLst>
          </a:prstGeom>
          <a:solidFill xmlns:a="http://schemas.openxmlformats.org/drawingml/2006/main">
            <a:srgbClr val="D43F3A"/>
          </a:solidFill>
        </p:spPr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62120CFF-BE5C-464B-90F8-DB62AC77B1A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57300" y="3581400"/>
            <a:ext cx="4591050" cy="3048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/>
          <a:lstStyle xmlns:a="http://schemas.openxmlformats.org/drawingml/2006/main"/>
          <a:p xmlns:a="http://schemas.openxmlformats.org/drawingml/2006/main">
            <a:pPr>
              <a:lnSpc>
                <a:spcPct val="105000"/>
              </a:lnSpc>
              <a:buNone/>
              <a:defRPr sz="1800">
                <a:solidFill>
                  <a:srgbClr val="111827"/>
                </a:solidFill>
              </a:defRPr>
            </a:pPr>
            <a:r>
              <a:rPr sz="1800">
                <a:solidFill>
                  <a:srgbClr val="111827"/>
                </a:solidFill>
              </a:rPr>
              <a:t>speed up / slow down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D928B662-4A1D-4504-B774-5A9DF7F8E7A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28700" y="3981450"/>
            <a:ext cx="95250" cy="95250"/>
          </a:xfrm>
          <a:prstGeom xmlns:a="http://schemas.openxmlformats.org/drawingml/2006/main" prst="roundRect">
            <a:avLst>
              <a:gd name="adj" fmla="val 50000"/>
            </a:avLst>
          </a:prstGeom>
          <a:solidFill xmlns:a="http://schemas.openxmlformats.org/drawingml/2006/main">
            <a:srgbClr val="D43F3A"/>
          </a:solidFill>
        </p:spPr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3F5C1EF4-3D13-42C4-B4C3-642B13CD8B4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57300" y="3981450"/>
            <a:ext cx="4591050" cy="3048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/>
          <a:lstStyle xmlns:a="http://schemas.openxmlformats.org/drawingml/2006/main"/>
          <a:p xmlns:a="http://schemas.openxmlformats.org/drawingml/2006/main">
            <a:pPr>
              <a:lnSpc>
                <a:spcPct val="105000"/>
              </a:lnSpc>
              <a:buNone/>
              <a:defRPr sz="1800">
                <a:solidFill>
                  <a:srgbClr val="111827"/>
                </a:solidFill>
              </a:defRPr>
            </a:pPr>
            <a:r>
              <a:rPr sz="1800">
                <a:solidFill>
                  <a:srgbClr val="111827"/>
                </a:solidFill>
              </a:rPr>
              <a:t>dropout de frames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DDFBE2DC-E8EB-453D-A910-2B2C856A77C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28700" y="4381500"/>
            <a:ext cx="95250" cy="95250"/>
          </a:xfrm>
          <a:prstGeom xmlns:a="http://schemas.openxmlformats.org/drawingml/2006/main" prst="roundRect">
            <a:avLst>
              <a:gd name="adj" fmla="val 50000"/>
            </a:avLst>
          </a:prstGeom>
          <a:solidFill xmlns:a="http://schemas.openxmlformats.org/drawingml/2006/main">
            <a:srgbClr val="D43F3A"/>
          </a:solidFill>
        </p:spPr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7C8AC995-45A8-4630-98CC-07BC748E6B8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57300" y="4381500"/>
            <a:ext cx="4591050" cy="3048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/>
          <a:lstStyle xmlns:a="http://schemas.openxmlformats.org/drawingml/2006/main"/>
          <a:p xmlns:a="http://schemas.openxmlformats.org/drawingml/2006/main">
            <a:pPr>
              <a:lnSpc>
                <a:spcPct val="105000"/>
              </a:lnSpc>
              <a:buNone/>
              <a:defRPr sz="1800">
                <a:solidFill>
                  <a:srgbClr val="111827"/>
                </a:solidFill>
              </a:defRPr>
            </a:pPr>
            <a:r>
              <a:rPr sz="1800">
                <a:solidFill>
                  <a:srgbClr val="111827"/>
                </a:solidFill>
              </a:rPr>
              <a:t>pose + zone transformées ensemble</a:t>
            </a:r>
          </a:p>
        </p:txBody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7EAD7CD3-E14E-461E-8D65-01102F39F62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13500" y="1895856"/>
            <a:ext cx="5461000" cy="7373874"/>
          </a:xfrm>
          <a:prstGeom xmlns:a="http://schemas.openxmlformats.org/drawingml/2006/main" prst="roundRect">
            <a:avLst>
              <a:gd name="adj" fmla="val 1395"/>
            </a:avLst>
          </a:prstGeom>
          <a:solidFill xmlns:a="http://schemas.openxmlformats.org/drawingml/2006/main">
            <a:srgbClr val="FFF8E6"/>
          </a:solidFill>
          <a:ln xmlns:a="http://schemas.openxmlformats.org/drawingml/2006/main" w="9525">
            <a:solidFill>
              <a:srgbClr val="F1D99B"/>
            </a:solidFill>
            <a:prstDash val="solid"/>
          </a:ln>
        </p:spPr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02E99B6C-0831-4524-B1C1-545DD9C891F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743700" y="2190750"/>
            <a:ext cx="4819650" cy="3810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/>
          <a:lstStyle xmlns:a="http://schemas.openxmlformats.org/drawingml/2006/main"/>
          <a:p xmlns:a="http://schemas.openxmlformats.org/drawingml/2006/main">
            <a:pPr>
              <a:defRPr sz="2475" b="1">
                <a:solidFill>
                  <a:srgbClr val="E5A11A"/>
                </a:solidFill>
              </a:defRPr>
            </a:pPr>
            <a:r>
              <a:rPr sz="2475" b="1">
                <a:solidFill>
                  <a:srgbClr val="E5A11A"/>
                </a:solidFill>
              </a:rPr>
              <a:t>Attention</a:t>
            </a:r>
          </a:p>
        </p:txBody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0F2F9E72-00C7-4D8A-BD39-CD8B51165BC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743700" y="2762250"/>
            <a:ext cx="95250" cy="95250"/>
          </a:xfrm>
          <a:prstGeom xmlns:a="http://schemas.openxmlformats.org/drawingml/2006/main" prst="roundRect">
            <a:avLst>
              <a:gd name="adj" fmla="val 50000"/>
            </a:avLst>
          </a:prstGeom>
          <a:solidFill xmlns:a="http://schemas.openxmlformats.org/drawingml/2006/main">
            <a:srgbClr val="E5A11A"/>
          </a:solidFill>
        </p:spPr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566E24C3-8733-42B9-8439-ACA8C367879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972300" y="2762250"/>
            <a:ext cx="4591050" cy="3048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/>
          <a:lstStyle xmlns:a="http://schemas.openxmlformats.org/drawingml/2006/main"/>
          <a:p xmlns:a="http://schemas.openxmlformats.org/drawingml/2006/main">
            <a:pPr>
              <a:lnSpc>
                <a:spcPct val="105000"/>
              </a:lnSpc>
              <a:buNone/>
              <a:defRPr sz="1800">
                <a:solidFill>
                  <a:srgbClr val="111827"/>
                </a:solidFill>
              </a:defRPr>
            </a:pPr>
            <a:r>
              <a:rPr sz="1800">
                <a:solidFill>
                  <a:srgbClr val="111827"/>
                </a:solidFill>
              </a:rPr>
              <a:t>crop jitter tête/torse</a:t>
            </a:r>
          </a:p>
        </p:txBody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DEF80739-4964-4421-92CA-E8F2F932F0A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743700" y="3162300"/>
            <a:ext cx="95250" cy="95250"/>
          </a:xfrm>
          <a:prstGeom xmlns:a="http://schemas.openxmlformats.org/drawingml/2006/main" prst="roundRect">
            <a:avLst>
              <a:gd name="adj" fmla="val 50000"/>
            </a:avLst>
          </a:prstGeom>
          <a:solidFill xmlns:a="http://schemas.openxmlformats.org/drawingml/2006/main">
            <a:srgbClr val="E5A11A"/>
          </a:solidFill>
        </p:spPr>
      </p:sp>
      <p:sp>
        <p:nv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B3DCC27A-CAC9-4D1A-B7E7-B7BBE04DD31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972300" y="3162300"/>
            <a:ext cx="4591050" cy="3048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/>
          <a:lstStyle xmlns:a="http://schemas.openxmlformats.org/drawingml/2006/main"/>
          <a:p xmlns:a="http://schemas.openxmlformats.org/drawingml/2006/main">
            <a:pPr>
              <a:lnSpc>
                <a:spcPct val="105000"/>
              </a:lnSpc>
              <a:buNone/>
              <a:defRPr sz="1800">
                <a:solidFill>
                  <a:srgbClr val="111827"/>
                </a:solidFill>
              </a:defRPr>
            </a:pPr>
            <a:r>
              <a:rPr sz="1800">
                <a:solidFill>
                  <a:srgbClr val="111827"/>
                </a:solidFill>
              </a:rPr>
              <a:t>blur léger</a:t>
            </a:r>
          </a:p>
        </p:txBody>
      </p:sp>
      <p:sp>
        <p:nvSpPr>
          <p:cNvPr id="22" name="">
            <a:extLst xmlns:a="http://schemas.openxmlformats.org/drawingml/2006/main">
              <a:ext uri="{FF2B5EF4-FFF2-40B4-BE49-F238E27FC236}">
                <a16:creationId xmlns:a16="http://schemas.microsoft.com/office/drawing/2014/main" id="{274A96BB-3293-40D8-BABE-CE16E0EDBA0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743700" y="3581400"/>
            <a:ext cx="95250" cy="95250"/>
          </a:xfrm>
          <a:prstGeom xmlns:a="http://schemas.openxmlformats.org/drawingml/2006/main" prst="roundRect">
            <a:avLst>
              <a:gd name="adj" fmla="val 50000"/>
            </a:avLst>
          </a:prstGeom>
          <a:solidFill xmlns:a="http://schemas.openxmlformats.org/drawingml/2006/main">
            <a:srgbClr val="E5A11A"/>
          </a:solidFill>
        </p:spPr>
      </p:sp>
      <p:sp>
        <p:nvSpPr>
          <p:cNvPr id="23" name="">
            <a:extLst xmlns:a="http://schemas.openxmlformats.org/drawingml/2006/main">
              <a:ext uri="{FF2B5EF4-FFF2-40B4-BE49-F238E27FC236}">
                <a16:creationId xmlns:a16="http://schemas.microsoft.com/office/drawing/2014/main" id="{826116E6-CB03-48B0-94D5-19046D6ECB4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972300" y="3581400"/>
            <a:ext cx="4591050" cy="3048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/>
          <a:lstStyle xmlns:a="http://schemas.openxmlformats.org/drawingml/2006/main"/>
          <a:p xmlns:a="http://schemas.openxmlformats.org/drawingml/2006/main">
            <a:pPr>
              <a:lnSpc>
                <a:spcPct val="105000"/>
              </a:lnSpc>
              <a:buNone/>
              <a:defRPr sz="1800">
                <a:solidFill>
                  <a:srgbClr val="111827"/>
                </a:solidFill>
              </a:defRPr>
            </a:pPr>
            <a:r>
              <a:rPr sz="1800">
                <a:solidFill>
                  <a:srgbClr val="111827"/>
                </a:solidFill>
              </a:rPr>
              <a:t>variation lumière</a:t>
            </a:r>
          </a:p>
        </p:txBody>
      </p:sp>
      <p:sp>
        <p:nvSpPr>
          <p:cNvPr id="24" name="">
            <a:extLst xmlns:a="http://schemas.openxmlformats.org/drawingml/2006/main">
              <a:ext uri="{FF2B5EF4-FFF2-40B4-BE49-F238E27FC236}">
                <a16:creationId xmlns:a16="http://schemas.microsoft.com/office/drawing/2014/main" id="{84EF719C-3598-4518-B7C6-D5CD58F5520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743700" y="3981450"/>
            <a:ext cx="95250" cy="95250"/>
          </a:xfrm>
          <a:prstGeom xmlns:a="http://schemas.openxmlformats.org/drawingml/2006/main" prst="roundRect">
            <a:avLst>
              <a:gd name="adj" fmla="val 50000"/>
            </a:avLst>
          </a:prstGeom>
          <a:solidFill xmlns:a="http://schemas.openxmlformats.org/drawingml/2006/main">
            <a:srgbClr val="E5A11A"/>
          </a:solidFill>
        </p:spPr>
      </p:sp>
      <p:sp>
        <p:nvSpPr>
          <p:cNvPr id="25" name="">
            <a:extLst xmlns:a="http://schemas.openxmlformats.org/drawingml/2006/main">
              <a:ext uri="{FF2B5EF4-FFF2-40B4-BE49-F238E27FC236}">
                <a16:creationId xmlns:a16="http://schemas.microsoft.com/office/drawing/2014/main" id="{0E8D34B8-247A-49FB-BA99-4B4C4F99A34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972300" y="3981450"/>
            <a:ext cx="4591050" cy="3048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/>
          <a:lstStyle xmlns:a="http://schemas.openxmlformats.org/drawingml/2006/main"/>
          <a:p xmlns:a="http://schemas.openxmlformats.org/drawingml/2006/main">
            <a:pPr>
              <a:lnSpc>
                <a:spcPct val="105000"/>
              </a:lnSpc>
              <a:buNone/>
              <a:defRPr sz="1800">
                <a:solidFill>
                  <a:srgbClr val="111827"/>
                </a:solidFill>
              </a:defRPr>
            </a:pPr>
            <a:r>
              <a:rPr sz="1800">
                <a:solidFill>
                  <a:srgbClr val="111827"/>
                </a:solidFill>
              </a:rPr>
              <a:t>petites pertes de frames</a:t>
            </a:r>
          </a:p>
        </p:txBody>
      </p:sp>
      <p:sp>
        <p:nvSpPr>
          <p:cNvPr id="26" name="">
            <a:extLst xmlns:a="http://schemas.openxmlformats.org/drawingml/2006/main">
              <a:ext uri="{FF2B5EF4-FFF2-40B4-BE49-F238E27FC236}">
                <a16:creationId xmlns:a16="http://schemas.microsoft.com/office/drawing/2014/main" id="{A66CD443-70A9-4D11-86B4-EDFA6A5D0FD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743700" y="4381500"/>
            <a:ext cx="95250" cy="95250"/>
          </a:xfrm>
          <a:prstGeom xmlns:a="http://schemas.openxmlformats.org/drawingml/2006/main" prst="roundRect">
            <a:avLst>
              <a:gd name="adj" fmla="val 50000"/>
            </a:avLst>
          </a:prstGeom>
          <a:solidFill xmlns:a="http://schemas.openxmlformats.org/drawingml/2006/main">
            <a:srgbClr val="E5A11A"/>
          </a:solidFill>
        </p:spPr>
      </p:sp>
      <p:sp>
        <p:nvSpPr>
          <p:cNvPr id="27" name="">
            <a:extLst xmlns:a="http://schemas.openxmlformats.org/drawingml/2006/main">
              <a:ext uri="{FF2B5EF4-FFF2-40B4-BE49-F238E27FC236}">
                <a16:creationId xmlns:a16="http://schemas.microsoft.com/office/drawing/2014/main" id="{4EE2885F-30EE-4F8C-99B6-5E375D90A6E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972300" y="4381500"/>
            <a:ext cx="4591050" cy="3048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/>
          <a:lstStyle xmlns:a="http://schemas.openxmlformats.org/drawingml/2006/main"/>
          <a:p xmlns:a="http://schemas.openxmlformats.org/drawingml/2006/main">
            <a:pPr>
              <a:lnSpc>
                <a:spcPct val="105000"/>
              </a:lnSpc>
              <a:buNone/>
              <a:defRPr sz="1800">
                <a:solidFill>
                  <a:srgbClr val="111827"/>
                </a:solidFill>
              </a:defRPr>
            </a:pPr>
            <a:r>
              <a:rPr sz="1800">
                <a:solidFill>
                  <a:srgbClr val="111827"/>
                </a:solidFill>
              </a:rPr>
              <a:t>séquences attentive vs distracted</a:t>
            </a:r>
          </a:p>
        </p:txBody>
      </p:sp>
      <p:sp>
        <p:nvSpPr>
          <p:cNvPr id="28" name="">
            <a:extLst xmlns:a="http://schemas.openxmlformats.org/drawingml/2006/main">
              <a:ext uri="{FF2B5EF4-FFF2-40B4-BE49-F238E27FC236}">
                <a16:creationId xmlns:a16="http://schemas.microsoft.com/office/drawing/2014/main" id="{7C5BD2DB-2541-4D9A-B5BD-8EBFF62C469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122150" y="1895856"/>
            <a:ext cx="5461000" cy="7373874"/>
          </a:xfrm>
          <a:prstGeom xmlns:a="http://schemas.openxmlformats.org/drawingml/2006/main" prst="roundRect">
            <a:avLst>
              <a:gd name="adj" fmla="val 1395"/>
            </a:avLst>
          </a:prstGeom>
          <a:solidFill xmlns:a="http://schemas.openxmlformats.org/drawingml/2006/main">
            <a:srgbClr val="F2F7FF"/>
          </a:solidFill>
          <a:ln xmlns:a="http://schemas.openxmlformats.org/drawingml/2006/main" w="9525">
            <a:solidFill>
              <a:srgbClr val="C9DCFF"/>
            </a:solidFill>
            <a:prstDash val="solid"/>
          </a:ln>
        </p:spPr>
      </p:sp>
      <p:sp>
        <p:nvSpPr>
          <p:cNvPr id="29" name="">
            <a:extLst xmlns:a="http://schemas.openxmlformats.org/drawingml/2006/main">
              <a:ext uri="{FF2B5EF4-FFF2-40B4-BE49-F238E27FC236}">
                <a16:creationId xmlns:a16="http://schemas.microsoft.com/office/drawing/2014/main" id="{7B381A2B-F2FE-4AEA-A6EC-2420F685F1C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439650" y="2190750"/>
            <a:ext cx="4819650" cy="3810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/>
          <a:lstStyle xmlns:a="http://schemas.openxmlformats.org/drawingml/2006/main"/>
          <a:p xmlns:a="http://schemas.openxmlformats.org/drawingml/2006/main">
            <a:pPr>
              <a:defRPr sz="2475" b="1">
                <a:solidFill>
                  <a:srgbClr val="1663FF"/>
                </a:solidFill>
              </a:defRPr>
            </a:pPr>
            <a:r>
              <a:rPr sz="2475" b="1">
                <a:solidFill>
                  <a:srgbClr val="1663FF"/>
                </a:solidFill>
              </a:rPr>
              <a:t>Col bleu</a:t>
            </a:r>
          </a:p>
        </p:txBody>
      </p:sp>
      <p:sp>
        <p:nvSpPr>
          <p:cNvPr id="30" name="">
            <a:extLst xmlns:a="http://schemas.openxmlformats.org/drawingml/2006/main">
              <a:ext uri="{FF2B5EF4-FFF2-40B4-BE49-F238E27FC236}">
                <a16:creationId xmlns:a16="http://schemas.microsoft.com/office/drawing/2014/main" id="{02400D87-8899-4A10-B0D7-E57DB3F71C8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439650" y="2762250"/>
            <a:ext cx="95250" cy="95250"/>
          </a:xfrm>
          <a:prstGeom xmlns:a="http://schemas.openxmlformats.org/drawingml/2006/main" prst="roundRect">
            <a:avLst>
              <a:gd name="adj" fmla="val 50000"/>
            </a:avLst>
          </a:prstGeom>
          <a:solidFill xmlns:a="http://schemas.openxmlformats.org/drawingml/2006/main">
            <a:srgbClr val="1663FF"/>
          </a:solidFill>
        </p:spPr>
      </p:sp>
      <p:sp>
        <p:nvSpPr>
          <p:cNvPr id="31" name="">
            <a:extLst xmlns:a="http://schemas.openxmlformats.org/drawingml/2006/main">
              <a:ext uri="{FF2B5EF4-FFF2-40B4-BE49-F238E27FC236}">
                <a16:creationId xmlns:a16="http://schemas.microsoft.com/office/drawing/2014/main" id="{7629F382-F08E-411A-A2E2-0DCD4DF389A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668250" y="2762250"/>
            <a:ext cx="4591050" cy="3048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/>
          <a:lstStyle xmlns:a="http://schemas.openxmlformats.org/drawingml/2006/main"/>
          <a:p xmlns:a="http://schemas.openxmlformats.org/drawingml/2006/main">
            <a:pPr>
              <a:lnSpc>
                <a:spcPct val="105000"/>
              </a:lnSpc>
              <a:buNone/>
              <a:defRPr sz="1800">
                <a:solidFill>
                  <a:srgbClr val="111827"/>
                </a:solidFill>
              </a:defRPr>
            </a:pPr>
            <a:r>
              <a:rPr sz="1800">
                <a:solidFill>
                  <a:srgbClr val="111827"/>
                </a:solidFill>
              </a:rPr>
              <a:t>luminosité / contraste</a:t>
            </a:r>
          </a:p>
        </p:txBody>
      </p:sp>
      <p:sp>
        <p:nvSpPr>
          <p:cNvPr id="32" name="">
            <a:extLst xmlns:a="http://schemas.openxmlformats.org/drawingml/2006/main">
              <a:ext uri="{FF2B5EF4-FFF2-40B4-BE49-F238E27FC236}">
                <a16:creationId xmlns:a16="http://schemas.microsoft.com/office/drawing/2014/main" id="{A31FD4D5-2C71-4C52-8A44-91EB3E01E59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439650" y="3162300"/>
            <a:ext cx="95250" cy="95250"/>
          </a:xfrm>
          <a:prstGeom xmlns:a="http://schemas.openxmlformats.org/drawingml/2006/main" prst="roundRect">
            <a:avLst>
              <a:gd name="adj" fmla="val 50000"/>
            </a:avLst>
          </a:prstGeom>
          <a:solidFill xmlns:a="http://schemas.openxmlformats.org/drawingml/2006/main">
            <a:srgbClr val="1663FF"/>
          </a:solidFill>
        </p:spPr>
      </p:sp>
      <p:sp>
        <p:nvSpPr>
          <p:cNvPr id="33" name="">
            <a:extLst xmlns:a="http://schemas.openxmlformats.org/drawingml/2006/main">
              <a:ext uri="{FF2B5EF4-FFF2-40B4-BE49-F238E27FC236}">
                <a16:creationId xmlns:a16="http://schemas.microsoft.com/office/drawing/2014/main" id="{4F5FEFE6-AAAE-4479-8DE1-1FFE79FF20B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668250" y="3162300"/>
            <a:ext cx="4591050" cy="3048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/>
          <a:lstStyle xmlns:a="http://schemas.openxmlformats.org/drawingml/2006/main"/>
          <a:p xmlns:a="http://schemas.openxmlformats.org/drawingml/2006/main">
            <a:pPr>
              <a:lnSpc>
                <a:spcPct val="105000"/>
              </a:lnSpc>
              <a:buNone/>
              <a:defRPr sz="1800">
                <a:solidFill>
                  <a:srgbClr val="111827"/>
                </a:solidFill>
              </a:defRPr>
            </a:pPr>
            <a:r>
              <a:rPr sz="1800">
                <a:solidFill>
                  <a:srgbClr val="111827"/>
                </a:solidFill>
              </a:rPr>
              <a:t>zoom et crop</a:t>
            </a:r>
          </a:p>
        </p:txBody>
      </p:sp>
      <p:sp>
        <p:nvSpPr>
          <p:cNvPr id="34" name="">
            <a:extLst xmlns:a="http://schemas.openxmlformats.org/drawingml/2006/main">
              <a:ext uri="{FF2B5EF4-FFF2-40B4-BE49-F238E27FC236}">
                <a16:creationId xmlns:a16="http://schemas.microsoft.com/office/drawing/2014/main" id="{749E81C7-E799-4086-BA17-D9183789016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439650" y="3581400"/>
            <a:ext cx="95250" cy="95250"/>
          </a:xfrm>
          <a:prstGeom xmlns:a="http://schemas.openxmlformats.org/drawingml/2006/main" prst="roundRect">
            <a:avLst>
              <a:gd name="adj" fmla="val 50000"/>
            </a:avLst>
          </a:prstGeom>
          <a:solidFill xmlns:a="http://schemas.openxmlformats.org/drawingml/2006/main">
            <a:srgbClr val="1663FF"/>
          </a:solidFill>
        </p:spPr>
      </p:sp>
      <p:sp>
        <p:nvSpPr>
          <p:cNvPr id="35" name="">
            <a:extLst xmlns:a="http://schemas.openxmlformats.org/drawingml/2006/main">
              <a:ext uri="{FF2B5EF4-FFF2-40B4-BE49-F238E27FC236}">
                <a16:creationId xmlns:a16="http://schemas.microsoft.com/office/drawing/2014/main" id="{2F403083-5578-42DC-A161-CA60203CC30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668250" y="3581400"/>
            <a:ext cx="4591050" cy="3048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/>
          <a:lstStyle xmlns:a="http://schemas.openxmlformats.org/drawingml/2006/main"/>
          <a:p xmlns:a="http://schemas.openxmlformats.org/drawingml/2006/main">
            <a:pPr>
              <a:lnSpc>
                <a:spcPct val="105000"/>
              </a:lnSpc>
              <a:buNone/>
              <a:defRPr sz="1800">
                <a:solidFill>
                  <a:srgbClr val="111827"/>
                </a:solidFill>
              </a:defRPr>
            </a:pPr>
            <a:r>
              <a:rPr sz="1800">
                <a:solidFill>
                  <a:srgbClr val="111827"/>
                </a:solidFill>
              </a:rPr>
              <a:t>compression JPEG</a:t>
            </a:r>
          </a:p>
        </p:txBody>
      </p:sp>
      <p:sp>
        <p:nvSpPr>
          <p:cNvPr id="36" name="">
            <a:extLst xmlns:a="http://schemas.openxmlformats.org/drawingml/2006/main">
              <a:ext uri="{FF2B5EF4-FFF2-40B4-BE49-F238E27FC236}">
                <a16:creationId xmlns:a16="http://schemas.microsoft.com/office/drawing/2014/main" id="{B67BD851-E813-4328-829F-B6D08936EAF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439650" y="3981450"/>
            <a:ext cx="95250" cy="95250"/>
          </a:xfrm>
          <a:prstGeom xmlns:a="http://schemas.openxmlformats.org/drawingml/2006/main" prst="roundRect">
            <a:avLst>
              <a:gd name="adj" fmla="val 50000"/>
            </a:avLst>
          </a:prstGeom>
          <a:solidFill xmlns:a="http://schemas.openxmlformats.org/drawingml/2006/main">
            <a:srgbClr val="1663FF"/>
          </a:solidFill>
        </p:spPr>
      </p:sp>
      <p:sp>
        <p:nvSpPr>
          <p:cNvPr id="37" name="">
            <a:extLst xmlns:a="http://schemas.openxmlformats.org/drawingml/2006/main">
              <a:ext uri="{FF2B5EF4-FFF2-40B4-BE49-F238E27FC236}">
                <a16:creationId xmlns:a16="http://schemas.microsoft.com/office/drawing/2014/main" id="{2BF9191F-57F0-4E8D-969A-5D841823065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668250" y="3981450"/>
            <a:ext cx="4591050" cy="3048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/>
          <a:lstStyle xmlns:a="http://schemas.openxmlformats.org/drawingml/2006/main"/>
          <a:p xmlns:a="http://schemas.openxmlformats.org/drawingml/2006/main">
            <a:pPr>
              <a:lnSpc>
                <a:spcPct val="105000"/>
              </a:lnSpc>
              <a:buNone/>
              <a:defRPr sz="1800">
                <a:solidFill>
                  <a:srgbClr val="111827"/>
                </a:solidFill>
              </a:defRPr>
            </a:pPr>
            <a:r>
              <a:rPr sz="1800">
                <a:solidFill>
                  <a:srgbClr val="111827"/>
                </a:solidFill>
              </a:rPr>
              <a:t>rotation faible</a:t>
            </a:r>
          </a:p>
        </p:txBody>
      </p:sp>
      <p:sp>
        <p:nvSpPr>
          <p:cNvPr id="38" name="">
            <a:extLst xmlns:a="http://schemas.openxmlformats.org/drawingml/2006/main">
              <a:ext uri="{FF2B5EF4-FFF2-40B4-BE49-F238E27FC236}">
                <a16:creationId xmlns:a16="http://schemas.microsoft.com/office/drawing/2014/main" id="{D96C44B0-E739-43C2-B742-C70793538CB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439650" y="4381500"/>
            <a:ext cx="95250" cy="95250"/>
          </a:xfrm>
          <a:prstGeom xmlns:a="http://schemas.openxmlformats.org/drawingml/2006/main" prst="roundRect">
            <a:avLst>
              <a:gd name="adj" fmla="val 50000"/>
            </a:avLst>
          </a:prstGeom>
          <a:solidFill xmlns:a="http://schemas.openxmlformats.org/drawingml/2006/main">
            <a:srgbClr val="1663FF"/>
          </a:solidFill>
        </p:spPr>
      </p:sp>
      <p:sp>
        <p:nvSpPr>
          <p:cNvPr id="39" name="">
            <a:extLst xmlns:a="http://schemas.openxmlformats.org/drawingml/2006/main">
              <a:ext uri="{FF2B5EF4-FFF2-40B4-BE49-F238E27FC236}">
                <a16:creationId xmlns:a16="http://schemas.microsoft.com/office/drawing/2014/main" id="{C006E3E8-1975-45E3-816D-E8C1845E875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668250" y="4381500"/>
            <a:ext cx="4591050" cy="3048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/>
          <a:lstStyle xmlns:a="http://schemas.openxmlformats.org/drawingml/2006/main"/>
          <a:p xmlns:a="http://schemas.openxmlformats.org/drawingml/2006/main">
            <a:pPr>
              <a:lnSpc>
                <a:spcPct val="105000"/>
              </a:lnSpc>
              <a:buNone/>
              <a:defRPr sz="1800">
                <a:solidFill>
                  <a:srgbClr val="111827"/>
                </a:solidFill>
              </a:defRPr>
            </a:pPr>
            <a:r>
              <a:rPr sz="1800">
                <a:solidFill>
                  <a:srgbClr val="111827"/>
                </a:solidFill>
              </a:rPr>
              <a:t>pas de forte modification de teinte</a:t>
            </a:r>
          </a:p>
        </p:txBody>
      </p:sp>
      <p:sp>
        <p:nvSpPr>
          <p:cNvPr id="40" name="">
            <a:extLst xmlns:a="http://schemas.openxmlformats.org/drawingml/2006/main">
              <a:ext uri="{FF2B5EF4-FFF2-40B4-BE49-F238E27FC236}">
                <a16:creationId xmlns:a16="http://schemas.microsoft.com/office/drawing/2014/main" id="{3AFB1969-15C9-426A-85D4-599F4440F2C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04850" y="9582150"/>
            <a:ext cx="16383000" cy="1524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/>
          <a:lstStyle xmlns:a="http://schemas.openxmlformats.org/drawingml/2006/main"/>
          <a:p xmlns:a="http://schemas.openxmlformats.org/drawingml/2006/main">
            <a:pPr>
              <a:defRPr sz="1050">
                <a:solidFill>
                  <a:srgbClr val="7A8494"/>
                </a:solidFill>
              </a:defRPr>
            </a:pPr>
            <a:r>
              <a:rPr sz="1050">
                <a:solidFill>
                  <a:srgbClr val="7A8494"/>
                </a:solidFill>
              </a:rPr>
              <a:t>POC sécurité machine · collecte de données</a:t>
            </a:r>
          </a:p>
        </p:txBody>
      </p:sp>
      <p:sp>
        <p:nvSpPr>
          <p:cNvPr id="41" name="">
            <a:extLst xmlns:a="http://schemas.openxmlformats.org/drawingml/2006/main">
              <a:ext uri="{FF2B5EF4-FFF2-40B4-BE49-F238E27FC236}">
                <a16:creationId xmlns:a16="http://schemas.microsoft.com/office/drawing/2014/main" id="{F5E7895E-72F9-46BE-9E94-1B321193919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7087850" y="9582150"/>
            <a:ext cx="495300" cy="1524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/>
          <a:lstStyle xmlns:a="http://schemas.openxmlformats.org/drawingml/2006/main"/>
          <a:p xmlns:a="http://schemas.openxmlformats.org/drawingml/2006/main">
            <a:pPr>
              <a:defRPr sz="1050">
                <a:solidFill>
                  <a:srgbClr val="7A8494"/>
                </a:solidFill>
              </a:defRPr>
            </a:pPr>
            <a:r>
              <a:rPr sz="1050">
                <a:solidFill>
                  <a:srgbClr val="7A8494"/>
                </a:solidFill>
              </a:rPr>
              <a:t>mai 2026</a:t>
            </a:r>
          </a:p>
        </p:txBody>
      </p:sp>
    </p:spTree>
    <p:extLst>
      <p:ext uri="{BB962C8B-B14F-4D97-AF65-F5344CB8AC3E}">
        <p14:creationId xmlns:p14="http://schemas.microsoft.com/office/powerpoint/2010/main" val="880505102"/>
      </p:ext>
    </p:extLst>
  </p:cSld>
</p:sld>
</file>

<file path=ppt/slides/slide11.xml><?xml version="1.0" encoding="utf-8"?>
<p:sld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" name="background">
            <a:extLst xmlns:a="http://schemas.openxmlformats.org/drawingml/2006/main">
              <a:ext uri="{FF2B5EF4-FFF2-40B4-BE49-F238E27FC236}">
                <a16:creationId xmlns:a16="http://schemas.microsoft.com/office/drawing/2014/main" id="{6101E800-F0A0-465B-91DA-3D55A77CF83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8288000" cy="10287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7F8FA"/>
          </a:solidFill>
        </p:spPr>
      </p:sp>
      <p:sp>
        <p:nvSpPr>
          <p:cNvPr id="2" name="slide-title">
            <a:extLst xmlns:a="http://schemas.openxmlformats.org/drawingml/2006/main">
              <a:ext uri="{FF2B5EF4-FFF2-40B4-BE49-F238E27FC236}">
                <a16:creationId xmlns:a16="http://schemas.microsoft.com/office/drawing/2014/main" id="{DB60757D-1413-4010-ABEB-0F49247ADFF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04850" y="552450"/>
            <a:ext cx="16878300" cy="6096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/>
          <a:lstStyle xmlns:a="http://schemas.openxmlformats.org/drawingml/2006/main"/>
          <a:p xmlns:a="http://schemas.openxmlformats.org/drawingml/2006/main">
            <a:pPr>
              <a:lnSpc>
                <a:spcPct val="90000"/>
              </a:lnSpc>
              <a:buNone/>
              <a:defRPr sz="4350" b="1">
                <a:solidFill>
                  <a:srgbClr val="111827"/>
                </a:solidFill>
              </a:defRPr>
            </a:pPr>
            <a:r>
              <a:rPr sz="4350" b="1">
                <a:solidFill>
                  <a:srgbClr val="111827"/>
                </a:solidFill>
              </a:rPr>
              <a:t>Prochain sprint: rendre le POC entraînable</a:t>
            </a:r>
          </a:p>
        </p:txBody>
      </p:sp>
      <p:sp>
        <p:nvSpPr>
          <p:cNvPr id="3" name="slide-subtitle">
            <a:extLst xmlns:a="http://schemas.openxmlformats.org/drawingml/2006/main">
              <a:ext uri="{FF2B5EF4-FFF2-40B4-BE49-F238E27FC236}">
                <a16:creationId xmlns:a16="http://schemas.microsoft.com/office/drawing/2014/main" id="{232A1ED2-5EE5-4C98-B8A7-A58B6750D83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04850" y="1276350"/>
            <a:ext cx="6781800" cy="62865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/>
          <a:lstStyle xmlns:a="http://schemas.openxmlformats.org/drawingml/2006/main"/>
          <a:p xmlns:a="http://schemas.openxmlformats.org/drawingml/2006/main">
            <a:pPr>
              <a:lnSpc>
                <a:spcPct val="108000"/>
              </a:lnSpc>
              <a:buNone/>
              <a:defRPr sz="1875">
                <a:solidFill>
                  <a:srgbClr val="596273"/>
                </a:solidFill>
              </a:defRPr>
            </a:pPr>
            <a:r>
              <a:rPr sz="1875">
                <a:solidFill>
                  <a:srgbClr val="596273"/>
                </a:solidFill>
              </a:rPr>
              <a:t>Le gain principal n’est pas plus de code, c’est une vérité terrain propre.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6AC4AE80-E843-4BBD-88E1-EE30B4C75BD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04850" y="2223516"/>
            <a:ext cx="8671084" cy="7027164"/>
          </a:xfrm>
          <a:prstGeom xmlns:a="http://schemas.openxmlformats.org/drawingml/2006/main" prst="roundRect">
            <a:avLst>
              <a:gd name="adj" fmla="val 1084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9E0E7"/>
            </a:solidFill>
            <a:prstDash val="solid"/>
          </a:ln>
        </p:spPr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1E0AF780-2855-40C0-9439-4A12C92A966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28700" y="2514600"/>
            <a:ext cx="8020050" cy="3810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/>
          <a:lstStyle xmlns:a="http://schemas.openxmlformats.org/drawingml/2006/main"/>
          <a:p xmlns:a="http://schemas.openxmlformats.org/drawingml/2006/main">
            <a:pPr>
              <a:defRPr sz="2475" b="1">
                <a:solidFill>
                  <a:srgbClr val="111827"/>
                </a:solidFill>
              </a:defRPr>
            </a:pPr>
            <a:r>
              <a:rPr sz="2475" b="1">
                <a:solidFill>
                  <a:srgbClr val="111827"/>
                </a:solidFill>
              </a:rPr>
              <a:t>À faire sur les données actuelles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57B54EFE-8907-4965-B7BD-1A7D5B153F8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28700" y="3105150"/>
            <a:ext cx="95250" cy="95250"/>
          </a:xfrm>
          <a:prstGeom xmlns:a="http://schemas.openxmlformats.org/drawingml/2006/main" prst="roundRect">
            <a:avLst>
              <a:gd name="adj" fmla="val 50000"/>
            </a:avLst>
          </a:prstGeom>
          <a:solidFill xmlns:a="http://schemas.openxmlformats.org/drawingml/2006/main">
            <a:srgbClr val="1663FF"/>
          </a:solidFill>
        </p:spPr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5204874F-7624-4431-B3B8-CF6F9243095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57300" y="3105150"/>
            <a:ext cx="7791450" cy="3048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/>
          <a:lstStyle xmlns:a="http://schemas.openxmlformats.org/drawingml/2006/main"/>
          <a:p xmlns:a="http://schemas.openxmlformats.org/drawingml/2006/main">
            <a:pPr>
              <a:lnSpc>
                <a:spcPct val="105000"/>
              </a:lnSpc>
              <a:buNone/>
              <a:defRPr sz="1800">
                <a:solidFill>
                  <a:srgbClr val="111827"/>
                </a:solidFill>
              </a:defRPr>
            </a:pPr>
            <a:r>
              <a:rPr sz="1800">
                <a:solidFill>
                  <a:srgbClr val="111827"/>
                </a:solidFill>
              </a:rPr>
              <a:t>Renommer ou indexer tous les clips via manifest.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FE359B03-5CCD-46FB-AFA8-8A05C000D44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28700" y="3505200"/>
            <a:ext cx="95250" cy="95250"/>
          </a:xfrm>
          <a:prstGeom xmlns:a="http://schemas.openxmlformats.org/drawingml/2006/main" prst="roundRect">
            <a:avLst>
              <a:gd name="adj" fmla="val 50000"/>
            </a:avLst>
          </a:prstGeom>
          <a:solidFill xmlns:a="http://schemas.openxmlformats.org/drawingml/2006/main">
            <a:srgbClr val="1663FF"/>
          </a:solidFill>
        </p:spPr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8F6887EB-D6AB-45E8-8E55-B2F8691D47C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57300" y="3505200"/>
            <a:ext cx="7791450" cy="3048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/>
          <a:lstStyle xmlns:a="http://schemas.openxmlformats.org/drawingml/2006/main"/>
          <a:p xmlns:a="http://schemas.openxmlformats.org/drawingml/2006/main">
            <a:pPr>
              <a:lnSpc>
                <a:spcPct val="105000"/>
              </a:lnSpc>
              <a:buNone/>
              <a:defRPr sz="1800">
                <a:solidFill>
                  <a:srgbClr val="111827"/>
                </a:solidFill>
              </a:defRPr>
            </a:pPr>
            <a:r>
              <a:rPr sz="1800">
                <a:solidFill>
                  <a:srgbClr val="111827"/>
                </a:solidFill>
              </a:rPr>
              <a:t>Annoter event_start/event_end pour chaque unsafe.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23EF45EB-CC3F-4698-9EFF-73073C84EB1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28700" y="3924300"/>
            <a:ext cx="95250" cy="95250"/>
          </a:xfrm>
          <a:prstGeom xmlns:a="http://schemas.openxmlformats.org/drawingml/2006/main" prst="roundRect">
            <a:avLst>
              <a:gd name="adj" fmla="val 50000"/>
            </a:avLst>
          </a:prstGeom>
          <a:solidFill xmlns:a="http://schemas.openxmlformats.org/drawingml/2006/main">
            <a:srgbClr val="1663FF"/>
          </a:solidFill>
        </p:spPr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F81B4CFE-F1A3-4E91-892C-9C9DF98E974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57300" y="3924300"/>
            <a:ext cx="7791450" cy="3048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/>
          <a:lstStyle xmlns:a="http://schemas.openxmlformats.org/drawingml/2006/main"/>
          <a:p xmlns:a="http://schemas.openxmlformats.org/drawingml/2006/main">
            <a:pPr>
              <a:lnSpc>
                <a:spcPct val="105000"/>
              </a:lnSpc>
              <a:buNone/>
              <a:defRPr sz="1800">
                <a:solidFill>
                  <a:srgbClr val="111827"/>
                </a:solidFill>
              </a:defRPr>
            </a:pPr>
            <a:r>
              <a:rPr sz="1800">
                <a:solidFill>
                  <a:srgbClr val="111827"/>
                </a:solidFill>
              </a:rPr>
              <a:t>Annoter collar et attention sans se fier uniquement au nom fichier.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8DCD8F7A-69FB-422E-9E16-3F8231220D8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28700" y="4324350"/>
            <a:ext cx="95250" cy="95250"/>
          </a:xfrm>
          <a:prstGeom xmlns:a="http://schemas.openxmlformats.org/drawingml/2006/main" prst="roundRect">
            <a:avLst>
              <a:gd name="adj" fmla="val 50000"/>
            </a:avLst>
          </a:prstGeom>
          <a:solidFill xmlns:a="http://schemas.openxmlformats.org/drawingml/2006/main">
            <a:srgbClr val="1663FF"/>
          </a:solidFill>
        </p:spPr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F78D0C10-538D-48C5-8F18-FBC4FA55884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57300" y="4324350"/>
            <a:ext cx="7791450" cy="3048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/>
          <a:lstStyle xmlns:a="http://schemas.openxmlformats.org/drawingml/2006/main"/>
          <a:p xmlns:a="http://schemas.openxmlformats.org/drawingml/2006/main">
            <a:pPr>
              <a:lnSpc>
                <a:spcPct val="105000"/>
              </a:lnSpc>
              <a:buNone/>
              <a:defRPr sz="1800">
                <a:solidFill>
                  <a:srgbClr val="111827"/>
                </a:solidFill>
              </a:defRPr>
            </a:pPr>
            <a:r>
              <a:rPr sz="1800">
                <a:solidFill>
                  <a:srgbClr val="111827"/>
                </a:solidFill>
              </a:rPr>
              <a:t>Définir le volume dangereux 3D et sa projection caméra.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21C19088-7B57-4048-B76D-1A144B8EC35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28700" y="4743450"/>
            <a:ext cx="95250" cy="95250"/>
          </a:xfrm>
          <a:prstGeom xmlns:a="http://schemas.openxmlformats.org/drawingml/2006/main" prst="roundRect">
            <a:avLst>
              <a:gd name="adj" fmla="val 50000"/>
            </a:avLst>
          </a:prstGeom>
          <a:solidFill xmlns:a="http://schemas.openxmlformats.org/drawingml/2006/main">
            <a:srgbClr val="1663FF"/>
          </a:solidFill>
        </p:spPr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FFA6393A-52AF-4353-B727-3367DF8C959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57300" y="4743450"/>
            <a:ext cx="7791450" cy="3048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/>
          <a:lstStyle xmlns:a="http://schemas.openxmlformats.org/drawingml/2006/main"/>
          <a:p xmlns:a="http://schemas.openxmlformats.org/drawingml/2006/main">
            <a:pPr>
              <a:lnSpc>
                <a:spcPct val="105000"/>
              </a:lnSpc>
              <a:buNone/>
              <a:defRPr sz="1800">
                <a:solidFill>
                  <a:srgbClr val="111827"/>
                </a:solidFill>
              </a:defRPr>
            </a:pPr>
            <a:r>
              <a:rPr sz="1800">
                <a:solidFill>
                  <a:srgbClr val="111827"/>
                </a:solidFill>
              </a:rPr>
              <a:t>Créer splits par personne/session, jamais par frame aléatoire.</a:t>
            </a:r>
          </a:p>
        </p:txBody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D3C17D7A-6B1F-4148-A8F9-16EF7BEBCAD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737884" y="2223516"/>
            <a:ext cx="7845266" cy="7027164"/>
          </a:xfrm>
          <a:prstGeom xmlns:a="http://schemas.openxmlformats.org/drawingml/2006/main" prst="roundRect">
            <a:avLst>
              <a:gd name="adj" fmla="val 1084"/>
            </a:avLst>
          </a:prstGeom>
          <a:solidFill xmlns:a="http://schemas.openxmlformats.org/drawingml/2006/main">
            <a:srgbClr val="FFF7F6"/>
          </a:solidFill>
          <a:ln xmlns:a="http://schemas.openxmlformats.org/drawingml/2006/main" w="9525">
            <a:solidFill>
              <a:srgbClr val="F1C2BF"/>
            </a:solidFill>
            <a:prstDash val="solid"/>
          </a:ln>
        </p:spPr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7E9336FD-54A2-4FF2-B329-BBF05529EC9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058400" y="2514600"/>
            <a:ext cx="7200900" cy="3810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/>
          <a:lstStyle xmlns:a="http://schemas.openxmlformats.org/drawingml/2006/main"/>
          <a:p xmlns:a="http://schemas.openxmlformats.org/drawingml/2006/main">
            <a:pPr>
              <a:defRPr sz="2475" b="1">
                <a:solidFill>
                  <a:srgbClr val="D43F3A"/>
                </a:solidFill>
              </a:defRPr>
            </a:pPr>
            <a:r>
              <a:rPr sz="2475" b="1">
                <a:solidFill>
                  <a:srgbClr val="D43F3A"/>
                </a:solidFill>
              </a:rPr>
              <a:t>Compléter pour le POC</a:t>
            </a:r>
          </a:p>
        </p:txBody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8B28BD00-C65E-40F2-A5E9-3FC8051D545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058400" y="3105150"/>
            <a:ext cx="95250" cy="95250"/>
          </a:xfrm>
          <a:prstGeom xmlns:a="http://schemas.openxmlformats.org/drawingml/2006/main" prst="roundRect">
            <a:avLst>
              <a:gd name="adj" fmla="val 50000"/>
            </a:avLst>
          </a:prstGeom>
          <a:solidFill xmlns:a="http://schemas.openxmlformats.org/drawingml/2006/main">
            <a:srgbClr val="D43F3A"/>
          </a:solidFill>
        </p:spPr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7C43C85E-65FE-43E9-97D6-E3245CB2238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287000" y="3105150"/>
            <a:ext cx="6972300" cy="3048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/>
          <a:lstStyle xmlns:a="http://schemas.openxmlformats.org/drawingml/2006/main"/>
          <a:p xmlns:a="http://schemas.openxmlformats.org/drawingml/2006/main">
            <a:pPr>
              <a:lnSpc>
                <a:spcPct val="105000"/>
              </a:lnSpc>
              <a:buNone/>
              <a:defRPr sz="1800">
                <a:solidFill>
                  <a:srgbClr val="111827"/>
                </a:solidFill>
              </a:defRPr>
            </a:pPr>
            <a:r>
              <a:rPr sz="1800">
                <a:solidFill>
                  <a:srgbClr val="111827"/>
                </a:solidFill>
              </a:rPr>
              <a:t>20 clips unsafe_event de 8-12s</a:t>
            </a:r>
          </a:p>
        </p:txBody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B3991E90-82D2-4EFC-BAF0-460EB0F6F68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058400" y="3505200"/>
            <a:ext cx="95250" cy="95250"/>
          </a:xfrm>
          <a:prstGeom xmlns:a="http://schemas.openxmlformats.org/drawingml/2006/main" prst="roundRect">
            <a:avLst>
              <a:gd name="adj" fmla="val 50000"/>
            </a:avLst>
          </a:prstGeom>
          <a:solidFill xmlns:a="http://schemas.openxmlformats.org/drawingml/2006/main">
            <a:srgbClr val="D43F3A"/>
          </a:solidFill>
        </p:spPr>
      </p:sp>
      <p:sp>
        <p:nv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E9E584A9-00FE-4D58-8426-2B1D5EB6C07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287000" y="3505200"/>
            <a:ext cx="6972300" cy="3048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/>
          <a:lstStyle xmlns:a="http://schemas.openxmlformats.org/drawingml/2006/main"/>
          <a:p xmlns:a="http://schemas.openxmlformats.org/drawingml/2006/main">
            <a:pPr>
              <a:lnSpc>
                <a:spcPct val="105000"/>
              </a:lnSpc>
              <a:buNone/>
              <a:defRPr sz="1800">
                <a:solidFill>
                  <a:srgbClr val="111827"/>
                </a:solidFill>
              </a:defRPr>
            </a:pPr>
            <a:r>
              <a:rPr sz="1800">
                <a:solidFill>
                  <a:srgbClr val="111827"/>
                </a:solidFill>
              </a:rPr>
              <a:t>20 near_miss où la main approche sans entrer</a:t>
            </a:r>
          </a:p>
        </p:txBody>
      </p:sp>
      <p:sp>
        <p:nvSpPr>
          <p:cNvPr id="22" name="">
            <a:extLst xmlns:a="http://schemas.openxmlformats.org/drawingml/2006/main">
              <a:ext uri="{FF2B5EF4-FFF2-40B4-BE49-F238E27FC236}">
                <a16:creationId xmlns:a16="http://schemas.microsoft.com/office/drawing/2014/main" id="{A6889F2E-2D17-4504-A855-9D95BADBA26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058400" y="3924300"/>
            <a:ext cx="95250" cy="95250"/>
          </a:xfrm>
          <a:prstGeom xmlns:a="http://schemas.openxmlformats.org/drawingml/2006/main" prst="roundRect">
            <a:avLst>
              <a:gd name="adj" fmla="val 50000"/>
            </a:avLst>
          </a:prstGeom>
          <a:solidFill xmlns:a="http://schemas.openxmlformats.org/drawingml/2006/main">
            <a:srgbClr val="D43F3A"/>
          </a:solidFill>
        </p:spPr>
      </p:sp>
      <p:sp>
        <p:nvSpPr>
          <p:cNvPr id="23" name="">
            <a:extLst xmlns:a="http://schemas.openxmlformats.org/drawingml/2006/main">
              <a:ext uri="{FF2B5EF4-FFF2-40B4-BE49-F238E27FC236}">
                <a16:creationId xmlns:a16="http://schemas.microsoft.com/office/drawing/2014/main" id="{9FA5ACA4-D5B7-4B15-BD32-DC1A1036A98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287000" y="3924300"/>
            <a:ext cx="6972300" cy="3048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/>
          <a:lstStyle xmlns:a="http://schemas.openxmlformats.org/drawingml/2006/main"/>
          <a:p xmlns:a="http://schemas.openxmlformats.org/drawingml/2006/main">
            <a:pPr>
              <a:lnSpc>
                <a:spcPct val="105000"/>
              </a:lnSpc>
              <a:buNone/>
              <a:defRPr sz="1800">
                <a:solidFill>
                  <a:srgbClr val="111827"/>
                </a:solidFill>
              </a:defRPr>
            </a:pPr>
            <a:r>
              <a:rPr sz="1800">
                <a:solidFill>
                  <a:srgbClr val="111827"/>
                </a:solidFill>
              </a:rPr>
              <a:t>20 safe_control avec mouvement similaire</a:t>
            </a:r>
          </a:p>
        </p:txBody>
      </p:sp>
      <p:sp>
        <p:nvSpPr>
          <p:cNvPr id="24" name="">
            <a:extLst xmlns:a="http://schemas.openxmlformats.org/drawingml/2006/main">
              <a:ext uri="{FF2B5EF4-FFF2-40B4-BE49-F238E27FC236}">
                <a16:creationId xmlns:a16="http://schemas.microsoft.com/office/drawing/2014/main" id="{57420EEC-7A8A-4E93-834A-56200C20277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058400" y="4324350"/>
            <a:ext cx="95250" cy="95250"/>
          </a:xfrm>
          <a:prstGeom xmlns:a="http://schemas.openxmlformats.org/drawingml/2006/main" prst="roundRect">
            <a:avLst>
              <a:gd name="adj" fmla="val 50000"/>
            </a:avLst>
          </a:prstGeom>
          <a:solidFill xmlns:a="http://schemas.openxmlformats.org/drawingml/2006/main">
            <a:srgbClr val="D43F3A"/>
          </a:solidFill>
        </p:spPr>
      </p:sp>
      <p:sp>
        <p:nvSpPr>
          <p:cNvPr id="25" name="">
            <a:extLst xmlns:a="http://schemas.openxmlformats.org/drawingml/2006/main">
              <a:ext uri="{FF2B5EF4-FFF2-40B4-BE49-F238E27FC236}">
                <a16:creationId xmlns:a16="http://schemas.microsoft.com/office/drawing/2014/main" id="{5993BCD5-0309-44C6-AA30-71103958E57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287000" y="4324350"/>
            <a:ext cx="6972300" cy="3048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/>
          <a:lstStyle xmlns:a="http://schemas.openxmlformats.org/drawingml/2006/main"/>
          <a:p xmlns:a="http://schemas.openxmlformats.org/drawingml/2006/main">
            <a:pPr>
              <a:lnSpc>
                <a:spcPct val="105000"/>
              </a:lnSpc>
              <a:buNone/>
              <a:defRPr sz="1800">
                <a:solidFill>
                  <a:srgbClr val="111827"/>
                </a:solidFill>
              </a:defRPr>
            </a:pPr>
            <a:r>
              <a:rPr sz="1800">
                <a:solidFill>
                  <a:srgbClr val="111827"/>
                </a:solidFill>
              </a:rPr>
              <a:t>simulation 3D pour variations distance/vitesse</a:t>
            </a:r>
          </a:p>
        </p:txBody>
      </p:sp>
      <p:sp>
        <p:nvSpPr>
          <p:cNvPr id="26" name="">
            <a:extLst xmlns:a="http://schemas.openxmlformats.org/drawingml/2006/main">
              <a:ext uri="{FF2B5EF4-FFF2-40B4-BE49-F238E27FC236}">
                <a16:creationId xmlns:a16="http://schemas.microsoft.com/office/drawing/2014/main" id="{E84BCAE5-312F-4839-85A1-B5B0AAB25BF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058400" y="4838700"/>
            <a:ext cx="7200900" cy="3048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/>
          <a:lstStyle xmlns:a="http://schemas.openxmlformats.org/drawingml/2006/main"/>
          <a:p xmlns:a="http://schemas.openxmlformats.org/drawingml/2006/main">
            <a:pPr>
              <a:defRPr sz="1950" b="1">
                <a:solidFill>
                  <a:srgbClr val="111827"/>
                </a:solidFill>
              </a:defRPr>
            </a:pPr>
            <a:r>
              <a:rPr sz="1950" b="1">
                <a:solidFill>
                  <a:srgbClr val="111827"/>
                </a:solidFill>
              </a:rPr>
              <a:t>Objectif: prouver la chaîne data → labels → modèles → policy.</a:t>
            </a:r>
          </a:p>
        </p:txBody>
      </p:sp>
      <p:sp>
        <p:nvSpPr>
          <p:cNvPr id="27" name="">
            <a:extLst xmlns:a="http://schemas.openxmlformats.org/drawingml/2006/main">
              <a:ext uri="{FF2B5EF4-FFF2-40B4-BE49-F238E27FC236}">
                <a16:creationId xmlns:a16="http://schemas.microsoft.com/office/drawing/2014/main" id="{88FE0DE0-C8A2-4476-90E9-203F3A83C31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04850" y="9582150"/>
            <a:ext cx="16383000" cy="1524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/>
          <a:lstStyle xmlns:a="http://schemas.openxmlformats.org/drawingml/2006/main"/>
          <a:p xmlns:a="http://schemas.openxmlformats.org/drawingml/2006/main">
            <a:pPr>
              <a:defRPr sz="1050">
                <a:solidFill>
                  <a:srgbClr val="7A8494"/>
                </a:solidFill>
              </a:defRPr>
            </a:pPr>
            <a:r>
              <a:rPr sz="1050">
                <a:solidFill>
                  <a:srgbClr val="7A8494"/>
                </a:solidFill>
              </a:rPr>
              <a:t>Livrable attendu: dataset versionné + trois premiers modèles POC</a:t>
            </a:r>
          </a:p>
        </p:txBody>
      </p:sp>
      <p:sp>
        <p:nvSpPr>
          <p:cNvPr id="28" name="">
            <a:extLst xmlns:a="http://schemas.openxmlformats.org/drawingml/2006/main">
              <a:ext uri="{FF2B5EF4-FFF2-40B4-BE49-F238E27FC236}">
                <a16:creationId xmlns:a16="http://schemas.microsoft.com/office/drawing/2014/main" id="{8FAAF9B2-A990-4564-AF3B-5128AF6C834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7087850" y="9582150"/>
            <a:ext cx="495300" cy="1524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/>
          <a:lstStyle xmlns:a="http://schemas.openxmlformats.org/drawingml/2006/main"/>
          <a:p xmlns:a="http://schemas.openxmlformats.org/drawingml/2006/main">
            <a:pPr>
              <a:defRPr sz="1050">
                <a:solidFill>
                  <a:srgbClr val="7A8494"/>
                </a:solidFill>
              </a:defRPr>
            </a:pPr>
            <a:r>
              <a:rPr sz="1050">
                <a:solidFill>
                  <a:srgbClr val="7A8494"/>
                </a:solidFill>
              </a:rPr>
              <a:t>mai 2026</a:t>
            </a:r>
          </a:p>
        </p:txBody>
      </p:sp>
    </p:spTree>
    <p:extLst>
      <p:ext uri="{BB962C8B-B14F-4D97-AF65-F5344CB8AC3E}">
        <p14:creationId xmlns:p14="http://schemas.microsoft.com/office/powerpoint/2010/main" val="552307373"/>
      </p:ext>
    </p:extLst>
  </p:cSld>
</p:sld>
</file>

<file path=ppt/theme/theme1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Calibri Light"/>
        <a:ea typeface="Calibri Light"/>
        <a:cs typeface="Calibri Light"/>
      </a:majorFont>
      <a:minorFont>
        <a:latin typeface="Calibri"/>
        <a:ea typeface="Calibri"/>
        <a:cs typeface="Calibri"/>
      </a:minorFont>
    </a:fontScheme>
    <a:fmtScheme name="ChatGPT">
      <a:fillStyleLst>
        <a:solidFill>
          <a:schemeClr val="phClr"/>
        </a:solidFill>
        <a:solidFill>
          <a:schemeClr val="dk1"/>
        </a:solidFill>
        <a:solidFill>
          <a:schemeClr val="accent1"/>
        </a:soli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docProps/app.xml><?xml version="1.0" encoding="utf-8"?>
<ap:Properties xmlns:ap="http://schemas.openxmlformats.org/officeDocument/2006/extended-properties">
  <ap:Application>Walnut Exporter</ap:Application>
  <ap:PresentationFormat>Converted Presentation</ap:PresentationFormat>
  <ap:Slides>0</ap:Slides>
  <ap:Notes>0</ap:Notes>
  <ap:HiddenSlides>0</ap:HiddenSlides>
  <ap:SharedDoc>false</ap:SharedDoc>
  <ap:DocSecurity>0</ap:DocSecurity>
</ap:Properties>
</file>

<file path=docProps/core.xml><?xml version="1.0" encoding="utf-8"?>
<coreProperties xmlns:dc="http://purl.org/dc/elements/1.1/" xmlns:dcterms="http://purl.org/dc/terms/" xmlns:xsi="http://www.w3.org/2001/XMLSchema-instance" xmlns="http://schemas.openxmlformats.org/package/2006/metadata/core-properties">
  <dc:creator>Walnut Exporter</dc:creator>
  <lastModifiedBy>Walnut Exporter</lastModifiedBy>
  <dc:title>Presentation</dc:title>
  <dcterms:created xsi:type="dcterms:W3CDTF">2026-05-13T09:21:25.0150000Z</dcterms:created>
  <dcterms:modified xsi:type="dcterms:W3CDTF">2026-05-13T09:21:25.0150000Z</dcterms:modified>
</coreProperties>
</file>